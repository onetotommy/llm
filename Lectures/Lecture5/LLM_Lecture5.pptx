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2507" r:id="rId2"/>
    <p:sldId id="260" r:id="rId3"/>
    <p:sldId id="2654" r:id="rId4"/>
    <p:sldId id="491" r:id="rId5"/>
    <p:sldId id="435" r:id="rId6"/>
    <p:sldId id="2513" r:id="rId7"/>
    <p:sldId id="274" r:id="rId8"/>
    <p:sldId id="424" r:id="rId9"/>
    <p:sldId id="261" r:id="rId10"/>
    <p:sldId id="279" r:id="rId11"/>
    <p:sldId id="265" r:id="rId12"/>
    <p:sldId id="2653" r:id="rId13"/>
    <p:sldId id="446" r:id="rId14"/>
    <p:sldId id="2523" r:id="rId15"/>
    <p:sldId id="286" r:id="rId16"/>
    <p:sldId id="445" r:id="rId17"/>
    <p:sldId id="308" r:id="rId18"/>
    <p:sldId id="289" r:id="rId19"/>
    <p:sldId id="2642" r:id="rId20"/>
    <p:sldId id="285" r:id="rId21"/>
    <p:sldId id="457" r:id="rId22"/>
    <p:sldId id="257" r:id="rId23"/>
    <p:sldId id="467" r:id="rId24"/>
    <p:sldId id="468" r:id="rId25"/>
    <p:sldId id="2624" r:id="rId26"/>
    <p:sldId id="2625" r:id="rId27"/>
    <p:sldId id="2620" r:id="rId28"/>
    <p:sldId id="2658" r:id="rId29"/>
    <p:sldId id="2622" r:id="rId30"/>
    <p:sldId id="2623" r:id="rId31"/>
    <p:sldId id="282" r:id="rId32"/>
    <p:sldId id="290" r:id="rId33"/>
    <p:sldId id="292" r:id="rId34"/>
    <p:sldId id="283" r:id="rId35"/>
    <p:sldId id="463" r:id="rId36"/>
    <p:sldId id="460" r:id="rId37"/>
    <p:sldId id="2656" r:id="rId38"/>
    <p:sldId id="287" r:id="rId39"/>
    <p:sldId id="2655" r:id="rId40"/>
    <p:sldId id="385" r:id="rId41"/>
    <p:sldId id="313" r:id="rId42"/>
    <p:sldId id="2525" r:id="rId43"/>
    <p:sldId id="2657" r:id="rId44"/>
    <p:sldId id="2643" r:id="rId45"/>
    <p:sldId id="294" r:id="rId46"/>
    <p:sldId id="2637" r:id="rId47"/>
    <p:sldId id="2638" r:id="rId48"/>
    <p:sldId id="2639" r:id="rId49"/>
    <p:sldId id="2635" r:id="rId50"/>
    <p:sldId id="2632" r:id="rId51"/>
    <p:sldId id="2633" r:id="rId52"/>
    <p:sldId id="2545" r:id="rId53"/>
    <p:sldId id="2552" r:id="rId54"/>
    <p:sldId id="305" r:id="rId55"/>
    <p:sldId id="391" r:id="rId56"/>
    <p:sldId id="2644" r:id="rId57"/>
    <p:sldId id="2645" r:id="rId58"/>
    <p:sldId id="2646" r:id="rId59"/>
    <p:sldId id="2652" r:id="rId60"/>
    <p:sldId id="2647" r:id="rId61"/>
    <p:sldId id="2648" r:id="rId62"/>
    <p:sldId id="2649" r:id="rId63"/>
    <p:sldId id="2650" r:id="rId64"/>
    <p:sldId id="2651" r:id="rId65"/>
    <p:sldId id="2508" r:id="rId6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591" autoAdjust="0"/>
  </p:normalViewPr>
  <p:slideViewPr>
    <p:cSldViewPr snapToGrid="0">
      <p:cViewPr varScale="1">
        <p:scale>
          <a:sx n="62" d="100"/>
          <a:sy n="62" d="100"/>
        </p:scale>
        <p:origin x="73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22D1E12-7198-FE34-C899-017F693787C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9B98DFD1-2481-4F4E-93C2-2DB4A72E67CB}"/>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FA388713-1492-4A95-8474-C9C6C5BE2945}" type="datetimeFigureOut">
              <a:rPr lang="en-US"/>
              <a:pPr>
                <a:defRPr/>
              </a:pPr>
              <a:t>10/5/2025</a:t>
            </a:fld>
            <a:endParaRPr lang="en-US"/>
          </a:p>
        </p:txBody>
      </p:sp>
      <p:sp>
        <p:nvSpPr>
          <p:cNvPr id="4" name="Slide Image Placeholder 3">
            <a:extLst>
              <a:ext uri="{FF2B5EF4-FFF2-40B4-BE49-F238E27FC236}">
                <a16:creationId xmlns:a16="http://schemas.microsoft.com/office/drawing/2014/main" id="{6B29375B-B7C5-EFA8-6694-FAA76D4A091E}"/>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4BB69F70-8C2D-6F3E-E01F-22D38DD5931E}"/>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21B842B2-4DD2-C6D4-A3E2-A4195E809F46}"/>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57DBC030-9A68-65F4-34D2-0EF022EF62BD}"/>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defRPr>
            </a:lvl1pPr>
          </a:lstStyle>
          <a:p>
            <a:pPr>
              <a:defRPr/>
            </a:pPr>
            <a:fld id="{C444D9E0-DB05-410E-9495-1A6393F09ED7}"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928494-E6BA-4A26-84EE-8420C225A916}" type="slidenum">
              <a:rPr lang="en-US" smtClean="0"/>
              <a:t>3</a:t>
            </a:fld>
            <a:endParaRPr lang="en-US"/>
          </a:p>
        </p:txBody>
      </p:sp>
    </p:spTree>
    <p:extLst>
      <p:ext uri="{BB962C8B-B14F-4D97-AF65-F5344CB8AC3E}">
        <p14:creationId xmlns:p14="http://schemas.microsoft.com/office/powerpoint/2010/main" val="2202239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928494-E6BA-4A26-84EE-8420C225A916}" type="slidenum">
              <a:rPr lang="en-US" smtClean="0"/>
              <a:t>10</a:t>
            </a:fld>
            <a:endParaRPr lang="en-US"/>
          </a:p>
        </p:txBody>
      </p:sp>
    </p:spTree>
    <p:extLst>
      <p:ext uri="{BB962C8B-B14F-4D97-AF65-F5344CB8AC3E}">
        <p14:creationId xmlns:p14="http://schemas.microsoft.com/office/powerpoint/2010/main" val="20278875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444D9E0-DB05-410E-9495-1A6393F09ED7}" type="slidenum">
              <a:rPr lang="en-US" smtClean="0"/>
              <a:pPr>
                <a:defRPr/>
              </a:pPr>
              <a:t>14</a:t>
            </a:fld>
            <a:endParaRPr lang="en-US"/>
          </a:p>
        </p:txBody>
      </p:sp>
    </p:spTree>
    <p:extLst>
      <p:ext uri="{BB962C8B-B14F-4D97-AF65-F5344CB8AC3E}">
        <p14:creationId xmlns:p14="http://schemas.microsoft.com/office/powerpoint/2010/main" val="2623868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444D9E0-DB05-410E-9495-1A6393F09ED7}" type="slidenum">
              <a:rPr lang="en-US" smtClean="0"/>
              <a:pPr>
                <a:defRPr/>
              </a:pPr>
              <a:t>20</a:t>
            </a:fld>
            <a:endParaRPr lang="en-US"/>
          </a:p>
        </p:txBody>
      </p:sp>
    </p:spTree>
    <p:extLst>
      <p:ext uri="{BB962C8B-B14F-4D97-AF65-F5344CB8AC3E}">
        <p14:creationId xmlns:p14="http://schemas.microsoft.com/office/powerpoint/2010/main" val="15623345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444D9E0-DB05-410E-9495-1A6393F09ED7}" type="slidenum">
              <a:rPr lang="en-US" smtClean="0"/>
              <a:pPr>
                <a:defRPr/>
              </a:pPr>
              <a:t>47</a:t>
            </a:fld>
            <a:endParaRPr lang="en-US"/>
          </a:p>
        </p:txBody>
      </p:sp>
    </p:spTree>
    <p:extLst>
      <p:ext uri="{BB962C8B-B14F-4D97-AF65-F5344CB8AC3E}">
        <p14:creationId xmlns:p14="http://schemas.microsoft.com/office/powerpoint/2010/main" val="1416772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13668B5-0B68-7793-DC38-7E917F5D1094}"/>
              </a:ext>
            </a:extLst>
          </p:cNvPr>
          <p:cNvSpPr>
            <a:spLocks noGrp="1"/>
          </p:cNvSpPr>
          <p:nvPr>
            <p:ph type="dt" sz="half" idx="10"/>
          </p:nvPr>
        </p:nvSpPr>
        <p:spPr>
          <a:xfrm>
            <a:off x="838200" y="6356350"/>
            <a:ext cx="2743200" cy="365125"/>
          </a:xfrm>
          <a:prstGeom prst="rect">
            <a:avLst/>
          </a:prstGeom>
        </p:spPr>
        <p:txBody>
          <a:bodyPr/>
          <a:lstStyle>
            <a:lvl1pPr>
              <a:defRPr/>
            </a:lvl1pPr>
          </a:lstStyle>
          <a:p>
            <a:pPr>
              <a:defRPr/>
            </a:pPr>
            <a:fld id="{F595BC9A-6DA7-46D4-9A7D-6F478663A1BB}" type="datetimeFigureOut">
              <a:rPr lang="en-US"/>
              <a:pPr>
                <a:defRPr/>
              </a:pPr>
              <a:t>10/5/2025</a:t>
            </a:fld>
            <a:endParaRPr lang="en-US"/>
          </a:p>
        </p:txBody>
      </p:sp>
      <p:sp>
        <p:nvSpPr>
          <p:cNvPr id="5" name="Footer Placeholder 4">
            <a:extLst>
              <a:ext uri="{FF2B5EF4-FFF2-40B4-BE49-F238E27FC236}">
                <a16:creationId xmlns:a16="http://schemas.microsoft.com/office/drawing/2014/main" id="{451717AD-677B-55AB-E183-A4CF578BE47A}"/>
              </a:ext>
            </a:extLst>
          </p:cNvPr>
          <p:cNvSpPr>
            <a:spLocks noGrp="1"/>
          </p:cNvSpPr>
          <p:nvPr>
            <p:ph type="ftr" sz="quarter" idx="11"/>
          </p:nvPr>
        </p:nvSpPr>
        <p:spPr>
          <a:xfrm>
            <a:off x="4038600" y="6356350"/>
            <a:ext cx="4114800" cy="365125"/>
          </a:xfrm>
          <a:prstGeom prst="rect">
            <a:avLst/>
          </a:prstGeom>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02E9F38-5B17-92F7-9278-71A10A20CEC6}"/>
              </a:ext>
            </a:extLst>
          </p:cNvPr>
          <p:cNvSpPr>
            <a:spLocks noGrp="1"/>
          </p:cNvSpPr>
          <p:nvPr>
            <p:ph type="sldNum" sz="quarter" idx="12"/>
          </p:nvPr>
        </p:nvSpPr>
        <p:spPr>
          <a:xfrm>
            <a:off x="8610600" y="6356350"/>
            <a:ext cx="2743200" cy="365125"/>
          </a:xfrm>
          <a:prstGeom prst="rect">
            <a:avLst/>
          </a:prstGeom>
        </p:spPr>
        <p:txBody>
          <a:bodyPr/>
          <a:lstStyle>
            <a:lvl1pPr>
              <a:defRPr/>
            </a:lvl1pPr>
          </a:lstStyle>
          <a:p>
            <a:pPr>
              <a:defRPr/>
            </a:pPr>
            <a:fld id="{8AB08FD5-F283-4BC4-BB04-8006E59DEBC2}" type="slidenum">
              <a:rPr lang="en-US"/>
              <a:pPr>
                <a:defRPr/>
              </a:pPr>
              <a:t>‹#›</a:t>
            </a:fld>
            <a:endParaRPr lang="en-US"/>
          </a:p>
        </p:txBody>
      </p:sp>
    </p:spTree>
    <p:extLst>
      <p:ext uri="{BB962C8B-B14F-4D97-AF65-F5344CB8AC3E}">
        <p14:creationId xmlns:p14="http://schemas.microsoft.com/office/powerpoint/2010/main" val="5956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96B093-368B-2000-19B0-13EF6060D9B6}"/>
              </a:ext>
            </a:extLst>
          </p:cNvPr>
          <p:cNvSpPr>
            <a:spLocks noGrp="1"/>
          </p:cNvSpPr>
          <p:nvPr>
            <p:ph type="dt" sz="half" idx="10"/>
          </p:nvPr>
        </p:nvSpPr>
        <p:spPr>
          <a:xfrm>
            <a:off x="838200" y="6356350"/>
            <a:ext cx="2743200" cy="365125"/>
          </a:xfrm>
          <a:prstGeom prst="rect">
            <a:avLst/>
          </a:prstGeom>
        </p:spPr>
        <p:txBody>
          <a:bodyPr/>
          <a:lstStyle>
            <a:lvl1pPr>
              <a:defRPr/>
            </a:lvl1pPr>
          </a:lstStyle>
          <a:p>
            <a:pPr>
              <a:defRPr/>
            </a:pPr>
            <a:fld id="{5C6BBE5B-AB3A-4909-B60B-4FCFBFA252B4}" type="datetimeFigureOut">
              <a:rPr lang="en-US"/>
              <a:pPr>
                <a:defRPr/>
              </a:pPr>
              <a:t>10/5/2025</a:t>
            </a:fld>
            <a:endParaRPr lang="en-US"/>
          </a:p>
        </p:txBody>
      </p:sp>
      <p:sp>
        <p:nvSpPr>
          <p:cNvPr id="5" name="Footer Placeholder 4">
            <a:extLst>
              <a:ext uri="{FF2B5EF4-FFF2-40B4-BE49-F238E27FC236}">
                <a16:creationId xmlns:a16="http://schemas.microsoft.com/office/drawing/2014/main" id="{A201F755-C45C-5B1C-057A-BCBF5931224B}"/>
              </a:ext>
            </a:extLst>
          </p:cNvPr>
          <p:cNvSpPr>
            <a:spLocks noGrp="1"/>
          </p:cNvSpPr>
          <p:nvPr>
            <p:ph type="ftr" sz="quarter" idx="11"/>
          </p:nvPr>
        </p:nvSpPr>
        <p:spPr>
          <a:xfrm>
            <a:off x="4038600" y="6356350"/>
            <a:ext cx="4114800" cy="365125"/>
          </a:xfrm>
          <a:prstGeom prst="rect">
            <a:avLst/>
          </a:prstGeom>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3429187-65AE-DF05-3595-1C2EA848AA6E}"/>
              </a:ext>
            </a:extLst>
          </p:cNvPr>
          <p:cNvSpPr>
            <a:spLocks noGrp="1"/>
          </p:cNvSpPr>
          <p:nvPr>
            <p:ph type="sldNum" sz="quarter" idx="12"/>
          </p:nvPr>
        </p:nvSpPr>
        <p:spPr>
          <a:xfrm>
            <a:off x="8610600" y="6356350"/>
            <a:ext cx="2743200" cy="365125"/>
          </a:xfrm>
          <a:prstGeom prst="rect">
            <a:avLst/>
          </a:prstGeom>
        </p:spPr>
        <p:txBody>
          <a:bodyPr/>
          <a:lstStyle>
            <a:lvl1pPr>
              <a:defRPr/>
            </a:lvl1pPr>
          </a:lstStyle>
          <a:p>
            <a:pPr>
              <a:defRPr/>
            </a:pPr>
            <a:fld id="{80F0E33A-EDD2-4E91-8E00-1D013BFEBA39}" type="slidenum">
              <a:rPr lang="en-US"/>
              <a:pPr>
                <a:defRPr/>
              </a:pPr>
              <a:t>‹#›</a:t>
            </a:fld>
            <a:endParaRPr lang="en-US"/>
          </a:p>
        </p:txBody>
      </p:sp>
    </p:spTree>
    <p:extLst>
      <p:ext uri="{BB962C8B-B14F-4D97-AF65-F5344CB8AC3E}">
        <p14:creationId xmlns:p14="http://schemas.microsoft.com/office/powerpoint/2010/main" val="1378816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C3EA83-3CCB-C64D-572F-33B0BD0CFA6F}"/>
              </a:ext>
            </a:extLst>
          </p:cNvPr>
          <p:cNvSpPr>
            <a:spLocks noGrp="1"/>
          </p:cNvSpPr>
          <p:nvPr>
            <p:ph type="dt" sz="half" idx="10"/>
          </p:nvPr>
        </p:nvSpPr>
        <p:spPr>
          <a:xfrm>
            <a:off x="838200" y="6356350"/>
            <a:ext cx="2743200" cy="365125"/>
          </a:xfrm>
          <a:prstGeom prst="rect">
            <a:avLst/>
          </a:prstGeom>
        </p:spPr>
        <p:txBody>
          <a:bodyPr/>
          <a:lstStyle>
            <a:lvl1pPr>
              <a:defRPr/>
            </a:lvl1pPr>
          </a:lstStyle>
          <a:p>
            <a:pPr>
              <a:defRPr/>
            </a:pPr>
            <a:fld id="{55A6F1AC-F32B-4589-BF46-31444F979716}" type="datetimeFigureOut">
              <a:rPr lang="en-US"/>
              <a:pPr>
                <a:defRPr/>
              </a:pPr>
              <a:t>10/5/2025</a:t>
            </a:fld>
            <a:endParaRPr lang="en-US"/>
          </a:p>
        </p:txBody>
      </p:sp>
      <p:sp>
        <p:nvSpPr>
          <p:cNvPr id="5" name="Footer Placeholder 4">
            <a:extLst>
              <a:ext uri="{FF2B5EF4-FFF2-40B4-BE49-F238E27FC236}">
                <a16:creationId xmlns:a16="http://schemas.microsoft.com/office/drawing/2014/main" id="{21E86132-9457-1AF4-1E0F-53B8A80002A1}"/>
              </a:ext>
            </a:extLst>
          </p:cNvPr>
          <p:cNvSpPr>
            <a:spLocks noGrp="1"/>
          </p:cNvSpPr>
          <p:nvPr>
            <p:ph type="ftr" sz="quarter" idx="11"/>
          </p:nvPr>
        </p:nvSpPr>
        <p:spPr>
          <a:xfrm>
            <a:off x="4038600" y="6356350"/>
            <a:ext cx="4114800" cy="365125"/>
          </a:xfrm>
          <a:prstGeom prst="rect">
            <a:avLst/>
          </a:prstGeom>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099EE39-3DD7-C40C-66B4-F298CD480BA4}"/>
              </a:ext>
            </a:extLst>
          </p:cNvPr>
          <p:cNvSpPr>
            <a:spLocks noGrp="1"/>
          </p:cNvSpPr>
          <p:nvPr>
            <p:ph type="sldNum" sz="quarter" idx="12"/>
          </p:nvPr>
        </p:nvSpPr>
        <p:spPr>
          <a:xfrm>
            <a:off x="8610600" y="6356350"/>
            <a:ext cx="2743200" cy="365125"/>
          </a:xfrm>
          <a:prstGeom prst="rect">
            <a:avLst/>
          </a:prstGeom>
        </p:spPr>
        <p:txBody>
          <a:bodyPr/>
          <a:lstStyle>
            <a:lvl1pPr>
              <a:defRPr/>
            </a:lvl1pPr>
          </a:lstStyle>
          <a:p>
            <a:pPr>
              <a:defRPr/>
            </a:pPr>
            <a:fld id="{1FAF58DD-ED5A-4866-930D-2732263AA227}" type="slidenum">
              <a:rPr lang="en-US"/>
              <a:pPr>
                <a:defRPr/>
              </a:pPr>
              <a:t>‹#›</a:t>
            </a:fld>
            <a:endParaRPr lang="en-US"/>
          </a:p>
        </p:txBody>
      </p:sp>
    </p:spTree>
    <p:extLst>
      <p:ext uri="{BB962C8B-B14F-4D97-AF65-F5344CB8AC3E}">
        <p14:creationId xmlns:p14="http://schemas.microsoft.com/office/powerpoint/2010/main" val="2836470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94F09217-D8CE-24AA-8814-2CC175240339}"/>
              </a:ext>
            </a:extLst>
          </p:cNvPr>
          <p:cNvSpPr>
            <a:spLocks noGrp="1"/>
          </p:cNvSpPr>
          <p:nvPr>
            <p:ph type="dt" sz="half" idx="10"/>
          </p:nvPr>
        </p:nvSpPr>
        <p:spPr>
          <a:xfrm>
            <a:off x="838200" y="6356350"/>
            <a:ext cx="2743200" cy="365125"/>
          </a:xfrm>
          <a:prstGeom prst="rect">
            <a:avLst/>
          </a:prstGeom>
        </p:spPr>
        <p:txBody>
          <a:bodyPr/>
          <a:lstStyle>
            <a:lvl1pPr>
              <a:defRPr/>
            </a:lvl1pPr>
          </a:lstStyle>
          <a:p>
            <a:pPr>
              <a:defRPr/>
            </a:pPr>
            <a:fld id="{338817FC-1E55-45CE-8C38-7EE69C5205A8}" type="datetimeFigureOut">
              <a:rPr lang="en-US"/>
              <a:pPr>
                <a:defRPr/>
              </a:pPr>
              <a:t>10/5/2025</a:t>
            </a:fld>
            <a:endParaRPr lang="en-US"/>
          </a:p>
        </p:txBody>
      </p:sp>
      <p:sp>
        <p:nvSpPr>
          <p:cNvPr id="6" name="Footer Placeholder 4">
            <a:extLst>
              <a:ext uri="{FF2B5EF4-FFF2-40B4-BE49-F238E27FC236}">
                <a16:creationId xmlns:a16="http://schemas.microsoft.com/office/drawing/2014/main" id="{A16805C3-032E-B1B8-37D9-91C34B996C73}"/>
              </a:ext>
            </a:extLst>
          </p:cNvPr>
          <p:cNvSpPr>
            <a:spLocks noGrp="1"/>
          </p:cNvSpPr>
          <p:nvPr>
            <p:ph type="ftr" sz="quarter" idx="11"/>
          </p:nvPr>
        </p:nvSpPr>
        <p:spPr>
          <a:xfrm>
            <a:off x="4038600" y="6356350"/>
            <a:ext cx="4114800" cy="365125"/>
          </a:xfrm>
          <a:prstGeom prst="rect">
            <a:avLst/>
          </a:prstGeom>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3ED540A-2B1D-2B91-9500-C0E742A418A8}"/>
              </a:ext>
            </a:extLst>
          </p:cNvPr>
          <p:cNvSpPr>
            <a:spLocks noGrp="1"/>
          </p:cNvSpPr>
          <p:nvPr>
            <p:ph type="sldNum" sz="quarter" idx="12"/>
          </p:nvPr>
        </p:nvSpPr>
        <p:spPr>
          <a:xfrm>
            <a:off x="8610600" y="6356350"/>
            <a:ext cx="2743200" cy="365125"/>
          </a:xfrm>
          <a:prstGeom prst="rect">
            <a:avLst/>
          </a:prstGeom>
        </p:spPr>
        <p:txBody>
          <a:bodyPr/>
          <a:lstStyle>
            <a:lvl1pPr>
              <a:defRPr/>
            </a:lvl1pPr>
          </a:lstStyle>
          <a:p>
            <a:pPr>
              <a:defRPr/>
            </a:pPr>
            <a:fld id="{13CA5FCF-C203-45FF-9F0F-C184D7F350F2}" type="slidenum">
              <a:rPr lang="en-US"/>
              <a:pPr>
                <a:defRPr/>
              </a:pPr>
              <a:t>‹#›</a:t>
            </a:fld>
            <a:endParaRPr lang="en-US"/>
          </a:p>
        </p:txBody>
      </p:sp>
    </p:spTree>
    <p:extLst>
      <p:ext uri="{BB962C8B-B14F-4D97-AF65-F5344CB8AC3E}">
        <p14:creationId xmlns:p14="http://schemas.microsoft.com/office/powerpoint/2010/main" val="1932508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77ECA1E8-4049-0587-F4BC-3C03F9E27D26}"/>
              </a:ext>
            </a:extLst>
          </p:cNvPr>
          <p:cNvSpPr>
            <a:spLocks noGrp="1"/>
          </p:cNvSpPr>
          <p:nvPr>
            <p:ph type="dt" sz="half" idx="10"/>
          </p:nvPr>
        </p:nvSpPr>
        <p:spPr>
          <a:xfrm>
            <a:off x="838200" y="6356350"/>
            <a:ext cx="2743200" cy="365125"/>
          </a:xfrm>
          <a:prstGeom prst="rect">
            <a:avLst/>
          </a:prstGeom>
        </p:spPr>
        <p:txBody>
          <a:bodyPr/>
          <a:lstStyle>
            <a:lvl1pPr>
              <a:defRPr/>
            </a:lvl1pPr>
          </a:lstStyle>
          <a:p>
            <a:pPr>
              <a:defRPr/>
            </a:pPr>
            <a:fld id="{D36E3F2D-7FDF-47CC-9D04-5469960B3B53}" type="datetimeFigureOut">
              <a:rPr lang="en-US"/>
              <a:pPr>
                <a:defRPr/>
              </a:pPr>
              <a:t>10/5/2025</a:t>
            </a:fld>
            <a:endParaRPr lang="en-US"/>
          </a:p>
        </p:txBody>
      </p:sp>
      <p:sp>
        <p:nvSpPr>
          <p:cNvPr id="8" name="Footer Placeholder 4">
            <a:extLst>
              <a:ext uri="{FF2B5EF4-FFF2-40B4-BE49-F238E27FC236}">
                <a16:creationId xmlns:a16="http://schemas.microsoft.com/office/drawing/2014/main" id="{FE538A35-0FB5-A348-666B-A30B96F8D651}"/>
              </a:ext>
            </a:extLst>
          </p:cNvPr>
          <p:cNvSpPr>
            <a:spLocks noGrp="1"/>
          </p:cNvSpPr>
          <p:nvPr>
            <p:ph type="ftr" sz="quarter" idx="11"/>
          </p:nvPr>
        </p:nvSpPr>
        <p:spPr>
          <a:xfrm>
            <a:off x="4038600" y="6356350"/>
            <a:ext cx="4114800" cy="365125"/>
          </a:xfrm>
          <a:prstGeom prst="rect">
            <a:avLst/>
          </a:prstGeom>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8CA89F1D-5108-AC7D-AF11-11DBAB6EF0BE}"/>
              </a:ext>
            </a:extLst>
          </p:cNvPr>
          <p:cNvSpPr>
            <a:spLocks noGrp="1"/>
          </p:cNvSpPr>
          <p:nvPr>
            <p:ph type="sldNum" sz="quarter" idx="12"/>
          </p:nvPr>
        </p:nvSpPr>
        <p:spPr>
          <a:xfrm>
            <a:off x="8610600" y="6356350"/>
            <a:ext cx="2743200" cy="365125"/>
          </a:xfrm>
          <a:prstGeom prst="rect">
            <a:avLst/>
          </a:prstGeom>
        </p:spPr>
        <p:txBody>
          <a:bodyPr/>
          <a:lstStyle>
            <a:lvl1pPr>
              <a:defRPr/>
            </a:lvl1pPr>
          </a:lstStyle>
          <a:p>
            <a:pPr>
              <a:defRPr/>
            </a:pPr>
            <a:fld id="{4A081DE2-102B-405D-AF11-AC7DD57AC03A}" type="slidenum">
              <a:rPr lang="en-US"/>
              <a:pPr>
                <a:defRPr/>
              </a:pPr>
              <a:t>‹#›</a:t>
            </a:fld>
            <a:endParaRPr lang="en-US"/>
          </a:p>
        </p:txBody>
      </p:sp>
    </p:spTree>
    <p:extLst>
      <p:ext uri="{BB962C8B-B14F-4D97-AF65-F5344CB8AC3E}">
        <p14:creationId xmlns:p14="http://schemas.microsoft.com/office/powerpoint/2010/main" val="13362341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3B589D43-D6D9-C384-F4DF-5419CB7D4F07}"/>
              </a:ext>
            </a:extLst>
          </p:cNvPr>
          <p:cNvSpPr>
            <a:spLocks noGrp="1"/>
          </p:cNvSpPr>
          <p:nvPr>
            <p:ph type="dt" sz="half" idx="10"/>
          </p:nvPr>
        </p:nvSpPr>
        <p:spPr>
          <a:xfrm>
            <a:off x="838200" y="6356350"/>
            <a:ext cx="2743200" cy="365125"/>
          </a:xfrm>
          <a:prstGeom prst="rect">
            <a:avLst/>
          </a:prstGeom>
        </p:spPr>
        <p:txBody>
          <a:bodyPr/>
          <a:lstStyle>
            <a:lvl1pPr>
              <a:defRPr/>
            </a:lvl1pPr>
          </a:lstStyle>
          <a:p>
            <a:pPr>
              <a:defRPr/>
            </a:pPr>
            <a:fld id="{49E629CA-DC6E-4442-9977-39CBD80A829E}" type="datetimeFigureOut">
              <a:rPr lang="en-US"/>
              <a:pPr>
                <a:defRPr/>
              </a:pPr>
              <a:t>10/5/2025</a:t>
            </a:fld>
            <a:endParaRPr lang="en-US"/>
          </a:p>
        </p:txBody>
      </p:sp>
      <p:sp>
        <p:nvSpPr>
          <p:cNvPr id="4" name="Footer Placeholder 4">
            <a:extLst>
              <a:ext uri="{FF2B5EF4-FFF2-40B4-BE49-F238E27FC236}">
                <a16:creationId xmlns:a16="http://schemas.microsoft.com/office/drawing/2014/main" id="{41CCA300-501E-5E32-2C42-4CAE72D27959}"/>
              </a:ext>
            </a:extLst>
          </p:cNvPr>
          <p:cNvSpPr>
            <a:spLocks noGrp="1"/>
          </p:cNvSpPr>
          <p:nvPr>
            <p:ph type="ftr" sz="quarter" idx="11"/>
          </p:nvPr>
        </p:nvSpPr>
        <p:spPr>
          <a:xfrm>
            <a:off x="4038600" y="6356350"/>
            <a:ext cx="4114800" cy="365125"/>
          </a:xfrm>
          <a:prstGeom prst="rect">
            <a:avLst/>
          </a:prstGeom>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B844A552-FDC7-28B8-1B9C-1DC7617446C4}"/>
              </a:ext>
            </a:extLst>
          </p:cNvPr>
          <p:cNvSpPr>
            <a:spLocks noGrp="1"/>
          </p:cNvSpPr>
          <p:nvPr>
            <p:ph type="sldNum" sz="quarter" idx="12"/>
          </p:nvPr>
        </p:nvSpPr>
        <p:spPr>
          <a:xfrm>
            <a:off x="8610600" y="6356350"/>
            <a:ext cx="2743200" cy="365125"/>
          </a:xfrm>
          <a:prstGeom prst="rect">
            <a:avLst/>
          </a:prstGeom>
        </p:spPr>
        <p:txBody>
          <a:bodyPr/>
          <a:lstStyle>
            <a:lvl1pPr>
              <a:defRPr/>
            </a:lvl1pPr>
          </a:lstStyle>
          <a:p>
            <a:pPr>
              <a:defRPr/>
            </a:pPr>
            <a:fld id="{6A78B4D4-F6EF-499B-9EC6-026B850D22D1}" type="slidenum">
              <a:rPr lang="en-US"/>
              <a:pPr>
                <a:defRPr/>
              </a:pPr>
              <a:t>‹#›</a:t>
            </a:fld>
            <a:endParaRPr lang="en-US"/>
          </a:p>
        </p:txBody>
      </p:sp>
    </p:spTree>
    <p:extLst>
      <p:ext uri="{BB962C8B-B14F-4D97-AF65-F5344CB8AC3E}">
        <p14:creationId xmlns:p14="http://schemas.microsoft.com/office/powerpoint/2010/main" val="2613120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CE72AB1C-953B-1392-5FC4-8329728639B9}"/>
              </a:ext>
            </a:extLst>
          </p:cNvPr>
          <p:cNvSpPr>
            <a:spLocks noGrp="1"/>
          </p:cNvSpPr>
          <p:nvPr>
            <p:ph type="dt" sz="half" idx="10"/>
          </p:nvPr>
        </p:nvSpPr>
        <p:spPr>
          <a:xfrm>
            <a:off x="838200" y="6356350"/>
            <a:ext cx="2743200" cy="365125"/>
          </a:xfrm>
          <a:prstGeom prst="rect">
            <a:avLst/>
          </a:prstGeom>
        </p:spPr>
        <p:txBody>
          <a:bodyPr/>
          <a:lstStyle>
            <a:lvl1pPr>
              <a:defRPr/>
            </a:lvl1pPr>
          </a:lstStyle>
          <a:p>
            <a:pPr>
              <a:defRPr/>
            </a:pPr>
            <a:fld id="{336A6EE5-1B66-40C7-9517-923F4B1A6CAD}" type="datetimeFigureOut">
              <a:rPr lang="en-US"/>
              <a:pPr>
                <a:defRPr/>
              </a:pPr>
              <a:t>10/5/2025</a:t>
            </a:fld>
            <a:endParaRPr lang="en-US"/>
          </a:p>
        </p:txBody>
      </p:sp>
      <p:sp>
        <p:nvSpPr>
          <p:cNvPr id="3" name="Footer Placeholder 4">
            <a:extLst>
              <a:ext uri="{FF2B5EF4-FFF2-40B4-BE49-F238E27FC236}">
                <a16:creationId xmlns:a16="http://schemas.microsoft.com/office/drawing/2014/main" id="{9A119862-730A-12B5-DA05-8C72D98CB0E2}"/>
              </a:ext>
            </a:extLst>
          </p:cNvPr>
          <p:cNvSpPr>
            <a:spLocks noGrp="1"/>
          </p:cNvSpPr>
          <p:nvPr>
            <p:ph type="ftr" sz="quarter" idx="11"/>
          </p:nvPr>
        </p:nvSpPr>
        <p:spPr>
          <a:xfrm>
            <a:off x="4038600" y="6356350"/>
            <a:ext cx="4114800" cy="365125"/>
          </a:xfrm>
          <a:prstGeom prst="rect">
            <a:avLst/>
          </a:prstGeom>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BF8B1AB1-7E02-A224-9C7B-E498DAD67FF1}"/>
              </a:ext>
            </a:extLst>
          </p:cNvPr>
          <p:cNvSpPr>
            <a:spLocks noGrp="1"/>
          </p:cNvSpPr>
          <p:nvPr>
            <p:ph type="sldNum" sz="quarter" idx="12"/>
          </p:nvPr>
        </p:nvSpPr>
        <p:spPr>
          <a:xfrm>
            <a:off x="8610600" y="6356350"/>
            <a:ext cx="2743200" cy="365125"/>
          </a:xfrm>
          <a:prstGeom prst="rect">
            <a:avLst/>
          </a:prstGeom>
        </p:spPr>
        <p:txBody>
          <a:bodyPr/>
          <a:lstStyle>
            <a:lvl1pPr>
              <a:defRPr/>
            </a:lvl1pPr>
          </a:lstStyle>
          <a:p>
            <a:pPr>
              <a:defRPr/>
            </a:pPr>
            <a:fld id="{E88A99FE-C21E-4E1C-BD80-CFD28C4C0318}" type="slidenum">
              <a:rPr lang="en-US"/>
              <a:pPr>
                <a:defRPr/>
              </a:pPr>
              <a:t>‹#›</a:t>
            </a:fld>
            <a:endParaRPr lang="en-US"/>
          </a:p>
        </p:txBody>
      </p:sp>
    </p:spTree>
    <p:extLst>
      <p:ext uri="{BB962C8B-B14F-4D97-AF65-F5344CB8AC3E}">
        <p14:creationId xmlns:p14="http://schemas.microsoft.com/office/powerpoint/2010/main" val="2056676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A055B09C-D13A-2133-6CF1-63C50D17E130}"/>
              </a:ext>
            </a:extLst>
          </p:cNvPr>
          <p:cNvSpPr>
            <a:spLocks noGrp="1"/>
          </p:cNvSpPr>
          <p:nvPr>
            <p:ph type="dt" sz="half" idx="10"/>
          </p:nvPr>
        </p:nvSpPr>
        <p:spPr>
          <a:xfrm>
            <a:off x="838200" y="6356350"/>
            <a:ext cx="2743200" cy="365125"/>
          </a:xfrm>
          <a:prstGeom prst="rect">
            <a:avLst/>
          </a:prstGeom>
        </p:spPr>
        <p:txBody>
          <a:bodyPr/>
          <a:lstStyle>
            <a:lvl1pPr>
              <a:defRPr/>
            </a:lvl1pPr>
          </a:lstStyle>
          <a:p>
            <a:pPr>
              <a:defRPr/>
            </a:pPr>
            <a:fld id="{EB34AC31-1E44-4116-9EC2-78497AF0CCD9}" type="datetimeFigureOut">
              <a:rPr lang="en-US"/>
              <a:pPr>
                <a:defRPr/>
              </a:pPr>
              <a:t>10/5/2025</a:t>
            </a:fld>
            <a:endParaRPr lang="en-US"/>
          </a:p>
        </p:txBody>
      </p:sp>
      <p:sp>
        <p:nvSpPr>
          <p:cNvPr id="6" name="Footer Placeholder 4">
            <a:extLst>
              <a:ext uri="{FF2B5EF4-FFF2-40B4-BE49-F238E27FC236}">
                <a16:creationId xmlns:a16="http://schemas.microsoft.com/office/drawing/2014/main" id="{CA69EB52-BA77-3036-D477-3214261B82CB}"/>
              </a:ext>
            </a:extLst>
          </p:cNvPr>
          <p:cNvSpPr>
            <a:spLocks noGrp="1"/>
          </p:cNvSpPr>
          <p:nvPr>
            <p:ph type="ftr" sz="quarter" idx="11"/>
          </p:nvPr>
        </p:nvSpPr>
        <p:spPr>
          <a:xfrm>
            <a:off x="4038600" y="6356350"/>
            <a:ext cx="4114800" cy="365125"/>
          </a:xfrm>
          <a:prstGeom prst="rect">
            <a:avLst/>
          </a:prstGeom>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43D7541-009E-5DDA-666A-C7F316700339}"/>
              </a:ext>
            </a:extLst>
          </p:cNvPr>
          <p:cNvSpPr>
            <a:spLocks noGrp="1"/>
          </p:cNvSpPr>
          <p:nvPr>
            <p:ph type="sldNum" sz="quarter" idx="12"/>
          </p:nvPr>
        </p:nvSpPr>
        <p:spPr>
          <a:xfrm>
            <a:off x="8610600" y="6356350"/>
            <a:ext cx="2743200" cy="365125"/>
          </a:xfrm>
          <a:prstGeom prst="rect">
            <a:avLst/>
          </a:prstGeom>
        </p:spPr>
        <p:txBody>
          <a:bodyPr/>
          <a:lstStyle>
            <a:lvl1pPr>
              <a:defRPr/>
            </a:lvl1pPr>
          </a:lstStyle>
          <a:p>
            <a:pPr>
              <a:defRPr/>
            </a:pPr>
            <a:fld id="{E5DEA15A-A20B-4FA4-B12E-2A5615CA5289}" type="slidenum">
              <a:rPr lang="en-US"/>
              <a:pPr>
                <a:defRPr/>
              </a:pPr>
              <a:t>‹#›</a:t>
            </a:fld>
            <a:endParaRPr lang="en-US"/>
          </a:p>
        </p:txBody>
      </p:sp>
    </p:spTree>
    <p:extLst>
      <p:ext uri="{BB962C8B-B14F-4D97-AF65-F5344CB8AC3E}">
        <p14:creationId xmlns:p14="http://schemas.microsoft.com/office/powerpoint/2010/main" val="4149179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ADEF9866-506C-CD2E-0FF4-D7E821A9440C}"/>
              </a:ext>
            </a:extLst>
          </p:cNvPr>
          <p:cNvSpPr>
            <a:spLocks noGrp="1"/>
          </p:cNvSpPr>
          <p:nvPr>
            <p:ph type="dt" sz="half" idx="10"/>
          </p:nvPr>
        </p:nvSpPr>
        <p:spPr>
          <a:xfrm>
            <a:off x="838200" y="6356350"/>
            <a:ext cx="2743200" cy="365125"/>
          </a:xfrm>
          <a:prstGeom prst="rect">
            <a:avLst/>
          </a:prstGeom>
        </p:spPr>
        <p:txBody>
          <a:bodyPr/>
          <a:lstStyle>
            <a:lvl1pPr>
              <a:defRPr/>
            </a:lvl1pPr>
          </a:lstStyle>
          <a:p>
            <a:pPr>
              <a:defRPr/>
            </a:pPr>
            <a:fld id="{441C918E-CCD3-44AE-892C-E0B4E373A441}" type="datetimeFigureOut">
              <a:rPr lang="en-US"/>
              <a:pPr>
                <a:defRPr/>
              </a:pPr>
              <a:t>10/5/2025</a:t>
            </a:fld>
            <a:endParaRPr lang="en-US"/>
          </a:p>
        </p:txBody>
      </p:sp>
      <p:sp>
        <p:nvSpPr>
          <p:cNvPr id="6" name="Footer Placeholder 4">
            <a:extLst>
              <a:ext uri="{FF2B5EF4-FFF2-40B4-BE49-F238E27FC236}">
                <a16:creationId xmlns:a16="http://schemas.microsoft.com/office/drawing/2014/main" id="{B89334F3-9301-38CF-9BAC-C717C57A8D67}"/>
              </a:ext>
            </a:extLst>
          </p:cNvPr>
          <p:cNvSpPr>
            <a:spLocks noGrp="1"/>
          </p:cNvSpPr>
          <p:nvPr>
            <p:ph type="ftr" sz="quarter" idx="11"/>
          </p:nvPr>
        </p:nvSpPr>
        <p:spPr>
          <a:xfrm>
            <a:off x="4038600" y="6356350"/>
            <a:ext cx="4114800" cy="365125"/>
          </a:xfrm>
          <a:prstGeom prst="rect">
            <a:avLst/>
          </a:prstGeom>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7271015-A09D-6714-DED4-A8820A752766}"/>
              </a:ext>
            </a:extLst>
          </p:cNvPr>
          <p:cNvSpPr>
            <a:spLocks noGrp="1"/>
          </p:cNvSpPr>
          <p:nvPr>
            <p:ph type="sldNum" sz="quarter" idx="12"/>
          </p:nvPr>
        </p:nvSpPr>
        <p:spPr>
          <a:xfrm>
            <a:off x="8610600" y="6356350"/>
            <a:ext cx="2743200" cy="365125"/>
          </a:xfrm>
          <a:prstGeom prst="rect">
            <a:avLst/>
          </a:prstGeom>
        </p:spPr>
        <p:txBody>
          <a:bodyPr/>
          <a:lstStyle>
            <a:lvl1pPr>
              <a:defRPr/>
            </a:lvl1pPr>
          </a:lstStyle>
          <a:p>
            <a:pPr>
              <a:defRPr/>
            </a:pPr>
            <a:fld id="{21E8751E-F393-4B5F-BB87-0132263F2D71}" type="slidenum">
              <a:rPr lang="en-US"/>
              <a:pPr>
                <a:defRPr/>
              </a:pPr>
              <a:t>‹#›</a:t>
            </a:fld>
            <a:endParaRPr lang="en-US"/>
          </a:p>
        </p:txBody>
      </p:sp>
    </p:spTree>
    <p:extLst>
      <p:ext uri="{BB962C8B-B14F-4D97-AF65-F5344CB8AC3E}">
        <p14:creationId xmlns:p14="http://schemas.microsoft.com/office/powerpoint/2010/main" val="2004904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17C851-EAD0-A8A4-99B6-390E0974738F}"/>
              </a:ext>
            </a:extLst>
          </p:cNvPr>
          <p:cNvSpPr>
            <a:spLocks noGrp="1"/>
          </p:cNvSpPr>
          <p:nvPr>
            <p:ph type="dt" sz="half" idx="10"/>
          </p:nvPr>
        </p:nvSpPr>
        <p:spPr>
          <a:xfrm>
            <a:off x="838200" y="6356350"/>
            <a:ext cx="2743200" cy="365125"/>
          </a:xfrm>
          <a:prstGeom prst="rect">
            <a:avLst/>
          </a:prstGeom>
        </p:spPr>
        <p:txBody>
          <a:bodyPr/>
          <a:lstStyle>
            <a:lvl1pPr>
              <a:defRPr/>
            </a:lvl1pPr>
          </a:lstStyle>
          <a:p>
            <a:pPr>
              <a:defRPr/>
            </a:pPr>
            <a:fld id="{898A949A-4DC6-4C87-81F7-AD3F547D1A15}" type="datetimeFigureOut">
              <a:rPr lang="en-US"/>
              <a:pPr>
                <a:defRPr/>
              </a:pPr>
              <a:t>10/5/2025</a:t>
            </a:fld>
            <a:endParaRPr lang="en-US"/>
          </a:p>
        </p:txBody>
      </p:sp>
      <p:sp>
        <p:nvSpPr>
          <p:cNvPr id="5" name="Footer Placeholder 4">
            <a:extLst>
              <a:ext uri="{FF2B5EF4-FFF2-40B4-BE49-F238E27FC236}">
                <a16:creationId xmlns:a16="http://schemas.microsoft.com/office/drawing/2014/main" id="{67AD22B2-1100-2FF2-F5C1-F7BDA762A385}"/>
              </a:ext>
            </a:extLst>
          </p:cNvPr>
          <p:cNvSpPr>
            <a:spLocks noGrp="1"/>
          </p:cNvSpPr>
          <p:nvPr>
            <p:ph type="ftr" sz="quarter" idx="11"/>
          </p:nvPr>
        </p:nvSpPr>
        <p:spPr>
          <a:xfrm>
            <a:off x="4038600" y="6356350"/>
            <a:ext cx="4114800" cy="365125"/>
          </a:xfrm>
          <a:prstGeom prst="rect">
            <a:avLst/>
          </a:prstGeom>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048CF55-0DBD-2A63-9304-69FECB24D1A0}"/>
              </a:ext>
            </a:extLst>
          </p:cNvPr>
          <p:cNvSpPr>
            <a:spLocks noGrp="1"/>
          </p:cNvSpPr>
          <p:nvPr>
            <p:ph type="sldNum" sz="quarter" idx="12"/>
          </p:nvPr>
        </p:nvSpPr>
        <p:spPr>
          <a:xfrm>
            <a:off x="8610600" y="6356350"/>
            <a:ext cx="2743200" cy="365125"/>
          </a:xfrm>
          <a:prstGeom prst="rect">
            <a:avLst/>
          </a:prstGeom>
        </p:spPr>
        <p:txBody>
          <a:bodyPr/>
          <a:lstStyle>
            <a:lvl1pPr>
              <a:defRPr/>
            </a:lvl1pPr>
          </a:lstStyle>
          <a:p>
            <a:pPr>
              <a:defRPr/>
            </a:pPr>
            <a:fld id="{A1FFDBAF-FB45-4692-8BFA-45B737D0AC8F}" type="slidenum">
              <a:rPr lang="en-US"/>
              <a:pPr>
                <a:defRPr/>
              </a:pPr>
              <a:t>‹#›</a:t>
            </a:fld>
            <a:endParaRPr lang="en-US"/>
          </a:p>
        </p:txBody>
      </p:sp>
    </p:spTree>
    <p:extLst>
      <p:ext uri="{BB962C8B-B14F-4D97-AF65-F5344CB8AC3E}">
        <p14:creationId xmlns:p14="http://schemas.microsoft.com/office/powerpoint/2010/main" val="1315298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82FDA7-76AF-B82F-4C75-A18FC4057566}"/>
              </a:ext>
            </a:extLst>
          </p:cNvPr>
          <p:cNvSpPr>
            <a:spLocks noGrp="1"/>
          </p:cNvSpPr>
          <p:nvPr>
            <p:ph type="dt" sz="half" idx="10"/>
          </p:nvPr>
        </p:nvSpPr>
        <p:spPr>
          <a:xfrm>
            <a:off x="838200" y="6356350"/>
            <a:ext cx="2743200" cy="365125"/>
          </a:xfrm>
          <a:prstGeom prst="rect">
            <a:avLst/>
          </a:prstGeom>
        </p:spPr>
        <p:txBody>
          <a:bodyPr/>
          <a:lstStyle>
            <a:lvl1pPr>
              <a:defRPr/>
            </a:lvl1pPr>
          </a:lstStyle>
          <a:p>
            <a:pPr>
              <a:defRPr/>
            </a:pPr>
            <a:fld id="{5771C8F2-85A7-450A-99B0-D744D3187E92}" type="datetimeFigureOut">
              <a:rPr lang="en-US"/>
              <a:pPr>
                <a:defRPr/>
              </a:pPr>
              <a:t>10/5/2025</a:t>
            </a:fld>
            <a:endParaRPr lang="en-US"/>
          </a:p>
        </p:txBody>
      </p:sp>
      <p:sp>
        <p:nvSpPr>
          <p:cNvPr id="5" name="Footer Placeholder 4">
            <a:extLst>
              <a:ext uri="{FF2B5EF4-FFF2-40B4-BE49-F238E27FC236}">
                <a16:creationId xmlns:a16="http://schemas.microsoft.com/office/drawing/2014/main" id="{34FDD39C-66AF-2D8F-6C63-028745B4DFEA}"/>
              </a:ext>
            </a:extLst>
          </p:cNvPr>
          <p:cNvSpPr>
            <a:spLocks noGrp="1"/>
          </p:cNvSpPr>
          <p:nvPr>
            <p:ph type="ftr" sz="quarter" idx="11"/>
          </p:nvPr>
        </p:nvSpPr>
        <p:spPr>
          <a:xfrm>
            <a:off x="4038600" y="6356350"/>
            <a:ext cx="4114800" cy="365125"/>
          </a:xfrm>
          <a:prstGeom prst="rect">
            <a:avLst/>
          </a:prstGeom>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802746D-8931-84D4-CDCF-F7428F9B2881}"/>
              </a:ext>
            </a:extLst>
          </p:cNvPr>
          <p:cNvSpPr>
            <a:spLocks noGrp="1"/>
          </p:cNvSpPr>
          <p:nvPr>
            <p:ph type="sldNum" sz="quarter" idx="12"/>
          </p:nvPr>
        </p:nvSpPr>
        <p:spPr>
          <a:xfrm>
            <a:off x="8610600" y="6356350"/>
            <a:ext cx="2743200" cy="365125"/>
          </a:xfrm>
          <a:prstGeom prst="rect">
            <a:avLst/>
          </a:prstGeom>
        </p:spPr>
        <p:txBody>
          <a:bodyPr/>
          <a:lstStyle>
            <a:lvl1pPr>
              <a:defRPr/>
            </a:lvl1pPr>
          </a:lstStyle>
          <a:p>
            <a:pPr>
              <a:defRPr/>
            </a:pPr>
            <a:fld id="{4D1F435B-6844-4F2E-BF7E-29021A87331E}" type="slidenum">
              <a:rPr lang="en-US"/>
              <a:pPr>
                <a:defRPr/>
              </a:pPr>
              <a:t>‹#›</a:t>
            </a:fld>
            <a:endParaRPr lang="en-US"/>
          </a:p>
        </p:txBody>
      </p:sp>
    </p:spTree>
    <p:extLst>
      <p:ext uri="{BB962C8B-B14F-4D97-AF65-F5344CB8AC3E}">
        <p14:creationId xmlns:p14="http://schemas.microsoft.com/office/powerpoint/2010/main" val="191103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19" name="Title 1"/>
          <p:cNvSpPr>
            <a:spLocks noGrp="1"/>
          </p:cNvSpPr>
          <p:nvPr>
            <p:ph type="title"/>
          </p:nvPr>
        </p:nvSpPr>
        <p:spPr>
          <a:xfrm>
            <a:off x="413536" y="20647"/>
            <a:ext cx="10972800" cy="924807"/>
          </a:xfrm>
          <a:prstGeom prst="rect">
            <a:avLst/>
          </a:prstGeom>
        </p:spPr>
        <p:txBody>
          <a:bodyPr>
            <a:normAutofit/>
          </a:bodyPr>
          <a:lstStyle>
            <a:lvl1pPr>
              <a:defRPr sz="4800"/>
            </a:lvl1pPr>
          </a:lstStyle>
          <a:p>
            <a:r>
              <a:rPr lang="en-US" dirty="0"/>
              <a:t>Click to edit Master title style</a:t>
            </a:r>
          </a:p>
        </p:txBody>
      </p:sp>
      <p:sp>
        <p:nvSpPr>
          <p:cNvPr id="20" name="Content Placeholder 2"/>
          <p:cNvSpPr>
            <a:spLocks noGrp="1"/>
          </p:cNvSpPr>
          <p:nvPr>
            <p:ph idx="1"/>
          </p:nvPr>
        </p:nvSpPr>
        <p:spPr>
          <a:xfrm>
            <a:off x="573952" y="1203159"/>
            <a:ext cx="10972800" cy="4921064"/>
          </a:xfrm>
        </p:spPr>
        <p:txBody>
          <a:bodyPr>
            <a:normAutofit/>
          </a:bodyPr>
          <a:lstStyle>
            <a:lvl1pPr>
              <a:defRPr sz="3200"/>
            </a:lvl1pPr>
            <a:lvl2pPr>
              <a:defRPr sz="2667">
                <a:solidFill>
                  <a:schemeClr val="accent3"/>
                </a:solidFill>
              </a:defRPr>
            </a:lvl2pPr>
            <a:lvl3pPr>
              <a:defRPr sz="2400"/>
            </a:lvl3pPr>
            <a:lvl4pPr>
              <a:defRPr sz="2133">
                <a:solidFill>
                  <a:schemeClr val="accent3"/>
                </a:solidFill>
              </a:defRPr>
            </a:lvl4pPr>
            <a:lvl5pPr>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603550D6-6CE5-9FD3-22DE-C4C396E89748}"/>
              </a:ext>
            </a:extLst>
          </p:cNvPr>
          <p:cNvSpPr>
            <a:spLocks noGrp="1"/>
          </p:cNvSpPr>
          <p:nvPr>
            <p:ph type="sldNum" sz="quarter" idx="10"/>
          </p:nvPr>
        </p:nvSpPr>
        <p:spPr>
          <a:xfrm>
            <a:off x="8737600" y="6265863"/>
            <a:ext cx="2844800" cy="365125"/>
          </a:xfrm>
          <a:prstGeom prst="rect">
            <a:avLst/>
          </a:prstGeom>
        </p:spPr>
        <p:txBody>
          <a:bodyPr/>
          <a:lstStyle>
            <a:lvl1pPr>
              <a:defRPr smtClean="0">
                <a:solidFill>
                  <a:schemeClr val="accent5"/>
                </a:solidFill>
              </a:defRPr>
            </a:lvl1pPr>
          </a:lstStyle>
          <a:p>
            <a:pPr>
              <a:defRPr/>
            </a:pPr>
            <a:fld id="{74038169-5F6A-44B1-8C7B-DD1B91C14701}" type="slidenum">
              <a:rPr lang="en-US"/>
              <a:pPr>
                <a:defRPr/>
              </a:pPr>
              <a:t>‹#›</a:t>
            </a:fld>
            <a:endParaRPr lang="en-US" dirty="0"/>
          </a:p>
        </p:txBody>
      </p:sp>
    </p:spTree>
    <p:extLst>
      <p:ext uri="{BB962C8B-B14F-4D97-AF65-F5344CB8AC3E}">
        <p14:creationId xmlns:p14="http://schemas.microsoft.com/office/powerpoint/2010/main" val="1283349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1543CE0D-6173-9C6C-4C91-F784ABFC359C}"/>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3818DA4B-83AC-8369-F3C9-995DAC531642}"/>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3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4.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85.png"/><Relationship Id="rId4" Type="http://schemas.openxmlformats.org/officeDocument/2006/relationships/image" Target="../media/image34.png"/></Relationships>
</file>

<file path=ppt/slides/_rels/slide6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3.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36839-1615-D6B1-2E57-0ADDB3A93C71}"/>
              </a:ext>
            </a:extLst>
          </p:cNvPr>
          <p:cNvSpPr>
            <a:spLocks noGrp="1"/>
          </p:cNvSpPr>
          <p:nvPr>
            <p:ph type="ctrTitle"/>
          </p:nvPr>
        </p:nvSpPr>
        <p:spPr>
          <a:xfrm>
            <a:off x="1552575" y="1393825"/>
            <a:ext cx="9144000" cy="2387600"/>
          </a:xfrm>
        </p:spPr>
        <p:txBody>
          <a:bodyPr>
            <a:normAutofit fontScale="90000"/>
          </a:bodyPr>
          <a:lstStyle/>
          <a:p>
            <a:r>
              <a:rPr lang="en-US" dirty="0">
                <a:solidFill>
                  <a:schemeClr val="accent1">
                    <a:lumMod val="50000"/>
                  </a:schemeClr>
                </a:solidFill>
              </a:rPr>
              <a:t>Advanced Techniques with </a:t>
            </a:r>
            <a:br>
              <a:rPr lang="en-US" dirty="0">
                <a:solidFill>
                  <a:schemeClr val="accent1">
                    <a:lumMod val="50000"/>
                  </a:schemeClr>
                </a:solidFill>
              </a:rPr>
            </a:br>
            <a:r>
              <a:rPr lang="en-US" dirty="0">
                <a:solidFill>
                  <a:schemeClr val="accent1">
                    <a:lumMod val="50000"/>
                  </a:schemeClr>
                </a:solidFill>
              </a:rPr>
              <a:t>Large Language Models</a:t>
            </a:r>
            <a:br>
              <a:rPr lang="en-US" dirty="0">
                <a:solidFill>
                  <a:schemeClr val="accent1">
                    <a:lumMod val="75000"/>
                  </a:schemeClr>
                </a:solidFill>
              </a:rPr>
            </a:br>
            <a:r>
              <a:rPr lang="en-US" dirty="0">
                <a:solidFill>
                  <a:schemeClr val="accent1">
                    <a:lumMod val="75000"/>
                  </a:schemeClr>
                </a:solidFill>
              </a:rPr>
              <a:t> </a:t>
            </a:r>
            <a:br>
              <a:rPr lang="en-US" dirty="0">
                <a:solidFill>
                  <a:schemeClr val="accent1">
                    <a:lumMod val="75000"/>
                  </a:schemeClr>
                </a:solidFill>
              </a:rPr>
            </a:br>
            <a:r>
              <a:rPr lang="en-US" sz="5300" dirty="0"/>
              <a:t>Lecture 5</a:t>
            </a:r>
            <a:endParaRPr lang="en-US" dirty="0"/>
          </a:p>
        </p:txBody>
      </p:sp>
      <p:sp>
        <p:nvSpPr>
          <p:cNvPr id="3" name="Subtitle 2">
            <a:extLst>
              <a:ext uri="{FF2B5EF4-FFF2-40B4-BE49-F238E27FC236}">
                <a16:creationId xmlns:a16="http://schemas.microsoft.com/office/drawing/2014/main" id="{BA7B08F6-CA66-E9B6-26EF-64525C3B6B59}"/>
              </a:ext>
            </a:extLst>
          </p:cNvPr>
          <p:cNvSpPr>
            <a:spLocks noGrp="1"/>
          </p:cNvSpPr>
          <p:nvPr>
            <p:ph type="subTitle" idx="1"/>
          </p:nvPr>
        </p:nvSpPr>
        <p:spPr>
          <a:xfrm>
            <a:off x="1524000" y="4164013"/>
            <a:ext cx="9144000" cy="2551112"/>
          </a:xfrm>
        </p:spPr>
        <p:txBody>
          <a:bodyPr>
            <a:normAutofit lnSpcReduction="10000"/>
          </a:bodyPr>
          <a:lstStyle/>
          <a:p>
            <a:r>
              <a:rPr lang="en-US" dirty="0"/>
              <a:t>Northeastern University</a:t>
            </a:r>
          </a:p>
          <a:p>
            <a:r>
              <a:rPr lang="en-US" dirty="0"/>
              <a:t>College of Engineering</a:t>
            </a:r>
          </a:p>
          <a:p>
            <a:r>
              <a:rPr lang="en-US" dirty="0"/>
              <a:t>Multidisciplinary Graduate Engineering Department</a:t>
            </a:r>
          </a:p>
          <a:p>
            <a:endParaRPr lang="en-US" dirty="0"/>
          </a:p>
          <a:p>
            <a:r>
              <a:rPr lang="en-US" sz="2000" dirty="0"/>
              <a:t>INFO 7374 – Fall 2025</a:t>
            </a:r>
          </a:p>
          <a:p>
            <a:r>
              <a:rPr lang="en-US" sz="2000" dirty="0"/>
              <a:t>Instructor: Abdolreza Mosaddegh</a:t>
            </a:r>
          </a:p>
        </p:txBody>
      </p:sp>
    </p:spTree>
    <p:extLst>
      <p:ext uri="{BB962C8B-B14F-4D97-AF65-F5344CB8AC3E}">
        <p14:creationId xmlns:p14="http://schemas.microsoft.com/office/powerpoint/2010/main" val="3409095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4593" y="242326"/>
            <a:ext cx="10515600" cy="1027204"/>
          </a:xfrm>
          <a:prstGeom prst="rect">
            <a:avLst/>
          </a:prstGeom>
        </p:spPr>
        <p:txBody>
          <a:bodyPr vert="horz" wrap="square" lIns="0" tIns="346710" rIns="0" bIns="0" numCol="1" rtlCol="0" anchor="ctr" anchorCtr="0" compatLnSpc="1">
            <a:prstTxWarp prst="textNoShape">
              <a:avLst/>
            </a:prstTxWarp>
            <a:spAutoFit/>
          </a:bodyPr>
          <a:lstStyle/>
          <a:p>
            <a:pPr marL="548640">
              <a:lnSpc>
                <a:spcPct val="100000"/>
              </a:lnSpc>
              <a:spcBef>
                <a:spcPts val="2730"/>
              </a:spcBef>
            </a:pPr>
            <a:r>
              <a:rPr lang="en-US" dirty="0"/>
              <a:t>NLP by Neural Networks</a:t>
            </a:r>
            <a:endParaRPr lang="en-US" spc="-13" dirty="0"/>
          </a:p>
        </p:txBody>
      </p:sp>
      <p:sp>
        <p:nvSpPr>
          <p:cNvPr id="5" name="TextBox 4">
            <a:extLst>
              <a:ext uri="{FF2B5EF4-FFF2-40B4-BE49-F238E27FC236}">
                <a16:creationId xmlns:a16="http://schemas.microsoft.com/office/drawing/2014/main" id="{3C143025-6E99-B691-D70C-3774F36283D5}"/>
              </a:ext>
            </a:extLst>
          </p:cNvPr>
          <p:cNvSpPr txBox="1"/>
          <p:nvPr/>
        </p:nvSpPr>
        <p:spPr>
          <a:xfrm>
            <a:off x="234593" y="1490105"/>
            <a:ext cx="11722814" cy="1877437"/>
          </a:xfrm>
          <a:prstGeom prst="rect">
            <a:avLst/>
          </a:prstGeom>
          <a:noFill/>
        </p:spPr>
        <p:txBody>
          <a:bodyPr wrap="square">
            <a:spAutoFit/>
          </a:bodyPr>
          <a:lstStyle/>
          <a:p>
            <a:pPr marL="698500" marR="115570" indent="-342900">
              <a:spcBef>
                <a:spcPts val="800"/>
              </a:spcBef>
              <a:buFont typeface="Arial" panose="020B0604020202020204" pitchFamily="34" charset="0"/>
              <a:buChar char="•"/>
            </a:pPr>
            <a:r>
              <a:rPr lang="en-US" sz="2400" spc="-5" dirty="0">
                <a:cs typeface="Arial MT"/>
              </a:rPr>
              <a:t>NLP primarily focuses on processing </a:t>
            </a:r>
            <a:r>
              <a:rPr lang="en-US" sz="2400" spc="-5" dirty="0">
                <a:solidFill>
                  <a:srgbClr val="C00000"/>
                </a:solidFill>
                <a:cs typeface="Arial MT"/>
              </a:rPr>
              <a:t>textual data </a:t>
            </a:r>
          </a:p>
          <a:p>
            <a:pPr marL="698500" marR="115570" indent="-342900">
              <a:spcBef>
                <a:spcPts val="800"/>
              </a:spcBef>
              <a:buFont typeface="Arial" panose="020B0604020202020204" pitchFamily="34" charset="0"/>
              <a:buChar char="•"/>
            </a:pPr>
            <a:r>
              <a:rPr lang="en-US" sz="2400" spc="-5" dirty="0"/>
              <a:t>The first step in NLP is to break-down text to</a:t>
            </a:r>
            <a:r>
              <a:rPr lang="en-US" sz="2400" spc="-5" dirty="0">
                <a:solidFill>
                  <a:srgbClr val="C00000"/>
                </a:solidFill>
              </a:rPr>
              <a:t> </a:t>
            </a:r>
            <a:r>
              <a:rPr lang="en-US" sz="2400" spc="-5" dirty="0"/>
              <a:t>processable </a:t>
            </a:r>
            <a:r>
              <a:rPr lang="en-US" sz="2400" spc="114" dirty="0">
                <a:solidFill>
                  <a:srgbClr val="C00000"/>
                </a:solidFill>
                <a:cs typeface="Microsoft Sans Serif"/>
              </a:rPr>
              <a:t>meaningful </a:t>
            </a:r>
            <a:r>
              <a:rPr lang="en-US" sz="2400" spc="-5" dirty="0"/>
              <a:t>units </a:t>
            </a:r>
          </a:p>
          <a:p>
            <a:pPr marL="698500" marR="115570" indent="-342900">
              <a:spcBef>
                <a:spcPts val="800"/>
              </a:spcBef>
              <a:buFont typeface="Arial" panose="020B0604020202020204" pitchFamily="34" charset="0"/>
              <a:buChar char="•"/>
            </a:pPr>
            <a:r>
              <a:rPr lang="en-US" sz="2400" spc="114" dirty="0">
                <a:solidFill>
                  <a:srgbClr val="C00000"/>
                </a:solidFill>
                <a:cs typeface="Microsoft Sans Serif"/>
              </a:rPr>
              <a:t>Tokenization</a:t>
            </a:r>
            <a:r>
              <a:rPr lang="en-US" sz="2400" spc="114" dirty="0">
                <a:cs typeface="Microsoft Sans Serif"/>
              </a:rPr>
              <a:t> methods(e.g., BPE) can be used to convert textual data to tokens</a:t>
            </a:r>
          </a:p>
          <a:p>
            <a:pPr marL="698500" marR="115570" indent="-342900">
              <a:spcBef>
                <a:spcPts val="800"/>
              </a:spcBef>
              <a:buFont typeface="Arial" panose="020B0604020202020204" pitchFamily="34" charset="0"/>
              <a:buChar char="•"/>
            </a:pPr>
            <a:r>
              <a:rPr lang="en-US" sz="2400" spc="114" dirty="0">
                <a:cs typeface="Microsoft Sans Serif"/>
              </a:rPr>
              <a:t>Tokens needs to be </a:t>
            </a:r>
            <a:r>
              <a:rPr lang="en-US" sz="2400" spc="114" dirty="0">
                <a:solidFill>
                  <a:srgbClr val="C00000"/>
                </a:solidFill>
                <a:cs typeface="Microsoft Sans Serif"/>
              </a:rPr>
              <a:t>prepared</a:t>
            </a:r>
            <a:r>
              <a:rPr lang="en-US" sz="2400" spc="114" dirty="0">
                <a:cs typeface="Microsoft Sans Serif"/>
              </a:rPr>
              <a:t> to be processed by </a:t>
            </a:r>
            <a:r>
              <a:rPr lang="en-US" sz="2400" spc="114" dirty="0">
                <a:solidFill>
                  <a:srgbClr val="C00000"/>
                </a:solidFill>
                <a:cs typeface="Microsoft Sans Serif"/>
              </a:rPr>
              <a:t>neural networks</a:t>
            </a:r>
          </a:p>
        </p:txBody>
      </p:sp>
      <p:sp>
        <p:nvSpPr>
          <p:cNvPr id="6" name="Arrow: Right 5">
            <a:extLst>
              <a:ext uri="{FF2B5EF4-FFF2-40B4-BE49-F238E27FC236}">
                <a16:creationId xmlns:a16="http://schemas.microsoft.com/office/drawing/2014/main" id="{103BB750-4A24-53C2-1AF0-CC227EADFD14}"/>
              </a:ext>
            </a:extLst>
          </p:cNvPr>
          <p:cNvSpPr/>
          <p:nvPr/>
        </p:nvSpPr>
        <p:spPr>
          <a:xfrm>
            <a:off x="6609054" y="4997766"/>
            <a:ext cx="1197485" cy="3701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diagram of a diagram&#10;&#10;Description automatically generated">
            <a:extLst>
              <a:ext uri="{FF2B5EF4-FFF2-40B4-BE49-F238E27FC236}">
                <a16:creationId xmlns:a16="http://schemas.microsoft.com/office/drawing/2014/main" id="{2248500E-45E9-1390-B4E6-F3818BAD60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1476" y="3932160"/>
            <a:ext cx="3599051" cy="2528901"/>
          </a:xfrm>
          <a:prstGeom prst="rect">
            <a:avLst/>
          </a:prstGeom>
        </p:spPr>
      </p:pic>
      <p:pic>
        <p:nvPicPr>
          <p:cNvPr id="9" name="Picture 8">
            <a:extLst>
              <a:ext uri="{FF2B5EF4-FFF2-40B4-BE49-F238E27FC236}">
                <a16:creationId xmlns:a16="http://schemas.microsoft.com/office/drawing/2014/main" id="{F2DC5DF3-BCB2-8563-BBC7-BE74305DF2B7}"/>
              </a:ext>
            </a:extLst>
          </p:cNvPr>
          <p:cNvPicPr>
            <a:picLocks noChangeAspect="1"/>
          </p:cNvPicPr>
          <p:nvPr/>
        </p:nvPicPr>
        <p:blipFill>
          <a:blip r:embed="rId3"/>
          <a:stretch>
            <a:fillRect/>
          </a:stretch>
        </p:blipFill>
        <p:spPr>
          <a:xfrm>
            <a:off x="906046" y="4016673"/>
            <a:ext cx="5547190" cy="1592758"/>
          </a:xfrm>
          <a:prstGeom prst="rect">
            <a:avLst/>
          </a:prstGeom>
        </p:spPr>
      </p:pic>
      <p:sp>
        <p:nvSpPr>
          <p:cNvPr id="10" name="TextBox 9">
            <a:extLst>
              <a:ext uri="{FF2B5EF4-FFF2-40B4-BE49-F238E27FC236}">
                <a16:creationId xmlns:a16="http://schemas.microsoft.com/office/drawing/2014/main" id="{A00795D3-11E2-3B85-1C3E-BA28706C2B17}"/>
              </a:ext>
            </a:extLst>
          </p:cNvPr>
          <p:cNvSpPr txBox="1"/>
          <p:nvPr/>
        </p:nvSpPr>
        <p:spPr>
          <a:xfrm>
            <a:off x="6453236" y="4457823"/>
            <a:ext cx="1353303" cy="646331"/>
          </a:xfrm>
          <a:prstGeom prst="rect">
            <a:avLst/>
          </a:prstGeom>
          <a:noFill/>
        </p:spPr>
        <p:txBody>
          <a:bodyPr wrap="square">
            <a:spAutoFit/>
          </a:bodyPr>
          <a:lstStyle/>
          <a:p>
            <a:r>
              <a:rPr lang="en-US" sz="1800" dirty="0">
                <a:solidFill>
                  <a:schemeClr val="tx2"/>
                </a:solidFill>
              </a:rPr>
              <a:t>Tokenization</a:t>
            </a:r>
          </a:p>
          <a:p>
            <a:r>
              <a:rPr lang="en-US" dirty="0">
                <a:solidFill>
                  <a:schemeClr val="tx2"/>
                </a:solidFill>
              </a:rPr>
              <a:t> (e.g., BPE)</a:t>
            </a:r>
          </a:p>
        </p:txBody>
      </p:sp>
    </p:spTree>
    <p:extLst>
      <p:ext uri="{BB962C8B-B14F-4D97-AF65-F5344CB8AC3E}">
        <p14:creationId xmlns:p14="http://schemas.microsoft.com/office/powerpoint/2010/main" val="3827256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0351F4-945B-0EBD-783F-89CBBC4E3193}"/>
              </a:ext>
            </a:extLst>
          </p:cNvPr>
          <p:cNvPicPr>
            <a:picLocks noChangeAspect="1"/>
          </p:cNvPicPr>
          <p:nvPr/>
        </p:nvPicPr>
        <p:blipFill>
          <a:blip r:embed="rId3"/>
          <a:stretch>
            <a:fillRect/>
          </a:stretch>
        </p:blipFill>
        <p:spPr>
          <a:xfrm>
            <a:off x="7000651" y="4593193"/>
            <a:ext cx="4749961" cy="1465104"/>
          </a:xfrm>
          <a:prstGeom prst="rect">
            <a:avLst/>
          </a:prstGeom>
        </p:spPr>
      </p:pic>
      <p:sp>
        <p:nvSpPr>
          <p:cNvPr id="2" name="Title 1">
            <a:extLst>
              <a:ext uri="{FF2B5EF4-FFF2-40B4-BE49-F238E27FC236}">
                <a16:creationId xmlns:a16="http://schemas.microsoft.com/office/drawing/2014/main" id="{071EFD97-5F4C-AA78-673E-86A396C8A377}"/>
              </a:ext>
            </a:extLst>
          </p:cNvPr>
          <p:cNvSpPr>
            <a:spLocks noGrp="1"/>
          </p:cNvSpPr>
          <p:nvPr>
            <p:ph type="title"/>
          </p:nvPr>
        </p:nvSpPr>
        <p:spPr>
          <a:xfrm>
            <a:off x="612169" y="365125"/>
            <a:ext cx="10515600" cy="1325563"/>
          </a:xfrm>
        </p:spPr>
        <p:txBody>
          <a:bodyPr/>
          <a:lstStyle/>
          <a:p>
            <a:r>
              <a:rPr lang="en-US" dirty="0"/>
              <a:t>Requirements of Neural Networks</a:t>
            </a:r>
          </a:p>
        </p:txBody>
      </p:sp>
      <p:sp>
        <p:nvSpPr>
          <p:cNvPr id="3" name="Text Placeholder 2">
            <a:extLst>
              <a:ext uri="{FF2B5EF4-FFF2-40B4-BE49-F238E27FC236}">
                <a16:creationId xmlns:a16="http://schemas.microsoft.com/office/drawing/2014/main" id="{5CE85131-9AD6-63C9-D566-753268966379}"/>
              </a:ext>
            </a:extLst>
          </p:cNvPr>
          <p:cNvSpPr txBox="1">
            <a:spLocks/>
          </p:cNvSpPr>
          <p:nvPr/>
        </p:nvSpPr>
        <p:spPr>
          <a:xfrm>
            <a:off x="698643" y="1690688"/>
            <a:ext cx="11198082" cy="1846659"/>
          </a:xfrm>
          <a:prstGeom prst="rect">
            <a:avLst/>
          </a:prstGeom>
        </p:spPr>
        <p:txBody>
          <a:bodyPr wrap="square" lIns="0" tIns="0" rIns="0" bIns="0">
            <a:spAutoFit/>
          </a:bodyPr>
          <a:lstStyle>
            <a:lvl1pPr marL="0">
              <a:defRPr sz="1800" b="0" i="0">
                <a:solidFill>
                  <a:schemeClr val="tx1"/>
                </a:solidFill>
                <a:latin typeface="Times New Roman"/>
                <a:ea typeface="+mn-ea"/>
                <a:cs typeface="Times New Roman"/>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400" b="1" dirty="0">
                <a:latin typeface="+mn-lt"/>
              </a:rPr>
              <a:t>Problem</a:t>
            </a:r>
            <a:r>
              <a:rPr lang="en-US" sz="2400" dirty="0">
                <a:latin typeface="+mn-lt"/>
              </a:rPr>
              <a:t>:</a:t>
            </a:r>
          </a:p>
          <a:p>
            <a:pPr marL="457200" indent="-457200">
              <a:buFont typeface="+mj-lt"/>
              <a:buAutoNum type="arabicPeriod"/>
            </a:pPr>
            <a:r>
              <a:rPr lang="en-US" sz="2400" dirty="0">
                <a:latin typeface="+mn-lt"/>
              </a:rPr>
              <a:t>We need to convert </a:t>
            </a:r>
            <a:r>
              <a:rPr lang="en-US" sz="2400" dirty="0">
                <a:solidFill>
                  <a:srgbClr val="C00000"/>
                </a:solidFill>
                <a:latin typeface="+mn-lt"/>
              </a:rPr>
              <a:t>tokens to numbers</a:t>
            </a:r>
            <a:r>
              <a:rPr lang="en-US" sz="2400" dirty="0">
                <a:latin typeface="+mn-lt"/>
              </a:rPr>
              <a:t> to process them with </a:t>
            </a:r>
            <a:r>
              <a:rPr lang="en-US" sz="2400" dirty="0">
                <a:solidFill>
                  <a:srgbClr val="C00000"/>
                </a:solidFill>
                <a:latin typeface="+mn-lt"/>
              </a:rPr>
              <a:t>neural networks</a:t>
            </a:r>
          </a:p>
          <a:p>
            <a:pPr marL="457200" indent="-457200">
              <a:buFont typeface="+mj-lt"/>
              <a:buAutoNum type="arabicPeriod"/>
            </a:pPr>
            <a:r>
              <a:rPr lang="en-US" sz="2400" dirty="0">
                <a:latin typeface="+mn-lt"/>
              </a:rPr>
              <a:t>These </a:t>
            </a:r>
            <a:r>
              <a:rPr lang="en-US" sz="2400" dirty="0">
                <a:solidFill>
                  <a:srgbClr val="C00000"/>
                </a:solidFill>
                <a:latin typeface="+mn-lt"/>
              </a:rPr>
              <a:t>numbers</a:t>
            </a:r>
            <a:r>
              <a:rPr lang="en-US" sz="2400" dirty="0">
                <a:latin typeface="+mn-lt"/>
              </a:rPr>
              <a:t> should present </a:t>
            </a:r>
            <a:r>
              <a:rPr lang="en-US" sz="2400" dirty="0">
                <a:solidFill>
                  <a:srgbClr val="C00000"/>
                </a:solidFill>
                <a:latin typeface="+mn-lt"/>
              </a:rPr>
              <a:t>meanings</a:t>
            </a:r>
            <a:r>
              <a:rPr lang="en-US" sz="2400" dirty="0">
                <a:latin typeface="+mn-lt"/>
              </a:rPr>
              <a:t> of the words</a:t>
            </a:r>
          </a:p>
          <a:p>
            <a:pPr marL="380990" indent="-380990">
              <a:buFont typeface="Arial" panose="020B0604020202020204" pitchFamily="34" charset="0"/>
              <a:buChar char="•"/>
            </a:pPr>
            <a:endParaRPr lang="en-US" sz="2400" dirty="0">
              <a:latin typeface="+mn-lt"/>
            </a:endParaRPr>
          </a:p>
          <a:p>
            <a:r>
              <a:rPr lang="en-US" sz="2400" b="1" dirty="0">
                <a:latin typeface="+mn-lt"/>
              </a:rPr>
              <a:t>1,2</a:t>
            </a:r>
            <a:r>
              <a:rPr lang="en-US" sz="2400" dirty="0">
                <a:latin typeface="+mn-lt"/>
              </a:rPr>
              <a:t>: Needs to </a:t>
            </a:r>
            <a:r>
              <a:rPr lang="en-US" sz="2400" dirty="0">
                <a:solidFill>
                  <a:srgbClr val="C00000"/>
                </a:solidFill>
                <a:latin typeface="+mn-lt"/>
              </a:rPr>
              <a:t>encode</a:t>
            </a:r>
            <a:r>
              <a:rPr lang="en-US" sz="2400" dirty="0">
                <a:latin typeface="+mn-lt"/>
              </a:rPr>
              <a:t> </a:t>
            </a:r>
            <a:r>
              <a:rPr lang="en-US" sz="2400" dirty="0">
                <a:solidFill>
                  <a:srgbClr val="C00000"/>
                </a:solidFill>
                <a:latin typeface="+mn-lt"/>
              </a:rPr>
              <a:t>different aspects </a:t>
            </a:r>
            <a:r>
              <a:rPr lang="en-US" sz="2400" dirty="0">
                <a:latin typeface="+mn-lt"/>
              </a:rPr>
              <a:t>(dimensions) of words with </a:t>
            </a:r>
            <a:r>
              <a:rPr lang="en-US" sz="2400" dirty="0">
                <a:solidFill>
                  <a:srgbClr val="C00000"/>
                </a:solidFill>
                <a:latin typeface="+mn-lt"/>
              </a:rPr>
              <a:t>numbers</a:t>
            </a:r>
          </a:p>
        </p:txBody>
      </p:sp>
      <p:sp>
        <p:nvSpPr>
          <p:cNvPr id="9" name="Oval 8">
            <a:extLst>
              <a:ext uri="{FF2B5EF4-FFF2-40B4-BE49-F238E27FC236}">
                <a16:creationId xmlns:a16="http://schemas.microsoft.com/office/drawing/2014/main" id="{31285DC2-D8F2-7B2B-523D-26534F6A0060}"/>
              </a:ext>
            </a:extLst>
          </p:cNvPr>
          <p:cNvSpPr/>
          <p:nvPr/>
        </p:nvSpPr>
        <p:spPr>
          <a:xfrm>
            <a:off x="7799983" y="4282757"/>
            <a:ext cx="453484" cy="2085975"/>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F8AB39F-66E6-7095-6CDD-9C6E800B19D8}"/>
              </a:ext>
            </a:extLst>
          </p:cNvPr>
          <p:cNvSpPr txBox="1"/>
          <p:nvPr/>
        </p:nvSpPr>
        <p:spPr>
          <a:xfrm>
            <a:off x="8443966" y="3946862"/>
            <a:ext cx="3552825" cy="646331"/>
          </a:xfrm>
          <a:prstGeom prst="rect">
            <a:avLst/>
          </a:prstGeom>
          <a:noFill/>
        </p:spPr>
        <p:txBody>
          <a:bodyPr wrap="square">
            <a:spAutoFit/>
          </a:bodyPr>
          <a:lstStyle/>
          <a:p>
            <a:r>
              <a:rPr lang="en-US" sz="1800" dirty="0">
                <a:latin typeface="+mn-lt"/>
              </a:rPr>
              <a:t>Neural networks process </a:t>
            </a:r>
            <a:r>
              <a:rPr lang="en-US" sz="1800" dirty="0">
                <a:solidFill>
                  <a:srgbClr val="C00000"/>
                </a:solidFill>
                <a:latin typeface="+mn-lt"/>
              </a:rPr>
              <a:t>features</a:t>
            </a:r>
            <a:r>
              <a:rPr lang="en-US" sz="1800" dirty="0">
                <a:latin typeface="+mn-lt"/>
              </a:rPr>
              <a:t> represented by </a:t>
            </a:r>
            <a:r>
              <a:rPr lang="en-US" sz="1800" dirty="0">
                <a:solidFill>
                  <a:srgbClr val="C00000"/>
                </a:solidFill>
                <a:latin typeface="+mn-lt"/>
              </a:rPr>
              <a:t>numbers</a:t>
            </a:r>
          </a:p>
        </p:txBody>
      </p:sp>
      <p:graphicFrame>
        <p:nvGraphicFramePr>
          <p:cNvPr id="5" name="Table 4">
            <a:extLst>
              <a:ext uri="{FF2B5EF4-FFF2-40B4-BE49-F238E27FC236}">
                <a16:creationId xmlns:a16="http://schemas.microsoft.com/office/drawing/2014/main" id="{C838F4DC-39B7-714C-0890-841515B249C4}"/>
              </a:ext>
            </a:extLst>
          </p:cNvPr>
          <p:cNvGraphicFramePr>
            <a:graphicFrameLocks noGrp="1"/>
          </p:cNvGraphicFramePr>
          <p:nvPr>
            <p:extLst>
              <p:ext uri="{D42A27DB-BD31-4B8C-83A1-F6EECF244321}">
                <p14:modId xmlns:p14="http://schemas.microsoft.com/office/powerpoint/2010/main" val="3478606016"/>
              </p:ext>
            </p:extLst>
          </p:nvPr>
        </p:nvGraphicFramePr>
        <p:xfrm>
          <a:off x="955443" y="4800804"/>
          <a:ext cx="5303523" cy="1370674"/>
        </p:xfrm>
        <a:graphic>
          <a:graphicData uri="http://schemas.openxmlformats.org/drawingml/2006/table">
            <a:tbl>
              <a:tblPr firstRow="1" bandRow="1"/>
              <a:tblGrid>
                <a:gridCol w="630016">
                  <a:extLst>
                    <a:ext uri="{9D8B030D-6E8A-4147-A177-3AD203B41FA5}">
                      <a16:colId xmlns:a16="http://schemas.microsoft.com/office/drawing/2014/main" val="2697210884"/>
                    </a:ext>
                  </a:extLst>
                </a:gridCol>
                <a:gridCol w="951521">
                  <a:extLst>
                    <a:ext uri="{9D8B030D-6E8A-4147-A177-3AD203B41FA5}">
                      <a16:colId xmlns:a16="http://schemas.microsoft.com/office/drawing/2014/main" val="1578709857"/>
                    </a:ext>
                  </a:extLst>
                </a:gridCol>
                <a:gridCol w="1542748">
                  <a:extLst>
                    <a:ext uri="{9D8B030D-6E8A-4147-A177-3AD203B41FA5}">
                      <a16:colId xmlns:a16="http://schemas.microsoft.com/office/drawing/2014/main" val="897160441"/>
                    </a:ext>
                  </a:extLst>
                </a:gridCol>
                <a:gridCol w="1786575">
                  <a:extLst>
                    <a:ext uri="{9D8B030D-6E8A-4147-A177-3AD203B41FA5}">
                      <a16:colId xmlns:a16="http://schemas.microsoft.com/office/drawing/2014/main" val="2582894869"/>
                    </a:ext>
                  </a:extLst>
                </a:gridCol>
                <a:gridCol w="392663">
                  <a:extLst>
                    <a:ext uri="{9D8B030D-6E8A-4147-A177-3AD203B41FA5}">
                      <a16:colId xmlns:a16="http://schemas.microsoft.com/office/drawing/2014/main" val="3688190697"/>
                    </a:ext>
                  </a:extLst>
                </a:gridCol>
              </a:tblGrid>
              <a:tr h="499307">
                <a:tc>
                  <a:txBody>
                    <a:bodyPr/>
                    <a:lstStyle/>
                    <a:p>
                      <a:pPr algn="ctr" fontAlgn="ctr">
                        <a:spcBef>
                          <a:spcPts val="0"/>
                        </a:spcBef>
                        <a:spcAft>
                          <a:spcPts val="0"/>
                        </a:spcAft>
                      </a:pPr>
                      <a:endParaRPr lang="en-US" sz="3200" b="0" i="0" u="none" strike="noStrike">
                        <a:effectLst/>
                        <a:latin typeface="Arial" panose="020B0604020202020204" pitchFamily="34" charset="0"/>
                      </a:endParaRPr>
                    </a:p>
                  </a:txBody>
                  <a:tcPr marL="11627" marR="11627" marT="11627"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2000" b="0" i="0" u="none" strike="noStrike">
                          <a:solidFill>
                            <a:srgbClr val="000000"/>
                          </a:solidFill>
                          <a:effectLst/>
                          <a:highlight>
                            <a:srgbClr val="D9D9D9"/>
                          </a:highlight>
                          <a:latin typeface="Aptos Narrow" panose="020B0004020202020204" pitchFamily="34" charset="0"/>
                        </a:rPr>
                        <a:t>Gender</a:t>
                      </a:r>
                      <a:endParaRPr lang="en-US" sz="3200" b="0" i="0" u="none" strike="noStrike">
                        <a:effectLst/>
                        <a:latin typeface="Arial" panose="020B0604020202020204" pitchFamily="34" charset="0"/>
                      </a:endParaRPr>
                    </a:p>
                  </a:txBody>
                  <a:tcPr marL="11627" marR="11627" marT="116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spcBef>
                          <a:spcPts val="0"/>
                        </a:spcBef>
                        <a:spcAft>
                          <a:spcPts val="0"/>
                        </a:spcAft>
                      </a:pPr>
                      <a:r>
                        <a:rPr lang="en-US" sz="2000" b="0" i="0" u="none" strike="noStrike" dirty="0">
                          <a:solidFill>
                            <a:srgbClr val="000000"/>
                          </a:solidFill>
                          <a:effectLst/>
                          <a:highlight>
                            <a:srgbClr val="D9D9D9"/>
                          </a:highlight>
                          <a:latin typeface="Aptos Narrow" panose="020B0004020202020204" pitchFamily="34" charset="0"/>
                        </a:rPr>
                        <a:t>Political Rank</a:t>
                      </a:r>
                      <a:endParaRPr lang="en-US" sz="3200" b="0" i="0" u="none" strike="noStrike" dirty="0">
                        <a:effectLst/>
                        <a:latin typeface="Arial" panose="020B0604020202020204" pitchFamily="34" charset="0"/>
                      </a:endParaRPr>
                    </a:p>
                  </a:txBody>
                  <a:tcPr marL="11627" marR="11627" marT="116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spcBef>
                          <a:spcPts val="0"/>
                        </a:spcBef>
                        <a:spcAft>
                          <a:spcPts val="0"/>
                        </a:spcAft>
                      </a:pPr>
                      <a:r>
                        <a:rPr lang="en-US" sz="2000" b="0" i="0" u="none" strike="noStrike" dirty="0">
                          <a:solidFill>
                            <a:srgbClr val="000000"/>
                          </a:solidFill>
                          <a:effectLst/>
                          <a:highlight>
                            <a:srgbClr val="D9D9D9"/>
                          </a:highlight>
                          <a:latin typeface="Aptos Narrow" panose="020B0004020202020204" pitchFamily="34" charset="0"/>
                        </a:rPr>
                        <a:t>Political System</a:t>
                      </a:r>
                      <a:endParaRPr lang="en-US" sz="3200" b="0" i="0" u="none" strike="noStrike" dirty="0">
                        <a:effectLst/>
                        <a:latin typeface="Arial" panose="020B0604020202020204" pitchFamily="34" charset="0"/>
                      </a:endParaRPr>
                    </a:p>
                  </a:txBody>
                  <a:tcPr marL="11627" marR="11627" marT="116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spcBef>
                          <a:spcPts val="0"/>
                        </a:spcBef>
                        <a:spcAft>
                          <a:spcPts val="0"/>
                        </a:spcAft>
                      </a:pPr>
                      <a:r>
                        <a:rPr lang="en-US" sz="2000" b="0" i="0" u="none" strike="noStrike">
                          <a:solidFill>
                            <a:srgbClr val="000000"/>
                          </a:solidFill>
                          <a:effectLst/>
                          <a:highlight>
                            <a:srgbClr val="D9D9D9"/>
                          </a:highlight>
                          <a:latin typeface="Aptos Narrow" panose="020B0004020202020204" pitchFamily="34" charset="0"/>
                        </a:rPr>
                        <a:t>…</a:t>
                      </a:r>
                      <a:endParaRPr lang="en-US" sz="3200" b="0" i="0" u="none" strike="noStrike">
                        <a:effectLst/>
                        <a:latin typeface="Arial" panose="020B0604020202020204" pitchFamily="34" charset="0"/>
                      </a:endParaRPr>
                    </a:p>
                  </a:txBody>
                  <a:tcPr marL="11627" marR="11627" marT="116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504745195"/>
                  </a:ext>
                </a:extLst>
              </a:tr>
              <a:tr h="372060">
                <a:tc>
                  <a:txBody>
                    <a:bodyPr/>
                    <a:lstStyle/>
                    <a:p>
                      <a:pPr algn="ctr" fontAlgn="ctr">
                        <a:spcBef>
                          <a:spcPts val="0"/>
                        </a:spcBef>
                        <a:spcAft>
                          <a:spcPts val="0"/>
                        </a:spcAft>
                      </a:pPr>
                      <a:r>
                        <a:rPr lang="en-US" sz="2000" b="0" i="0" u="none" strike="noStrike" dirty="0">
                          <a:solidFill>
                            <a:srgbClr val="000000"/>
                          </a:solidFill>
                          <a:effectLst/>
                          <a:latin typeface="Aptos Narrow" panose="020B0004020202020204" pitchFamily="34" charset="0"/>
                        </a:rPr>
                        <a:t>King</a:t>
                      </a:r>
                      <a:endParaRPr lang="en-US" sz="3200" b="0" i="0" u="none" strike="noStrike" dirty="0">
                        <a:effectLst/>
                        <a:latin typeface="Arial" panose="020B0604020202020204" pitchFamily="34" charset="0"/>
                      </a:endParaRPr>
                    </a:p>
                  </a:txBody>
                  <a:tcPr marL="11627" marR="11627" marT="116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2000" b="0" i="0" u="none" strike="noStrike" dirty="0">
                          <a:solidFill>
                            <a:srgbClr val="000000"/>
                          </a:solidFill>
                          <a:effectLst/>
                          <a:latin typeface="Aptos Narrow" panose="020B0004020202020204" pitchFamily="34" charset="0"/>
                          <a:ea typeface="+mn-ea"/>
                          <a:cs typeface="+mn-cs"/>
                        </a:rPr>
                        <a:t>M</a:t>
                      </a:r>
                    </a:p>
                  </a:txBody>
                  <a:tcPr marL="11627" marR="11627" marT="116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2000" b="0" i="0" u="none" strike="noStrike" dirty="0">
                          <a:solidFill>
                            <a:srgbClr val="000000"/>
                          </a:solidFill>
                          <a:effectLst/>
                          <a:latin typeface="Aptos Narrow" panose="020B0004020202020204" pitchFamily="34" charset="0"/>
                          <a:ea typeface="+mn-ea"/>
                          <a:cs typeface="+mn-cs"/>
                        </a:rPr>
                        <a:t>Top</a:t>
                      </a:r>
                    </a:p>
                  </a:txBody>
                  <a:tcPr marL="11627" marR="11627" marT="116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2000" b="0" i="0" u="none" strike="noStrike" dirty="0">
                          <a:solidFill>
                            <a:srgbClr val="000000"/>
                          </a:solidFill>
                          <a:effectLst/>
                          <a:latin typeface="Aptos Narrow" panose="020B0004020202020204" pitchFamily="34" charset="0"/>
                          <a:ea typeface="+mn-ea"/>
                          <a:cs typeface="+mn-cs"/>
                        </a:rPr>
                        <a:t>Monarchy</a:t>
                      </a:r>
                    </a:p>
                  </a:txBody>
                  <a:tcPr marL="11627" marR="11627" marT="116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2000" b="0" i="0" u="none" strike="noStrike" dirty="0">
                          <a:solidFill>
                            <a:srgbClr val="000000"/>
                          </a:solidFill>
                          <a:effectLst/>
                          <a:latin typeface="Aptos Narrow" panose="020B0004020202020204" pitchFamily="34" charset="0"/>
                        </a:rPr>
                        <a:t> </a:t>
                      </a:r>
                      <a:endParaRPr lang="en-US" sz="3200" b="0" i="0" u="none" strike="noStrike" dirty="0">
                        <a:effectLst/>
                        <a:latin typeface="Arial" panose="020B0604020202020204" pitchFamily="34" charset="0"/>
                      </a:endParaRPr>
                    </a:p>
                  </a:txBody>
                  <a:tcPr marL="11627" marR="11627" marT="116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06345327"/>
                  </a:ext>
                </a:extLst>
              </a:tr>
              <a:tr h="499307">
                <a:tc>
                  <a:txBody>
                    <a:bodyPr/>
                    <a:lstStyle/>
                    <a:p>
                      <a:pPr algn="ctr" fontAlgn="ctr">
                        <a:spcBef>
                          <a:spcPts val="0"/>
                        </a:spcBef>
                        <a:spcAft>
                          <a:spcPts val="0"/>
                        </a:spcAft>
                      </a:pPr>
                      <a:endParaRPr lang="en-US" sz="3200" b="0" i="0" u="none" strike="noStrike" dirty="0">
                        <a:effectLst/>
                        <a:latin typeface="Arial" panose="020B0604020202020204" pitchFamily="34" charset="0"/>
                      </a:endParaRPr>
                    </a:p>
                  </a:txBody>
                  <a:tcPr marL="11627" marR="11627" marT="116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2000" b="0" i="0" u="none" strike="noStrike" dirty="0">
                          <a:solidFill>
                            <a:srgbClr val="000000"/>
                          </a:solidFill>
                          <a:effectLst/>
                          <a:latin typeface="Aptos Narrow" panose="020B0004020202020204" pitchFamily="34" charset="0"/>
                          <a:ea typeface="+mn-ea"/>
                          <a:cs typeface="+mn-cs"/>
                        </a:rPr>
                        <a:t>2</a:t>
                      </a:r>
                    </a:p>
                  </a:txBody>
                  <a:tcPr marL="11627" marR="11627" marT="116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2000" b="0" i="0" u="none" strike="noStrike" dirty="0">
                          <a:solidFill>
                            <a:srgbClr val="000000"/>
                          </a:solidFill>
                          <a:effectLst/>
                          <a:latin typeface="Aptos Narrow" panose="020B0004020202020204" pitchFamily="34" charset="0"/>
                          <a:ea typeface="+mn-ea"/>
                          <a:cs typeface="+mn-cs"/>
                        </a:rPr>
                        <a:t>10</a:t>
                      </a:r>
                    </a:p>
                  </a:txBody>
                  <a:tcPr marL="11627" marR="11627" marT="116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2000" b="0" i="0" u="none" strike="noStrike" dirty="0">
                          <a:solidFill>
                            <a:srgbClr val="000000"/>
                          </a:solidFill>
                          <a:effectLst/>
                          <a:latin typeface="Aptos Narrow" panose="020B0004020202020204" pitchFamily="34" charset="0"/>
                          <a:ea typeface="+mn-ea"/>
                          <a:cs typeface="+mn-cs"/>
                        </a:rPr>
                        <a:t>1</a:t>
                      </a:r>
                    </a:p>
                  </a:txBody>
                  <a:tcPr marL="11627" marR="11627" marT="116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endParaRPr lang="en-US" sz="3200" b="0" i="0" u="none" strike="noStrike" dirty="0">
                        <a:effectLst/>
                        <a:latin typeface="Arial" panose="020B0604020202020204" pitchFamily="34" charset="0"/>
                      </a:endParaRPr>
                    </a:p>
                  </a:txBody>
                  <a:tcPr marL="11627" marR="11627" marT="116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0837129"/>
                  </a:ext>
                </a:extLst>
              </a:tr>
            </a:tbl>
          </a:graphicData>
        </a:graphic>
      </p:graphicFrame>
      <p:sp>
        <p:nvSpPr>
          <p:cNvPr id="8" name="TextBox 7">
            <a:extLst>
              <a:ext uri="{FF2B5EF4-FFF2-40B4-BE49-F238E27FC236}">
                <a16:creationId xmlns:a16="http://schemas.microsoft.com/office/drawing/2014/main" id="{CAEF1A6F-8692-D3F4-AAC3-CDE1849AB2B9}"/>
              </a:ext>
            </a:extLst>
          </p:cNvPr>
          <p:cNvSpPr txBox="1"/>
          <p:nvPr/>
        </p:nvSpPr>
        <p:spPr>
          <a:xfrm>
            <a:off x="2086550" y="6302841"/>
            <a:ext cx="4009450" cy="380067"/>
          </a:xfrm>
          <a:prstGeom prst="rect">
            <a:avLst/>
          </a:prstGeom>
          <a:noFill/>
        </p:spPr>
        <p:txBody>
          <a:bodyPr wrap="square">
            <a:spAutoFit/>
          </a:bodyPr>
          <a:lstStyle/>
          <a:p>
            <a:r>
              <a:rPr lang="en-US" sz="1800" dirty="0">
                <a:cs typeface="Times New Roman"/>
              </a:rPr>
              <a:t>King is </a:t>
            </a:r>
            <a:r>
              <a:rPr lang="en-US" sz="1800" dirty="0">
                <a:solidFill>
                  <a:srgbClr val="C00000"/>
                </a:solidFill>
                <a:cs typeface="Times New Roman"/>
              </a:rPr>
              <a:t>encoded</a:t>
            </a:r>
            <a:r>
              <a:rPr lang="en-US" sz="1800" dirty="0">
                <a:cs typeface="Times New Roman"/>
              </a:rPr>
              <a:t> using: [2, 10, 1]</a:t>
            </a:r>
          </a:p>
        </p:txBody>
      </p:sp>
      <p:sp>
        <p:nvSpPr>
          <p:cNvPr id="12" name="TextBox 11">
            <a:extLst>
              <a:ext uri="{FF2B5EF4-FFF2-40B4-BE49-F238E27FC236}">
                <a16:creationId xmlns:a16="http://schemas.microsoft.com/office/drawing/2014/main" id="{78814514-4259-DC2E-8BAD-39591E1C1CE3}"/>
              </a:ext>
            </a:extLst>
          </p:cNvPr>
          <p:cNvSpPr txBox="1"/>
          <p:nvPr/>
        </p:nvSpPr>
        <p:spPr>
          <a:xfrm>
            <a:off x="520175" y="4254639"/>
            <a:ext cx="6880142" cy="338554"/>
          </a:xfrm>
          <a:prstGeom prst="rect">
            <a:avLst/>
          </a:prstGeom>
          <a:noFill/>
        </p:spPr>
        <p:txBody>
          <a:bodyPr wrap="square">
            <a:spAutoFit/>
          </a:bodyPr>
          <a:lstStyle/>
          <a:p>
            <a:r>
              <a:rPr lang="en-US" sz="1600" b="1" dirty="0">
                <a:cs typeface="Times New Roman"/>
              </a:rPr>
              <a:t> Describing King</a:t>
            </a:r>
            <a:r>
              <a:rPr lang="en-US" sz="1600" dirty="0">
                <a:cs typeface="Times New Roman"/>
              </a:rPr>
              <a:t>: The </a:t>
            </a:r>
            <a:r>
              <a:rPr lang="en-US" sz="1600" u="sng" dirty="0">
                <a:cs typeface="Times New Roman"/>
              </a:rPr>
              <a:t>top rank </a:t>
            </a:r>
            <a:r>
              <a:rPr lang="en-US" sz="1600" dirty="0">
                <a:cs typeface="Times New Roman"/>
              </a:rPr>
              <a:t>person (</a:t>
            </a:r>
            <a:r>
              <a:rPr lang="en-US" sz="1600" u="sng" dirty="0">
                <a:cs typeface="Times New Roman"/>
              </a:rPr>
              <a:t>male</a:t>
            </a:r>
            <a:r>
              <a:rPr lang="en-US" sz="1600" dirty="0">
                <a:cs typeface="Times New Roman"/>
              </a:rPr>
              <a:t>) in a </a:t>
            </a:r>
            <a:r>
              <a:rPr lang="en-US" sz="1600" u="sng" dirty="0">
                <a:cs typeface="Times New Roman"/>
              </a:rPr>
              <a:t>monarchy</a:t>
            </a:r>
            <a:r>
              <a:rPr lang="en-US" sz="1600" dirty="0">
                <a:cs typeface="Times New Roman"/>
              </a:rPr>
              <a:t> political system</a:t>
            </a:r>
            <a:endParaRPr lang="en-US" sz="1600" dirty="0"/>
          </a:p>
        </p:txBody>
      </p:sp>
    </p:spTree>
    <p:extLst>
      <p:ext uri="{BB962C8B-B14F-4D97-AF65-F5344CB8AC3E}">
        <p14:creationId xmlns:p14="http://schemas.microsoft.com/office/powerpoint/2010/main" val="1699218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2CB16E-6595-0F00-F092-1FFC8A505F7F}"/>
              </a:ext>
            </a:extLst>
          </p:cNvPr>
          <p:cNvPicPr>
            <a:picLocks noChangeAspect="1"/>
          </p:cNvPicPr>
          <p:nvPr/>
        </p:nvPicPr>
        <p:blipFill>
          <a:blip r:embed="rId2"/>
          <a:stretch>
            <a:fillRect/>
          </a:stretch>
        </p:blipFill>
        <p:spPr>
          <a:xfrm>
            <a:off x="6760275" y="3899751"/>
            <a:ext cx="4368310" cy="2958249"/>
          </a:xfrm>
          <a:prstGeom prst="rect">
            <a:avLst/>
          </a:prstGeom>
        </p:spPr>
      </p:pic>
      <p:sp>
        <p:nvSpPr>
          <p:cNvPr id="2" name="Title 1">
            <a:extLst>
              <a:ext uri="{FF2B5EF4-FFF2-40B4-BE49-F238E27FC236}">
                <a16:creationId xmlns:a16="http://schemas.microsoft.com/office/drawing/2014/main" id="{F3EC14A5-59AB-95C6-6305-0DFF87183054}"/>
              </a:ext>
            </a:extLst>
          </p:cNvPr>
          <p:cNvSpPr>
            <a:spLocks noGrp="1"/>
          </p:cNvSpPr>
          <p:nvPr>
            <p:ph type="title"/>
          </p:nvPr>
        </p:nvSpPr>
        <p:spPr>
          <a:xfrm>
            <a:off x="647174" y="419832"/>
            <a:ext cx="10592005" cy="512961"/>
          </a:xfrm>
        </p:spPr>
        <p:txBody>
          <a:bodyPr>
            <a:normAutofit fontScale="90000"/>
          </a:bodyPr>
          <a:lstStyle/>
          <a:p>
            <a:r>
              <a:rPr lang="en-US" dirty="0"/>
              <a:t>Encoding Tokens Using Vectors</a:t>
            </a:r>
          </a:p>
        </p:txBody>
      </p:sp>
      <p:sp>
        <p:nvSpPr>
          <p:cNvPr id="3" name="Text Placeholder 2">
            <a:extLst>
              <a:ext uri="{FF2B5EF4-FFF2-40B4-BE49-F238E27FC236}">
                <a16:creationId xmlns:a16="http://schemas.microsoft.com/office/drawing/2014/main" id="{1BD53B02-824F-4F4A-5A9E-DBFF30DE9A22}"/>
              </a:ext>
            </a:extLst>
          </p:cNvPr>
          <p:cNvSpPr>
            <a:spLocks noGrp="1"/>
          </p:cNvSpPr>
          <p:nvPr>
            <p:ph type="body" idx="1"/>
          </p:nvPr>
        </p:nvSpPr>
        <p:spPr>
          <a:xfrm>
            <a:off x="760145" y="1293121"/>
            <a:ext cx="11379200" cy="2954655"/>
          </a:xfrm>
        </p:spPr>
        <p:txBody>
          <a:bodyPr>
            <a:normAutofit/>
          </a:bodyPr>
          <a:lstStyle/>
          <a:p>
            <a:pPr marL="0" indent="0">
              <a:buNone/>
            </a:pPr>
            <a:r>
              <a:rPr lang="en-US" sz="2600" dirty="0">
                <a:solidFill>
                  <a:srgbClr val="C00000"/>
                </a:solidFill>
              </a:rPr>
              <a:t>Embeddings</a:t>
            </a:r>
            <a:r>
              <a:rPr lang="en-US" sz="2600" b="1" dirty="0"/>
              <a:t> </a:t>
            </a:r>
            <a:r>
              <a:rPr lang="en-US" sz="2600" dirty="0"/>
              <a:t>(vectors)</a:t>
            </a:r>
            <a:r>
              <a:rPr lang="en-US" sz="2600" b="1" dirty="0"/>
              <a:t> </a:t>
            </a:r>
            <a:r>
              <a:rPr lang="en-US" sz="2600" dirty="0"/>
              <a:t>represent the </a:t>
            </a:r>
            <a:r>
              <a:rPr lang="en-US" sz="2600" dirty="0">
                <a:solidFill>
                  <a:srgbClr val="C00000"/>
                </a:solidFill>
              </a:rPr>
              <a:t>meaning </a:t>
            </a:r>
            <a:r>
              <a:rPr lang="en-US" sz="2600" dirty="0"/>
              <a:t>of a word/text:</a:t>
            </a:r>
          </a:p>
          <a:p>
            <a:pPr marL="380990" indent="-380990"/>
            <a:r>
              <a:rPr lang="en-US" sz="2600" dirty="0"/>
              <a:t>Vectors covers </a:t>
            </a:r>
            <a:r>
              <a:rPr lang="en-US" sz="2600" dirty="0">
                <a:solidFill>
                  <a:srgbClr val="C00000"/>
                </a:solidFill>
              </a:rPr>
              <a:t>different aspects </a:t>
            </a:r>
            <a:r>
              <a:rPr lang="en-US" sz="2600" dirty="0"/>
              <a:t>of a word (e.g., 12288 dimensions in GPT3)</a:t>
            </a:r>
          </a:p>
          <a:p>
            <a:pPr marL="380990" indent="-380990"/>
            <a:r>
              <a:rPr lang="en-US" sz="2600" dirty="0"/>
              <a:t>Vectors represent</a:t>
            </a:r>
            <a:r>
              <a:rPr lang="en-US" sz="2600" dirty="0">
                <a:solidFill>
                  <a:srgbClr val="C00000"/>
                </a:solidFill>
              </a:rPr>
              <a:t> similarities</a:t>
            </a:r>
            <a:r>
              <a:rPr lang="en-US" sz="2600" dirty="0"/>
              <a:t> between concepts</a:t>
            </a:r>
          </a:p>
          <a:p>
            <a:pPr marL="380990" indent="-380990"/>
            <a:r>
              <a:rPr lang="en-US" sz="2600" dirty="0"/>
              <a:t>Vectors can be </a:t>
            </a:r>
            <a:r>
              <a:rPr lang="en-US" sz="2600" dirty="0">
                <a:solidFill>
                  <a:srgbClr val="C00000"/>
                </a:solidFill>
              </a:rPr>
              <a:t>transformed</a:t>
            </a:r>
            <a:r>
              <a:rPr lang="en-US" sz="2600" dirty="0"/>
              <a:t> to different embeddings </a:t>
            </a:r>
          </a:p>
          <a:p>
            <a:pPr marL="380990" indent="-380990"/>
            <a:r>
              <a:rPr lang="en-US" sz="2600" dirty="0"/>
              <a:t>Vectors can be scaled to represent </a:t>
            </a:r>
            <a:r>
              <a:rPr lang="en-US" sz="2600" dirty="0">
                <a:solidFill>
                  <a:srgbClr val="C00000"/>
                </a:solidFill>
              </a:rPr>
              <a:t>different types of data </a:t>
            </a:r>
            <a:r>
              <a:rPr lang="en-US" sz="2600" dirty="0"/>
              <a:t>(text, image, etc. )</a:t>
            </a:r>
            <a:endParaRPr lang="en-US" sz="2600" dirty="0">
              <a:solidFill>
                <a:srgbClr val="C00000"/>
              </a:solidFill>
            </a:endParaRPr>
          </a:p>
          <a:p>
            <a:endParaRPr lang="en-US" sz="2600" dirty="0"/>
          </a:p>
          <a:p>
            <a:pPr marL="380990" indent="-380990"/>
            <a:endParaRPr lang="en-US" sz="2600" dirty="0"/>
          </a:p>
        </p:txBody>
      </p:sp>
      <p:sp>
        <p:nvSpPr>
          <p:cNvPr id="6" name="TextBox 5">
            <a:extLst>
              <a:ext uri="{FF2B5EF4-FFF2-40B4-BE49-F238E27FC236}">
                <a16:creationId xmlns:a16="http://schemas.microsoft.com/office/drawing/2014/main" id="{A431A144-CDF5-A4EB-201A-AF1B26415919}"/>
              </a:ext>
            </a:extLst>
          </p:cNvPr>
          <p:cNvSpPr txBox="1"/>
          <p:nvPr/>
        </p:nvSpPr>
        <p:spPr>
          <a:xfrm>
            <a:off x="1381160" y="3870442"/>
            <a:ext cx="4050567" cy="923330"/>
          </a:xfrm>
          <a:prstGeom prst="rect">
            <a:avLst/>
          </a:prstGeom>
          <a:noFill/>
        </p:spPr>
        <p:txBody>
          <a:bodyPr wrap="square">
            <a:spAutoFit/>
          </a:bodyPr>
          <a:lstStyle/>
          <a:p>
            <a:r>
              <a:rPr lang="en-US" dirty="0">
                <a:solidFill>
                  <a:srgbClr val="C00000"/>
                </a:solidFill>
              </a:rPr>
              <a:t>Word2vec</a:t>
            </a:r>
            <a:r>
              <a:rPr lang="en-US" dirty="0"/>
              <a:t> is a technique for obtaining </a:t>
            </a:r>
            <a:r>
              <a:rPr lang="en-US" dirty="0">
                <a:solidFill>
                  <a:srgbClr val="C00000"/>
                </a:solidFill>
              </a:rPr>
              <a:t>meaningful</a:t>
            </a:r>
            <a:r>
              <a:rPr lang="en-US" dirty="0"/>
              <a:t> </a:t>
            </a:r>
            <a:r>
              <a:rPr lang="en-US" dirty="0">
                <a:solidFill>
                  <a:srgbClr val="C00000"/>
                </a:solidFill>
              </a:rPr>
              <a:t>vector </a:t>
            </a:r>
            <a:r>
              <a:rPr lang="en-US" dirty="0"/>
              <a:t>representations</a:t>
            </a:r>
            <a:r>
              <a:rPr lang="en-US" dirty="0">
                <a:solidFill>
                  <a:srgbClr val="C00000"/>
                </a:solidFill>
              </a:rPr>
              <a:t> </a:t>
            </a:r>
            <a:r>
              <a:rPr lang="en-US" dirty="0"/>
              <a:t>of words using </a:t>
            </a:r>
            <a:r>
              <a:rPr lang="en-US" dirty="0">
                <a:solidFill>
                  <a:srgbClr val="C00000"/>
                </a:solidFill>
              </a:rPr>
              <a:t>surrounding words</a:t>
            </a:r>
          </a:p>
        </p:txBody>
      </p:sp>
      <p:pic>
        <p:nvPicPr>
          <p:cNvPr id="7" name="Picture 6">
            <a:extLst>
              <a:ext uri="{FF2B5EF4-FFF2-40B4-BE49-F238E27FC236}">
                <a16:creationId xmlns:a16="http://schemas.microsoft.com/office/drawing/2014/main" id="{6B7EC268-FF45-4DE7-A239-14230CD08CB7}"/>
              </a:ext>
            </a:extLst>
          </p:cNvPr>
          <p:cNvPicPr>
            <a:picLocks noChangeAspect="1"/>
          </p:cNvPicPr>
          <p:nvPr/>
        </p:nvPicPr>
        <p:blipFill>
          <a:blip r:embed="rId3"/>
          <a:stretch>
            <a:fillRect/>
          </a:stretch>
        </p:blipFill>
        <p:spPr>
          <a:xfrm>
            <a:off x="914257" y="4875313"/>
            <a:ext cx="4260617" cy="1651833"/>
          </a:xfrm>
          <a:prstGeom prst="rect">
            <a:avLst/>
          </a:prstGeom>
        </p:spPr>
      </p:pic>
    </p:spTree>
    <p:extLst>
      <p:ext uri="{BB962C8B-B14F-4D97-AF65-F5344CB8AC3E}">
        <p14:creationId xmlns:p14="http://schemas.microsoft.com/office/powerpoint/2010/main" val="2221102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8A4D7-DD3B-D915-6C54-466F554510BF}"/>
              </a:ext>
            </a:extLst>
          </p:cNvPr>
          <p:cNvSpPr>
            <a:spLocks noGrp="1"/>
          </p:cNvSpPr>
          <p:nvPr>
            <p:ph type="title"/>
          </p:nvPr>
        </p:nvSpPr>
        <p:spPr>
          <a:xfrm>
            <a:off x="523875" y="555304"/>
            <a:ext cx="9258707" cy="512961"/>
          </a:xfrm>
        </p:spPr>
        <p:txBody>
          <a:bodyPr>
            <a:normAutofit fontScale="90000"/>
          </a:bodyPr>
          <a:lstStyle/>
          <a:p>
            <a:r>
              <a:rPr lang="en-US" dirty="0"/>
              <a:t>Contextual Meaning</a:t>
            </a:r>
          </a:p>
        </p:txBody>
      </p:sp>
      <p:sp>
        <p:nvSpPr>
          <p:cNvPr id="3" name="Text Placeholder 2">
            <a:extLst>
              <a:ext uri="{FF2B5EF4-FFF2-40B4-BE49-F238E27FC236}">
                <a16:creationId xmlns:a16="http://schemas.microsoft.com/office/drawing/2014/main" id="{C1737666-E50A-13E8-6731-1AF6F321336E}"/>
              </a:ext>
            </a:extLst>
          </p:cNvPr>
          <p:cNvSpPr>
            <a:spLocks noGrp="1"/>
          </p:cNvSpPr>
          <p:nvPr>
            <p:ph type="body" idx="1"/>
          </p:nvPr>
        </p:nvSpPr>
        <p:spPr>
          <a:xfrm>
            <a:off x="653724" y="1290348"/>
            <a:ext cx="11284846" cy="5208790"/>
          </a:xfrm>
        </p:spPr>
        <p:txBody>
          <a:bodyPr>
            <a:normAutofit/>
          </a:bodyPr>
          <a:lstStyle/>
          <a:p>
            <a:pPr marL="0" indent="0">
              <a:buNone/>
            </a:pPr>
            <a:r>
              <a:rPr lang="en-US" sz="2600" b="1" dirty="0"/>
              <a:t>Problem: </a:t>
            </a:r>
            <a:r>
              <a:rPr lang="en-US" sz="2600" dirty="0"/>
              <a:t>Meaning of words can be </a:t>
            </a:r>
            <a:r>
              <a:rPr lang="en-US" sz="2600" dirty="0">
                <a:solidFill>
                  <a:srgbClr val="C00000"/>
                </a:solidFill>
              </a:rPr>
              <a:t>different</a:t>
            </a:r>
            <a:r>
              <a:rPr lang="en-US" sz="2600" dirty="0"/>
              <a:t> in various </a:t>
            </a:r>
            <a:r>
              <a:rPr lang="en-US" sz="2600" dirty="0">
                <a:solidFill>
                  <a:srgbClr val="C00000"/>
                </a:solidFill>
              </a:rPr>
              <a:t>contexts</a:t>
            </a:r>
            <a:r>
              <a:rPr lang="en-US" sz="2600" dirty="0"/>
              <a:t> (e.g., bank)</a:t>
            </a:r>
          </a:p>
          <a:p>
            <a:pPr marL="0" indent="0">
              <a:buNone/>
            </a:pPr>
            <a:r>
              <a:rPr lang="en-US" sz="2600" b="1" dirty="0"/>
              <a:t>Solution:</a:t>
            </a:r>
            <a:r>
              <a:rPr lang="en-US" sz="2600" dirty="0"/>
              <a:t> </a:t>
            </a:r>
            <a:r>
              <a:rPr lang="en-US" sz="2600" dirty="0">
                <a:solidFill>
                  <a:srgbClr val="C00000"/>
                </a:solidFill>
              </a:rPr>
              <a:t>Transforms</a:t>
            </a:r>
            <a:r>
              <a:rPr lang="en-US" sz="2600" dirty="0"/>
              <a:t> </a:t>
            </a:r>
            <a:r>
              <a:rPr lang="en-US" sz="2600" dirty="0">
                <a:solidFill>
                  <a:srgbClr val="C00000"/>
                </a:solidFill>
              </a:rPr>
              <a:t>embedding</a:t>
            </a:r>
            <a:r>
              <a:rPr lang="en-US" sz="2600" dirty="0"/>
              <a:t> of a word based on surrounding words (</a:t>
            </a:r>
            <a:r>
              <a:rPr lang="en-US" sz="2600" dirty="0">
                <a:solidFill>
                  <a:srgbClr val="C00000"/>
                </a:solidFill>
              </a:rPr>
              <a:t>context</a:t>
            </a:r>
            <a:r>
              <a:rPr lang="en-US" sz="2600" dirty="0"/>
              <a:t>):</a:t>
            </a:r>
          </a:p>
          <a:p>
            <a:pPr marL="514350" indent="-514350">
              <a:buFont typeface="+mj-lt"/>
              <a:buAutoNum type="arabicPeriod"/>
            </a:pPr>
            <a:r>
              <a:rPr lang="en-US" sz="2600" dirty="0"/>
              <a:t>Use </a:t>
            </a:r>
            <a:r>
              <a:rPr lang="en-US" sz="2600" dirty="0">
                <a:solidFill>
                  <a:srgbClr val="C00000"/>
                </a:solidFill>
              </a:rPr>
              <a:t>general embedding</a:t>
            </a:r>
            <a:r>
              <a:rPr lang="en-US" sz="2600" dirty="0"/>
              <a:t> of a word as </a:t>
            </a:r>
            <a:r>
              <a:rPr lang="en-US" sz="2600" dirty="0">
                <a:solidFill>
                  <a:srgbClr val="C00000"/>
                </a:solidFill>
              </a:rPr>
              <a:t>input</a:t>
            </a:r>
          </a:p>
          <a:p>
            <a:pPr marL="514350" indent="-514350">
              <a:buFont typeface="+mj-lt"/>
              <a:buAutoNum type="arabicPeriod"/>
            </a:pPr>
            <a:r>
              <a:rPr lang="en-US" sz="2600" dirty="0"/>
              <a:t>Extract the </a:t>
            </a:r>
            <a:r>
              <a:rPr lang="en-US" sz="2600" dirty="0">
                <a:solidFill>
                  <a:srgbClr val="C00000"/>
                </a:solidFill>
              </a:rPr>
              <a:t>semantic aspect </a:t>
            </a:r>
            <a:r>
              <a:rPr lang="en-US" sz="2600" dirty="0"/>
              <a:t>of a word. (</a:t>
            </a:r>
            <a:r>
              <a:rPr lang="en-US" sz="2600" dirty="0">
                <a:solidFill>
                  <a:srgbClr val="C00000"/>
                </a:solidFill>
              </a:rPr>
              <a:t>Query</a:t>
            </a:r>
            <a:r>
              <a:rPr lang="en-US" sz="2600" dirty="0"/>
              <a:t>)</a:t>
            </a:r>
          </a:p>
          <a:p>
            <a:pPr marL="514350" indent="-514350">
              <a:buFont typeface="+mj-lt"/>
              <a:buAutoNum type="arabicPeriod"/>
            </a:pPr>
            <a:r>
              <a:rPr lang="en-US" sz="2600" dirty="0"/>
              <a:t>Extract the sematic aspect from </a:t>
            </a:r>
            <a:r>
              <a:rPr lang="en-US" sz="2600" dirty="0">
                <a:solidFill>
                  <a:srgbClr val="C00000"/>
                </a:solidFill>
              </a:rPr>
              <a:t>surrounding words </a:t>
            </a:r>
            <a:r>
              <a:rPr lang="en-US" sz="2600" dirty="0"/>
              <a:t>(</a:t>
            </a:r>
            <a:r>
              <a:rPr lang="en-US" sz="2600" dirty="0">
                <a:solidFill>
                  <a:srgbClr val="C00000"/>
                </a:solidFill>
              </a:rPr>
              <a:t>Keys</a:t>
            </a:r>
            <a:r>
              <a:rPr lang="en-US" sz="2600" dirty="0"/>
              <a:t>)</a:t>
            </a:r>
          </a:p>
          <a:p>
            <a:pPr marL="514350" indent="-514350">
              <a:buFont typeface="+mj-lt"/>
              <a:buAutoNum type="arabicPeriod"/>
            </a:pPr>
            <a:r>
              <a:rPr lang="en-US" sz="2600" dirty="0"/>
              <a:t>Find </a:t>
            </a:r>
            <a:r>
              <a:rPr lang="en-US" sz="2600" dirty="0">
                <a:solidFill>
                  <a:srgbClr val="C00000"/>
                </a:solidFill>
              </a:rPr>
              <a:t>relevance</a:t>
            </a:r>
            <a:r>
              <a:rPr lang="en-US" sz="2600" dirty="0"/>
              <a:t> of other words ( </a:t>
            </a:r>
            <a:r>
              <a:rPr lang="en-US" sz="2600" dirty="0">
                <a:solidFill>
                  <a:srgbClr val="C00000"/>
                </a:solidFill>
              </a:rPr>
              <a:t>similarity</a:t>
            </a:r>
            <a:r>
              <a:rPr lang="en-US" sz="2600" dirty="0"/>
              <a:t> of Keys with Query)</a:t>
            </a:r>
          </a:p>
          <a:p>
            <a:pPr marL="514350" indent="-514350">
              <a:buFont typeface="+mj-lt"/>
              <a:buAutoNum type="arabicPeriod"/>
            </a:pPr>
            <a:r>
              <a:rPr lang="en-US" sz="2600" dirty="0"/>
              <a:t>Apply a </a:t>
            </a:r>
            <a:r>
              <a:rPr lang="en-US" sz="2600" dirty="0">
                <a:solidFill>
                  <a:srgbClr val="C00000"/>
                </a:solidFill>
              </a:rPr>
              <a:t>transformation</a:t>
            </a:r>
            <a:r>
              <a:rPr lang="en-US" sz="2600" dirty="0"/>
              <a:t> to the </a:t>
            </a:r>
            <a:r>
              <a:rPr lang="en-US" sz="2600" dirty="0">
                <a:solidFill>
                  <a:srgbClr val="C00000"/>
                </a:solidFill>
              </a:rPr>
              <a:t>general embedding </a:t>
            </a:r>
            <a:r>
              <a:rPr lang="en-US" sz="2600" dirty="0"/>
              <a:t>using relevant words (</a:t>
            </a:r>
            <a:r>
              <a:rPr lang="en-US" sz="2600" dirty="0">
                <a:solidFill>
                  <a:srgbClr val="C00000"/>
                </a:solidFill>
              </a:rPr>
              <a:t>Value</a:t>
            </a:r>
            <a:r>
              <a:rPr lang="en-US" sz="2600" dirty="0"/>
              <a:t>) </a:t>
            </a:r>
          </a:p>
          <a:p>
            <a:endParaRPr lang="en-US" sz="2600" dirty="0"/>
          </a:p>
          <a:p>
            <a:endParaRPr lang="en-US" sz="2600" dirty="0"/>
          </a:p>
          <a:p>
            <a:endParaRPr lang="en-US" sz="2600" dirty="0"/>
          </a:p>
          <a:p>
            <a:endParaRPr lang="en-US" sz="2600" dirty="0"/>
          </a:p>
          <a:p>
            <a:endParaRPr lang="en-US" sz="2600" dirty="0"/>
          </a:p>
          <a:p>
            <a:endParaRPr lang="en-US" sz="2600" dirty="0"/>
          </a:p>
          <a:p>
            <a:pPr marL="0" indent="0">
              <a:buNone/>
            </a:pPr>
            <a:endParaRPr lang="en-US" sz="2600" dirty="0"/>
          </a:p>
        </p:txBody>
      </p:sp>
      <p:pic>
        <p:nvPicPr>
          <p:cNvPr id="4" name="Picture 3">
            <a:extLst>
              <a:ext uri="{FF2B5EF4-FFF2-40B4-BE49-F238E27FC236}">
                <a16:creationId xmlns:a16="http://schemas.microsoft.com/office/drawing/2014/main" id="{82BF8EA3-C045-3876-9A19-23BA54A091E5}"/>
              </a:ext>
            </a:extLst>
          </p:cNvPr>
          <p:cNvPicPr>
            <a:picLocks noChangeAspect="1"/>
          </p:cNvPicPr>
          <p:nvPr/>
        </p:nvPicPr>
        <p:blipFill>
          <a:blip r:embed="rId2"/>
          <a:stretch>
            <a:fillRect/>
          </a:stretch>
        </p:blipFill>
        <p:spPr>
          <a:xfrm>
            <a:off x="8950501" y="4822896"/>
            <a:ext cx="2179835" cy="1849557"/>
          </a:xfrm>
          <a:prstGeom prst="rect">
            <a:avLst/>
          </a:prstGeom>
        </p:spPr>
      </p:pic>
      <p:cxnSp>
        <p:nvCxnSpPr>
          <p:cNvPr id="5" name="Straight Arrow Connector 4">
            <a:extLst>
              <a:ext uri="{FF2B5EF4-FFF2-40B4-BE49-F238E27FC236}">
                <a16:creationId xmlns:a16="http://schemas.microsoft.com/office/drawing/2014/main" id="{EB724860-0B81-AA41-D619-1CE9A615A4C3}"/>
              </a:ext>
            </a:extLst>
          </p:cNvPr>
          <p:cNvCxnSpPr>
            <a:cxnSpLocks/>
          </p:cNvCxnSpPr>
          <p:nvPr/>
        </p:nvCxnSpPr>
        <p:spPr>
          <a:xfrm flipV="1">
            <a:off x="9513033" y="5244486"/>
            <a:ext cx="264824" cy="323166"/>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8" name="object 11">
            <a:extLst>
              <a:ext uri="{FF2B5EF4-FFF2-40B4-BE49-F238E27FC236}">
                <a16:creationId xmlns:a16="http://schemas.microsoft.com/office/drawing/2014/main" id="{806275B6-9C1A-EF92-7A6F-0F7B24ADFE40}"/>
              </a:ext>
            </a:extLst>
          </p:cNvPr>
          <p:cNvSpPr txBox="1"/>
          <p:nvPr/>
        </p:nvSpPr>
        <p:spPr>
          <a:xfrm>
            <a:off x="1634932" y="6303596"/>
            <a:ext cx="2736427" cy="304421"/>
          </a:xfrm>
          <a:prstGeom prst="rect">
            <a:avLst/>
          </a:prstGeom>
        </p:spPr>
        <p:txBody>
          <a:bodyPr vert="horz" wrap="square" lIns="0" tIns="16933" rIns="0" bIns="0" rtlCol="0">
            <a:spAutoFit/>
          </a:bodyPr>
          <a:lstStyle/>
          <a:p>
            <a:pPr marL="16933">
              <a:spcBef>
                <a:spcPts val="133"/>
              </a:spcBef>
            </a:pPr>
            <a:r>
              <a:rPr sz="1867" spc="-7" dirty="0">
                <a:cs typeface="Courier New"/>
              </a:rPr>
              <a:t>open</a:t>
            </a:r>
            <a:r>
              <a:rPr sz="1867" spc="-47" dirty="0">
                <a:cs typeface="Courier New"/>
              </a:rPr>
              <a:t> </a:t>
            </a:r>
            <a:r>
              <a:rPr sz="1867" dirty="0">
                <a:cs typeface="Courier New"/>
              </a:rPr>
              <a:t>a</a:t>
            </a:r>
            <a:r>
              <a:rPr sz="1867" spc="-47" dirty="0">
                <a:cs typeface="Courier New"/>
              </a:rPr>
              <a:t> </a:t>
            </a:r>
            <a:r>
              <a:rPr sz="1867" spc="-7" dirty="0">
                <a:solidFill>
                  <a:srgbClr val="C00000"/>
                </a:solidFill>
                <a:cs typeface="Courier New"/>
              </a:rPr>
              <a:t>bank</a:t>
            </a:r>
            <a:r>
              <a:rPr sz="1867" spc="-40" dirty="0">
                <a:cs typeface="Courier New"/>
              </a:rPr>
              <a:t> </a:t>
            </a:r>
            <a:r>
              <a:rPr sz="1867" spc="-7" dirty="0">
                <a:solidFill>
                  <a:srgbClr val="0070C0"/>
                </a:solidFill>
                <a:cs typeface="Courier New"/>
              </a:rPr>
              <a:t>account</a:t>
            </a:r>
            <a:endParaRPr sz="1867" dirty="0">
              <a:solidFill>
                <a:srgbClr val="0070C0"/>
              </a:solidFill>
              <a:cs typeface="Courier New"/>
            </a:endParaRPr>
          </a:p>
        </p:txBody>
      </p:sp>
      <p:grpSp>
        <p:nvGrpSpPr>
          <p:cNvPr id="9" name="object 12">
            <a:extLst>
              <a:ext uri="{FF2B5EF4-FFF2-40B4-BE49-F238E27FC236}">
                <a16:creationId xmlns:a16="http://schemas.microsoft.com/office/drawing/2014/main" id="{12A23679-A4E2-1A85-886F-382D3802B2E7}"/>
              </a:ext>
            </a:extLst>
          </p:cNvPr>
          <p:cNvGrpSpPr/>
          <p:nvPr/>
        </p:nvGrpSpPr>
        <p:grpSpPr>
          <a:xfrm>
            <a:off x="2591943" y="6090328"/>
            <a:ext cx="55033" cy="277705"/>
            <a:chOff x="2473029" y="3966712"/>
            <a:chExt cx="41275" cy="208279"/>
          </a:xfrm>
        </p:grpSpPr>
        <p:sp>
          <p:nvSpPr>
            <p:cNvPr id="10" name="object 13">
              <a:extLst>
                <a:ext uri="{FF2B5EF4-FFF2-40B4-BE49-F238E27FC236}">
                  <a16:creationId xmlns:a16="http://schemas.microsoft.com/office/drawing/2014/main" id="{F358B839-9F72-2278-2E79-0B85CB436CE6}"/>
                </a:ext>
              </a:extLst>
            </p:cNvPr>
            <p:cNvSpPr/>
            <p:nvPr/>
          </p:nvSpPr>
          <p:spPr>
            <a:xfrm>
              <a:off x="2493524" y="4014700"/>
              <a:ext cx="0" cy="155575"/>
            </a:xfrm>
            <a:custGeom>
              <a:avLst/>
              <a:gdLst/>
              <a:ahLst/>
              <a:cxnLst/>
              <a:rect l="l" t="t" r="r" b="b"/>
              <a:pathLst>
                <a:path h="155575">
                  <a:moveTo>
                    <a:pt x="0" y="155249"/>
                  </a:moveTo>
                  <a:lnTo>
                    <a:pt x="0" y="0"/>
                  </a:lnTo>
                </a:path>
              </a:pathLst>
            </a:custGeom>
            <a:ln w="9524">
              <a:solidFill>
                <a:srgbClr val="424242"/>
              </a:solidFill>
            </a:ln>
          </p:spPr>
          <p:txBody>
            <a:bodyPr wrap="square" lIns="0" tIns="0" rIns="0" bIns="0" rtlCol="0"/>
            <a:lstStyle/>
            <a:p>
              <a:endParaRPr sz="2400"/>
            </a:p>
          </p:txBody>
        </p:sp>
        <p:sp>
          <p:nvSpPr>
            <p:cNvPr id="11" name="object 14">
              <a:extLst>
                <a:ext uri="{FF2B5EF4-FFF2-40B4-BE49-F238E27FC236}">
                  <a16:creationId xmlns:a16="http://schemas.microsoft.com/office/drawing/2014/main" id="{BA868AF4-64CE-E583-675B-908A34D51D5E}"/>
                </a:ext>
              </a:extLst>
            </p:cNvPr>
            <p:cNvSpPr/>
            <p:nvPr/>
          </p:nvSpPr>
          <p:spPr>
            <a:xfrm>
              <a:off x="2477792" y="3971474"/>
              <a:ext cx="31750" cy="43815"/>
            </a:xfrm>
            <a:custGeom>
              <a:avLst/>
              <a:gdLst/>
              <a:ahLst/>
              <a:cxnLst/>
              <a:rect l="l" t="t" r="r" b="b"/>
              <a:pathLst>
                <a:path w="31750" h="43814">
                  <a:moveTo>
                    <a:pt x="31465" y="43225"/>
                  </a:moveTo>
                  <a:lnTo>
                    <a:pt x="0" y="43225"/>
                  </a:lnTo>
                  <a:lnTo>
                    <a:pt x="15732" y="0"/>
                  </a:lnTo>
                  <a:lnTo>
                    <a:pt x="31465" y="43225"/>
                  </a:lnTo>
                  <a:close/>
                </a:path>
              </a:pathLst>
            </a:custGeom>
            <a:solidFill>
              <a:srgbClr val="424242"/>
            </a:solidFill>
          </p:spPr>
          <p:txBody>
            <a:bodyPr wrap="square" lIns="0" tIns="0" rIns="0" bIns="0" rtlCol="0"/>
            <a:lstStyle/>
            <a:p>
              <a:endParaRPr sz="2400"/>
            </a:p>
          </p:txBody>
        </p:sp>
        <p:sp>
          <p:nvSpPr>
            <p:cNvPr id="12" name="object 15">
              <a:extLst>
                <a:ext uri="{FF2B5EF4-FFF2-40B4-BE49-F238E27FC236}">
                  <a16:creationId xmlns:a16="http://schemas.microsoft.com/office/drawing/2014/main" id="{BCD8A0D4-117E-4E82-0D94-F5D12BDACE3D}"/>
                </a:ext>
              </a:extLst>
            </p:cNvPr>
            <p:cNvSpPr/>
            <p:nvPr/>
          </p:nvSpPr>
          <p:spPr>
            <a:xfrm>
              <a:off x="2477792" y="3971474"/>
              <a:ext cx="31750" cy="43815"/>
            </a:xfrm>
            <a:custGeom>
              <a:avLst/>
              <a:gdLst/>
              <a:ahLst/>
              <a:cxnLst/>
              <a:rect l="l" t="t" r="r" b="b"/>
              <a:pathLst>
                <a:path w="31750" h="43814">
                  <a:moveTo>
                    <a:pt x="31465" y="43225"/>
                  </a:moveTo>
                  <a:lnTo>
                    <a:pt x="15732" y="0"/>
                  </a:lnTo>
                  <a:lnTo>
                    <a:pt x="0" y="43225"/>
                  </a:lnTo>
                  <a:lnTo>
                    <a:pt x="31465" y="43225"/>
                  </a:lnTo>
                  <a:close/>
                </a:path>
              </a:pathLst>
            </a:custGeom>
            <a:ln w="9524">
              <a:solidFill>
                <a:srgbClr val="424242"/>
              </a:solidFill>
            </a:ln>
          </p:spPr>
          <p:txBody>
            <a:bodyPr wrap="square" lIns="0" tIns="0" rIns="0" bIns="0" rtlCol="0"/>
            <a:lstStyle/>
            <a:p>
              <a:endParaRPr sz="2400"/>
            </a:p>
          </p:txBody>
        </p:sp>
      </p:grpSp>
      <p:sp>
        <p:nvSpPr>
          <p:cNvPr id="13" name="object 16">
            <a:extLst>
              <a:ext uri="{FF2B5EF4-FFF2-40B4-BE49-F238E27FC236}">
                <a16:creationId xmlns:a16="http://schemas.microsoft.com/office/drawing/2014/main" id="{06638647-8BDE-4086-71D4-38BDF9143B1B}"/>
              </a:ext>
            </a:extLst>
          </p:cNvPr>
          <p:cNvSpPr txBox="1"/>
          <p:nvPr/>
        </p:nvSpPr>
        <p:spPr>
          <a:xfrm>
            <a:off x="1447302" y="5716151"/>
            <a:ext cx="2350347" cy="263320"/>
          </a:xfrm>
          <a:prstGeom prst="rect">
            <a:avLst/>
          </a:prstGeom>
        </p:spPr>
        <p:txBody>
          <a:bodyPr vert="horz" wrap="square" lIns="0" tIns="16933" rIns="0" bIns="0" rtlCol="0">
            <a:spAutoFit/>
          </a:bodyPr>
          <a:lstStyle/>
          <a:p>
            <a:pPr marL="16933">
              <a:spcBef>
                <a:spcPts val="133"/>
              </a:spcBef>
            </a:pPr>
            <a:r>
              <a:rPr sz="1600" spc="-7" dirty="0">
                <a:solidFill>
                  <a:srgbClr val="C00000"/>
                </a:solidFill>
                <a:cs typeface="Courier New" panose="02070309020205020404" pitchFamily="49" charset="0"/>
              </a:rPr>
              <a:t>[0.9,</a:t>
            </a:r>
            <a:r>
              <a:rPr sz="1600" spc="-47" dirty="0">
                <a:solidFill>
                  <a:srgbClr val="C00000"/>
                </a:solidFill>
                <a:cs typeface="Courier New" panose="02070309020205020404" pitchFamily="49" charset="0"/>
              </a:rPr>
              <a:t> </a:t>
            </a:r>
            <a:r>
              <a:rPr sz="1600" spc="-7" dirty="0">
                <a:solidFill>
                  <a:srgbClr val="C00000"/>
                </a:solidFill>
                <a:cs typeface="Courier New" panose="02070309020205020404" pitchFamily="49" charset="0"/>
              </a:rPr>
              <a:t>-0.2,</a:t>
            </a:r>
            <a:r>
              <a:rPr sz="1600" spc="-40" dirty="0">
                <a:solidFill>
                  <a:srgbClr val="C00000"/>
                </a:solidFill>
                <a:cs typeface="Courier New" panose="02070309020205020404" pitchFamily="49" charset="0"/>
              </a:rPr>
              <a:t> </a:t>
            </a:r>
            <a:r>
              <a:rPr sz="1600" spc="-7" dirty="0">
                <a:solidFill>
                  <a:srgbClr val="C00000"/>
                </a:solidFill>
                <a:cs typeface="Courier New" panose="02070309020205020404" pitchFamily="49" charset="0"/>
              </a:rPr>
              <a:t>1.6,</a:t>
            </a:r>
            <a:r>
              <a:rPr sz="1600" spc="-40" dirty="0">
                <a:solidFill>
                  <a:srgbClr val="C00000"/>
                </a:solidFill>
                <a:cs typeface="Courier New" panose="02070309020205020404" pitchFamily="49" charset="0"/>
              </a:rPr>
              <a:t> </a:t>
            </a:r>
            <a:r>
              <a:rPr sz="1600" spc="-7" dirty="0">
                <a:solidFill>
                  <a:srgbClr val="C00000"/>
                </a:solidFill>
                <a:cs typeface="Courier New" panose="02070309020205020404" pitchFamily="49" charset="0"/>
              </a:rPr>
              <a:t>…]</a:t>
            </a:r>
            <a:endParaRPr sz="1600" dirty="0">
              <a:solidFill>
                <a:srgbClr val="C00000"/>
              </a:solidFill>
              <a:cs typeface="Courier New" panose="02070309020205020404" pitchFamily="49" charset="0"/>
            </a:endParaRPr>
          </a:p>
        </p:txBody>
      </p:sp>
      <p:sp>
        <p:nvSpPr>
          <p:cNvPr id="14" name="object 17">
            <a:extLst>
              <a:ext uri="{FF2B5EF4-FFF2-40B4-BE49-F238E27FC236}">
                <a16:creationId xmlns:a16="http://schemas.microsoft.com/office/drawing/2014/main" id="{2B665D25-BCA4-464D-08AE-48CA8ABA75B0}"/>
              </a:ext>
            </a:extLst>
          </p:cNvPr>
          <p:cNvSpPr txBox="1"/>
          <p:nvPr/>
        </p:nvSpPr>
        <p:spPr>
          <a:xfrm>
            <a:off x="5227728" y="6303596"/>
            <a:ext cx="2451947" cy="304421"/>
          </a:xfrm>
          <a:prstGeom prst="rect">
            <a:avLst/>
          </a:prstGeom>
        </p:spPr>
        <p:txBody>
          <a:bodyPr vert="horz" wrap="square" lIns="0" tIns="16933" rIns="0" bIns="0" rtlCol="0">
            <a:spAutoFit/>
          </a:bodyPr>
          <a:lstStyle/>
          <a:p>
            <a:pPr marL="16933">
              <a:spcBef>
                <a:spcPts val="133"/>
              </a:spcBef>
            </a:pPr>
            <a:r>
              <a:rPr sz="1867" spc="-7" dirty="0">
                <a:cs typeface="Courier New" panose="02070309020205020404" pitchFamily="49" charset="0"/>
              </a:rPr>
              <a:t>on</a:t>
            </a:r>
            <a:r>
              <a:rPr sz="1867" spc="-47" dirty="0">
                <a:cs typeface="Courier New" panose="02070309020205020404" pitchFamily="49" charset="0"/>
              </a:rPr>
              <a:t> </a:t>
            </a:r>
            <a:r>
              <a:rPr sz="1867" spc="-7" dirty="0">
                <a:cs typeface="Courier New" panose="02070309020205020404" pitchFamily="49" charset="0"/>
              </a:rPr>
              <a:t>the</a:t>
            </a:r>
            <a:r>
              <a:rPr sz="1867" spc="-40" dirty="0">
                <a:cs typeface="Courier New" panose="02070309020205020404" pitchFamily="49" charset="0"/>
              </a:rPr>
              <a:t> </a:t>
            </a:r>
            <a:r>
              <a:rPr sz="1867" spc="-7" dirty="0">
                <a:solidFill>
                  <a:srgbClr val="0070C0"/>
                </a:solidFill>
                <a:cs typeface="Courier New" panose="02070309020205020404" pitchFamily="49" charset="0"/>
              </a:rPr>
              <a:t>river</a:t>
            </a:r>
            <a:r>
              <a:rPr sz="1867" spc="-40" dirty="0">
                <a:cs typeface="Courier New" panose="02070309020205020404" pitchFamily="49" charset="0"/>
              </a:rPr>
              <a:t> </a:t>
            </a:r>
            <a:r>
              <a:rPr sz="1867" spc="-7" dirty="0">
                <a:solidFill>
                  <a:srgbClr val="C00000"/>
                </a:solidFill>
                <a:cs typeface="Courier New" panose="02070309020205020404" pitchFamily="49" charset="0"/>
              </a:rPr>
              <a:t>bank</a:t>
            </a:r>
            <a:endParaRPr sz="1867" dirty="0">
              <a:solidFill>
                <a:srgbClr val="C00000"/>
              </a:solidFill>
              <a:cs typeface="Courier New" panose="02070309020205020404" pitchFamily="49" charset="0"/>
            </a:endParaRPr>
          </a:p>
        </p:txBody>
      </p:sp>
      <p:grpSp>
        <p:nvGrpSpPr>
          <p:cNvPr id="15" name="object 18">
            <a:extLst>
              <a:ext uri="{FF2B5EF4-FFF2-40B4-BE49-F238E27FC236}">
                <a16:creationId xmlns:a16="http://schemas.microsoft.com/office/drawing/2014/main" id="{958E1F0B-2F5D-4923-FE6F-BF7449D3F2A3}"/>
              </a:ext>
            </a:extLst>
          </p:cNvPr>
          <p:cNvGrpSpPr/>
          <p:nvPr/>
        </p:nvGrpSpPr>
        <p:grpSpPr>
          <a:xfrm>
            <a:off x="6569437" y="6032179"/>
            <a:ext cx="55033" cy="271780"/>
            <a:chOff x="6281804" y="3966712"/>
            <a:chExt cx="41275" cy="203835"/>
          </a:xfrm>
        </p:grpSpPr>
        <p:sp>
          <p:nvSpPr>
            <p:cNvPr id="16" name="object 19">
              <a:extLst>
                <a:ext uri="{FF2B5EF4-FFF2-40B4-BE49-F238E27FC236}">
                  <a16:creationId xmlns:a16="http://schemas.microsoft.com/office/drawing/2014/main" id="{7C4C864D-7395-A257-D56C-61B3BA0D768A}"/>
                </a:ext>
              </a:extLst>
            </p:cNvPr>
            <p:cNvSpPr/>
            <p:nvPr/>
          </p:nvSpPr>
          <p:spPr>
            <a:xfrm>
              <a:off x="6302299" y="4014700"/>
              <a:ext cx="0" cy="155575"/>
            </a:xfrm>
            <a:custGeom>
              <a:avLst/>
              <a:gdLst/>
              <a:ahLst/>
              <a:cxnLst/>
              <a:rect l="l" t="t" r="r" b="b"/>
              <a:pathLst>
                <a:path h="155575">
                  <a:moveTo>
                    <a:pt x="0" y="155249"/>
                  </a:moveTo>
                  <a:lnTo>
                    <a:pt x="0" y="0"/>
                  </a:lnTo>
                </a:path>
              </a:pathLst>
            </a:custGeom>
            <a:ln w="9524">
              <a:solidFill>
                <a:srgbClr val="424242"/>
              </a:solidFill>
            </a:ln>
          </p:spPr>
          <p:txBody>
            <a:bodyPr wrap="square" lIns="0" tIns="0" rIns="0" bIns="0" rtlCol="0"/>
            <a:lstStyle/>
            <a:p>
              <a:endParaRPr sz="2400"/>
            </a:p>
          </p:txBody>
        </p:sp>
        <p:sp>
          <p:nvSpPr>
            <p:cNvPr id="17" name="object 20">
              <a:extLst>
                <a:ext uri="{FF2B5EF4-FFF2-40B4-BE49-F238E27FC236}">
                  <a16:creationId xmlns:a16="http://schemas.microsoft.com/office/drawing/2014/main" id="{A0959DAE-BE5F-F68D-C765-88931A51B135}"/>
                </a:ext>
              </a:extLst>
            </p:cNvPr>
            <p:cNvSpPr/>
            <p:nvPr/>
          </p:nvSpPr>
          <p:spPr>
            <a:xfrm>
              <a:off x="6286567" y="3971474"/>
              <a:ext cx="31750" cy="43815"/>
            </a:xfrm>
            <a:custGeom>
              <a:avLst/>
              <a:gdLst/>
              <a:ahLst/>
              <a:cxnLst/>
              <a:rect l="l" t="t" r="r" b="b"/>
              <a:pathLst>
                <a:path w="31750" h="43814">
                  <a:moveTo>
                    <a:pt x="31465" y="43225"/>
                  </a:moveTo>
                  <a:lnTo>
                    <a:pt x="0" y="43225"/>
                  </a:lnTo>
                  <a:lnTo>
                    <a:pt x="15732" y="0"/>
                  </a:lnTo>
                  <a:lnTo>
                    <a:pt x="31465" y="43225"/>
                  </a:lnTo>
                  <a:close/>
                </a:path>
              </a:pathLst>
            </a:custGeom>
            <a:solidFill>
              <a:srgbClr val="424242"/>
            </a:solidFill>
          </p:spPr>
          <p:txBody>
            <a:bodyPr wrap="square" lIns="0" tIns="0" rIns="0" bIns="0" rtlCol="0"/>
            <a:lstStyle/>
            <a:p>
              <a:endParaRPr sz="2400"/>
            </a:p>
          </p:txBody>
        </p:sp>
        <p:sp>
          <p:nvSpPr>
            <p:cNvPr id="18" name="object 21">
              <a:extLst>
                <a:ext uri="{FF2B5EF4-FFF2-40B4-BE49-F238E27FC236}">
                  <a16:creationId xmlns:a16="http://schemas.microsoft.com/office/drawing/2014/main" id="{18A579B8-D98F-B887-560C-0A10D1F92410}"/>
                </a:ext>
              </a:extLst>
            </p:cNvPr>
            <p:cNvSpPr/>
            <p:nvPr/>
          </p:nvSpPr>
          <p:spPr>
            <a:xfrm>
              <a:off x="6286567" y="3971474"/>
              <a:ext cx="31750" cy="43815"/>
            </a:xfrm>
            <a:custGeom>
              <a:avLst/>
              <a:gdLst/>
              <a:ahLst/>
              <a:cxnLst/>
              <a:rect l="l" t="t" r="r" b="b"/>
              <a:pathLst>
                <a:path w="31750" h="43814">
                  <a:moveTo>
                    <a:pt x="31465" y="43225"/>
                  </a:moveTo>
                  <a:lnTo>
                    <a:pt x="15732" y="0"/>
                  </a:lnTo>
                  <a:lnTo>
                    <a:pt x="0" y="43225"/>
                  </a:lnTo>
                  <a:lnTo>
                    <a:pt x="31465" y="43225"/>
                  </a:lnTo>
                  <a:close/>
                </a:path>
              </a:pathLst>
            </a:custGeom>
            <a:ln w="9524">
              <a:solidFill>
                <a:srgbClr val="424242"/>
              </a:solidFill>
            </a:ln>
          </p:spPr>
          <p:txBody>
            <a:bodyPr wrap="square" lIns="0" tIns="0" rIns="0" bIns="0" rtlCol="0"/>
            <a:lstStyle/>
            <a:p>
              <a:endParaRPr sz="2400"/>
            </a:p>
          </p:txBody>
        </p:sp>
      </p:grpSp>
      <p:sp>
        <p:nvSpPr>
          <p:cNvPr id="19" name="object 22">
            <a:extLst>
              <a:ext uri="{FF2B5EF4-FFF2-40B4-BE49-F238E27FC236}">
                <a16:creationId xmlns:a16="http://schemas.microsoft.com/office/drawing/2014/main" id="{7E02DC53-D3D1-0B67-9B4B-EED6089FA82C}"/>
              </a:ext>
            </a:extLst>
          </p:cNvPr>
          <p:cNvSpPr txBox="1"/>
          <p:nvPr/>
        </p:nvSpPr>
        <p:spPr>
          <a:xfrm>
            <a:off x="5424797" y="5658002"/>
            <a:ext cx="2472267" cy="263320"/>
          </a:xfrm>
          <a:prstGeom prst="rect">
            <a:avLst/>
          </a:prstGeom>
        </p:spPr>
        <p:txBody>
          <a:bodyPr vert="horz" wrap="square" lIns="0" tIns="16933" rIns="0" bIns="0" rtlCol="0">
            <a:spAutoFit/>
          </a:bodyPr>
          <a:lstStyle/>
          <a:p>
            <a:pPr marL="16933">
              <a:spcBef>
                <a:spcPts val="133"/>
              </a:spcBef>
            </a:pPr>
            <a:r>
              <a:rPr sz="1600" spc="-7" dirty="0">
                <a:solidFill>
                  <a:srgbClr val="C00000"/>
                </a:solidFill>
                <a:cs typeface="Courier New" panose="02070309020205020404" pitchFamily="49" charset="0"/>
              </a:rPr>
              <a:t>[-1.9,</a:t>
            </a:r>
            <a:r>
              <a:rPr sz="1600" spc="-47" dirty="0">
                <a:solidFill>
                  <a:srgbClr val="C00000"/>
                </a:solidFill>
                <a:cs typeface="Courier New" panose="02070309020205020404" pitchFamily="49" charset="0"/>
              </a:rPr>
              <a:t> </a:t>
            </a:r>
            <a:r>
              <a:rPr sz="1600" spc="-7" dirty="0">
                <a:solidFill>
                  <a:srgbClr val="C00000"/>
                </a:solidFill>
                <a:cs typeface="Courier New" panose="02070309020205020404" pitchFamily="49" charset="0"/>
              </a:rPr>
              <a:t>-0.4,</a:t>
            </a:r>
            <a:r>
              <a:rPr sz="1600" spc="-40" dirty="0">
                <a:solidFill>
                  <a:srgbClr val="C00000"/>
                </a:solidFill>
                <a:cs typeface="Courier New" panose="02070309020205020404" pitchFamily="49" charset="0"/>
              </a:rPr>
              <a:t> </a:t>
            </a:r>
            <a:r>
              <a:rPr sz="1600" spc="-7" dirty="0">
                <a:solidFill>
                  <a:srgbClr val="C00000"/>
                </a:solidFill>
                <a:cs typeface="Courier New" panose="02070309020205020404" pitchFamily="49" charset="0"/>
              </a:rPr>
              <a:t>0.1,</a:t>
            </a:r>
            <a:r>
              <a:rPr sz="1600" spc="-40" dirty="0">
                <a:solidFill>
                  <a:srgbClr val="C00000"/>
                </a:solidFill>
                <a:cs typeface="Courier New" panose="02070309020205020404" pitchFamily="49" charset="0"/>
              </a:rPr>
              <a:t> </a:t>
            </a:r>
            <a:r>
              <a:rPr sz="1600" spc="-7" dirty="0">
                <a:solidFill>
                  <a:srgbClr val="C00000"/>
                </a:solidFill>
                <a:cs typeface="Courier New" panose="02070309020205020404" pitchFamily="49" charset="0"/>
              </a:rPr>
              <a:t>…]</a:t>
            </a:r>
            <a:endParaRPr sz="1600" dirty="0">
              <a:solidFill>
                <a:srgbClr val="C00000"/>
              </a:solidFill>
              <a:cs typeface="Courier New" panose="02070309020205020404" pitchFamily="49" charset="0"/>
            </a:endParaRPr>
          </a:p>
        </p:txBody>
      </p:sp>
      <p:sp>
        <p:nvSpPr>
          <p:cNvPr id="21" name="TextBox 20">
            <a:extLst>
              <a:ext uri="{FF2B5EF4-FFF2-40B4-BE49-F238E27FC236}">
                <a16:creationId xmlns:a16="http://schemas.microsoft.com/office/drawing/2014/main" id="{019E2C2C-9BD3-14A6-0DFC-F8BFBD7F8B54}"/>
              </a:ext>
            </a:extLst>
          </p:cNvPr>
          <p:cNvSpPr txBox="1"/>
          <p:nvPr/>
        </p:nvSpPr>
        <p:spPr>
          <a:xfrm>
            <a:off x="1318597" y="4921321"/>
            <a:ext cx="6105524" cy="646331"/>
          </a:xfrm>
          <a:prstGeom prst="rect">
            <a:avLst/>
          </a:prstGeom>
          <a:noFill/>
        </p:spPr>
        <p:txBody>
          <a:bodyPr wrap="square">
            <a:spAutoFit/>
          </a:bodyPr>
          <a:lstStyle/>
          <a:p>
            <a:pPr marL="405543" algn="ctr"/>
            <a:r>
              <a:rPr lang="en-US" sz="1800" spc="-7" dirty="0">
                <a:solidFill>
                  <a:srgbClr val="C00000"/>
                </a:solidFill>
                <a:cs typeface="Courier New"/>
              </a:rPr>
              <a:t>bank</a:t>
            </a:r>
          </a:p>
          <a:p>
            <a:pPr marL="405543" algn="ctr"/>
            <a:r>
              <a:rPr lang="en-US" sz="1800" spc="-7" dirty="0">
                <a:solidFill>
                  <a:srgbClr val="C00000"/>
                </a:solidFill>
                <a:cs typeface="Courier New"/>
              </a:rPr>
              <a:t>[0.3,</a:t>
            </a:r>
            <a:r>
              <a:rPr lang="en-US" sz="1800" spc="-40" dirty="0">
                <a:solidFill>
                  <a:srgbClr val="C00000"/>
                </a:solidFill>
                <a:cs typeface="Courier New"/>
              </a:rPr>
              <a:t> </a:t>
            </a:r>
            <a:r>
              <a:rPr lang="en-US" sz="1800" spc="-7" dirty="0">
                <a:solidFill>
                  <a:srgbClr val="C00000"/>
                </a:solidFill>
                <a:cs typeface="Courier New"/>
              </a:rPr>
              <a:t>0.2,</a:t>
            </a:r>
            <a:r>
              <a:rPr lang="en-US" sz="1800" spc="-40" dirty="0">
                <a:solidFill>
                  <a:srgbClr val="C00000"/>
                </a:solidFill>
                <a:cs typeface="Courier New"/>
              </a:rPr>
              <a:t> </a:t>
            </a:r>
            <a:r>
              <a:rPr lang="en-US" sz="1800" spc="-7" dirty="0">
                <a:solidFill>
                  <a:srgbClr val="C00000"/>
                </a:solidFill>
                <a:cs typeface="Courier New"/>
              </a:rPr>
              <a:t>-0.8,</a:t>
            </a:r>
            <a:r>
              <a:rPr lang="en-US" sz="1800" spc="-40" dirty="0">
                <a:solidFill>
                  <a:srgbClr val="C00000"/>
                </a:solidFill>
                <a:cs typeface="Courier New"/>
              </a:rPr>
              <a:t> </a:t>
            </a:r>
            <a:r>
              <a:rPr lang="en-US" sz="1800" spc="-7" dirty="0">
                <a:solidFill>
                  <a:srgbClr val="C00000"/>
                </a:solidFill>
                <a:cs typeface="Courier New"/>
              </a:rPr>
              <a:t>…]</a:t>
            </a:r>
            <a:endParaRPr lang="en-US" sz="1800" dirty="0">
              <a:solidFill>
                <a:srgbClr val="C00000"/>
              </a:solidFill>
              <a:cs typeface="Courier New"/>
            </a:endParaRPr>
          </a:p>
        </p:txBody>
      </p:sp>
      <p:cxnSp>
        <p:nvCxnSpPr>
          <p:cNvPr id="23" name="Straight Arrow Connector 22">
            <a:extLst>
              <a:ext uri="{FF2B5EF4-FFF2-40B4-BE49-F238E27FC236}">
                <a16:creationId xmlns:a16="http://schemas.microsoft.com/office/drawing/2014/main" id="{EF0218C2-6706-8D70-94E1-12A7373D3D08}"/>
              </a:ext>
            </a:extLst>
          </p:cNvPr>
          <p:cNvCxnSpPr/>
          <p:nvPr/>
        </p:nvCxnSpPr>
        <p:spPr>
          <a:xfrm>
            <a:off x="4509545" y="5567652"/>
            <a:ext cx="821118" cy="222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EEBD481-C228-874B-4B04-E89A980B99F0}"/>
              </a:ext>
            </a:extLst>
          </p:cNvPr>
          <p:cNvCxnSpPr>
            <a:cxnSpLocks/>
            <a:stCxn id="21" idx="2"/>
          </p:cNvCxnSpPr>
          <p:nvPr/>
        </p:nvCxnSpPr>
        <p:spPr>
          <a:xfrm flipH="1">
            <a:off x="2975473" y="5567652"/>
            <a:ext cx="1395886" cy="3105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5653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35A37-FD6C-980C-A194-7F1BCB758038}"/>
              </a:ext>
            </a:extLst>
          </p:cNvPr>
          <p:cNvSpPr>
            <a:spLocks noGrp="1"/>
          </p:cNvSpPr>
          <p:nvPr>
            <p:ph type="title"/>
          </p:nvPr>
        </p:nvSpPr>
        <p:spPr>
          <a:xfrm>
            <a:off x="537302" y="113989"/>
            <a:ext cx="10515600" cy="1325563"/>
          </a:xfrm>
        </p:spPr>
        <p:txBody>
          <a:bodyPr/>
          <a:lstStyle/>
          <a:p>
            <a:r>
              <a:rPr lang="en-US" spc="-20" dirty="0"/>
              <a:t>Self-</a:t>
            </a:r>
            <a:r>
              <a:rPr lang="en-US" spc="-10" dirty="0"/>
              <a:t>Attention (</a:t>
            </a:r>
            <a:r>
              <a:rPr lang="en-US" dirty="0"/>
              <a:t>Single</a:t>
            </a:r>
            <a:r>
              <a:rPr lang="en-US" spc="-25" dirty="0"/>
              <a:t>-</a:t>
            </a:r>
            <a:r>
              <a:rPr lang="en-US" dirty="0"/>
              <a:t>Head</a:t>
            </a:r>
            <a:r>
              <a:rPr lang="en-US" spc="-10" dirty="0"/>
              <a:t>) </a:t>
            </a:r>
            <a:endParaRPr lang="en-US" dirty="0"/>
          </a:p>
        </p:txBody>
      </p:sp>
      <p:sp>
        <p:nvSpPr>
          <p:cNvPr id="3" name="Content Placeholder 2">
            <a:extLst>
              <a:ext uri="{FF2B5EF4-FFF2-40B4-BE49-F238E27FC236}">
                <a16:creationId xmlns:a16="http://schemas.microsoft.com/office/drawing/2014/main" id="{95D8D541-C832-44AA-8DB2-D986AFAB7BCE}"/>
              </a:ext>
            </a:extLst>
          </p:cNvPr>
          <p:cNvSpPr>
            <a:spLocks noGrp="1"/>
          </p:cNvSpPr>
          <p:nvPr>
            <p:ph idx="1"/>
          </p:nvPr>
        </p:nvSpPr>
        <p:spPr>
          <a:xfrm>
            <a:off x="537302" y="1550679"/>
            <a:ext cx="11654698" cy="4351338"/>
          </a:xfrm>
        </p:spPr>
        <p:txBody>
          <a:bodyPr/>
          <a:lstStyle/>
          <a:p>
            <a:pPr marL="0" indent="0">
              <a:buNone/>
            </a:pPr>
            <a:r>
              <a:rPr lang="en-US" sz="2600" dirty="0"/>
              <a:t>Self-attention</a:t>
            </a:r>
            <a:r>
              <a:rPr lang="en-US" sz="2600" dirty="0">
                <a:solidFill>
                  <a:srgbClr val="C00000"/>
                </a:solidFill>
              </a:rPr>
              <a:t> </a:t>
            </a:r>
            <a:r>
              <a:rPr lang="en-US" sz="2600" dirty="0"/>
              <a:t>mechanism is introduced in 2017:</a:t>
            </a:r>
          </a:p>
          <a:p>
            <a:r>
              <a:rPr lang="en-US" sz="2600" dirty="0">
                <a:solidFill>
                  <a:srgbClr val="C00000"/>
                </a:solidFill>
              </a:rPr>
              <a:t>One set of weights </a:t>
            </a:r>
            <a:r>
              <a:rPr lang="en-US" sz="2600" dirty="0"/>
              <a:t>(</a:t>
            </a:r>
            <a:r>
              <a:rPr lang="en-US" sz="2600" dirty="0" err="1"/>
              <a:t>Wk</a:t>
            </a:r>
            <a:r>
              <a:rPr lang="en-US" sz="2600" dirty="0"/>
              <a:t>, </a:t>
            </a:r>
            <a:r>
              <a:rPr lang="en-US" sz="2600" dirty="0" err="1"/>
              <a:t>Wq</a:t>
            </a:r>
            <a:r>
              <a:rPr lang="en-US" sz="2600" dirty="0"/>
              <a:t>, and Wv) is trained to extract keys, queries, and values of all tokens, therefore, it is focused on </a:t>
            </a:r>
            <a:r>
              <a:rPr lang="en-US" sz="2600" dirty="0">
                <a:solidFill>
                  <a:srgbClr val="C00000"/>
                </a:solidFill>
              </a:rPr>
              <a:t>one aspect </a:t>
            </a:r>
            <a:r>
              <a:rPr lang="en-US" sz="2600" dirty="0"/>
              <a:t>(e.g., semantic)</a:t>
            </a:r>
          </a:p>
          <a:p>
            <a:r>
              <a:rPr lang="en-US" sz="2600" dirty="0">
                <a:solidFill>
                  <a:srgbClr val="C00000"/>
                </a:solidFill>
              </a:rPr>
              <a:t>A separate query, key, and value </a:t>
            </a:r>
            <a:r>
              <a:rPr lang="en-US" sz="2600" dirty="0"/>
              <a:t>is extracted for </a:t>
            </a:r>
            <a:r>
              <a:rPr lang="en-US" sz="2600" dirty="0">
                <a:solidFill>
                  <a:srgbClr val="C00000"/>
                </a:solidFill>
              </a:rPr>
              <a:t>each</a:t>
            </a:r>
            <a:r>
              <a:rPr lang="en-US" sz="2600" dirty="0"/>
              <a:t> </a:t>
            </a:r>
            <a:r>
              <a:rPr lang="en-US" sz="2600" dirty="0">
                <a:solidFill>
                  <a:srgbClr val="C00000"/>
                </a:solidFill>
              </a:rPr>
              <a:t>token</a:t>
            </a:r>
          </a:p>
          <a:p>
            <a:r>
              <a:rPr lang="en-US" sz="2600" dirty="0">
                <a:solidFill>
                  <a:srgbClr val="C00000"/>
                </a:solidFill>
              </a:rPr>
              <a:t>Relevance</a:t>
            </a:r>
            <a:r>
              <a:rPr lang="en-US" sz="2600" dirty="0"/>
              <a:t> of keys to each query is calculated using </a:t>
            </a:r>
            <a:r>
              <a:rPr lang="en-US" sz="2600" dirty="0">
                <a:solidFill>
                  <a:srgbClr val="C00000"/>
                </a:solidFill>
              </a:rPr>
              <a:t>dot product </a:t>
            </a:r>
            <a:r>
              <a:rPr lang="en-US" sz="2600" dirty="0"/>
              <a:t>then </a:t>
            </a:r>
            <a:r>
              <a:rPr lang="en-US" sz="2600" dirty="0">
                <a:solidFill>
                  <a:srgbClr val="C00000"/>
                </a:solidFill>
              </a:rPr>
              <a:t>normalized</a:t>
            </a:r>
          </a:p>
          <a:p>
            <a:r>
              <a:rPr lang="en-US" sz="2600" dirty="0">
                <a:solidFill>
                  <a:srgbClr val="C00000"/>
                </a:solidFill>
              </a:rPr>
              <a:t>Values</a:t>
            </a:r>
            <a:r>
              <a:rPr lang="en-US" sz="2600" dirty="0"/>
              <a:t> of relevant words </a:t>
            </a:r>
            <a:r>
              <a:rPr lang="en-US" sz="2600" dirty="0">
                <a:solidFill>
                  <a:srgbClr val="C00000"/>
                </a:solidFill>
              </a:rPr>
              <a:t>transform</a:t>
            </a:r>
            <a:r>
              <a:rPr lang="en-US" sz="2600" dirty="0"/>
              <a:t> the embedding of each word in context window</a:t>
            </a:r>
            <a:endParaRPr lang="en-US" sz="2600" b="1" dirty="0"/>
          </a:p>
          <a:p>
            <a:pPr marL="0" indent="0">
              <a:buNone/>
            </a:pPr>
            <a:endParaRPr lang="en-US" sz="2600" dirty="0"/>
          </a:p>
          <a:p>
            <a:endParaRPr lang="en-US" sz="2600" dirty="0"/>
          </a:p>
        </p:txBody>
      </p:sp>
      <p:pic>
        <p:nvPicPr>
          <p:cNvPr id="4" name="object 3">
            <a:extLst>
              <a:ext uri="{FF2B5EF4-FFF2-40B4-BE49-F238E27FC236}">
                <a16:creationId xmlns:a16="http://schemas.microsoft.com/office/drawing/2014/main" id="{9047B4BE-866F-C249-8B68-31D83311881B}"/>
              </a:ext>
            </a:extLst>
          </p:cNvPr>
          <p:cNvPicPr/>
          <p:nvPr/>
        </p:nvPicPr>
        <p:blipFill>
          <a:blip r:embed="rId2" cstate="print"/>
          <a:stretch>
            <a:fillRect/>
          </a:stretch>
        </p:blipFill>
        <p:spPr>
          <a:xfrm>
            <a:off x="3037316" y="4474903"/>
            <a:ext cx="3327335" cy="761598"/>
          </a:xfrm>
          <a:prstGeom prst="rect">
            <a:avLst/>
          </a:prstGeom>
        </p:spPr>
      </p:pic>
      <p:pic>
        <p:nvPicPr>
          <p:cNvPr id="7" name="Picture 6">
            <a:extLst>
              <a:ext uri="{FF2B5EF4-FFF2-40B4-BE49-F238E27FC236}">
                <a16:creationId xmlns:a16="http://schemas.microsoft.com/office/drawing/2014/main" id="{C5610104-D98E-1854-F2CD-DEAE7BC7F712}"/>
              </a:ext>
            </a:extLst>
          </p:cNvPr>
          <p:cNvPicPr>
            <a:picLocks noChangeAspect="1"/>
          </p:cNvPicPr>
          <p:nvPr/>
        </p:nvPicPr>
        <p:blipFill>
          <a:blip r:embed="rId3"/>
          <a:stretch>
            <a:fillRect/>
          </a:stretch>
        </p:blipFill>
        <p:spPr>
          <a:xfrm>
            <a:off x="6753736" y="5060023"/>
            <a:ext cx="5231358" cy="1683988"/>
          </a:xfrm>
          <a:prstGeom prst="rect">
            <a:avLst/>
          </a:prstGeom>
        </p:spPr>
      </p:pic>
      <p:sp>
        <p:nvSpPr>
          <p:cNvPr id="6" name="TextBox 5">
            <a:extLst>
              <a:ext uri="{FF2B5EF4-FFF2-40B4-BE49-F238E27FC236}">
                <a16:creationId xmlns:a16="http://schemas.microsoft.com/office/drawing/2014/main" id="{0E148974-018E-B5D7-DB6C-B2255D8F8573}"/>
              </a:ext>
            </a:extLst>
          </p:cNvPr>
          <p:cNvSpPr txBox="1"/>
          <p:nvPr/>
        </p:nvSpPr>
        <p:spPr>
          <a:xfrm>
            <a:off x="654106" y="5412979"/>
            <a:ext cx="6099630" cy="1200329"/>
          </a:xfrm>
          <a:prstGeom prst="rect">
            <a:avLst/>
          </a:prstGeom>
          <a:noFill/>
        </p:spPr>
        <p:txBody>
          <a:bodyPr wrap="square">
            <a:spAutoFit/>
          </a:bodyPr>
          <a:lstStyle/>
          <a:p>
            <a:pPr marL="0" indent="0">
              <a:buNone/>
            </a:pPr>
            <a:r>
              <a:rPr lang="en-US" sz="2400" b="1" dirty="0"/>
              <a:t>Problem:</a:t>
            </a:r>
            <a:r>
              <a:rPr lang="en-US" sz="2400" dirty="0"/>
              <a:t> A single head focuses only on a </a:t>
            </a:r>
            <a:r>
              <a:rPr lang="en-US" sz="2400" dirty="0">
                <a:solidFill>
                  <a:srgbClr val="C00000"/>
                </a:solidFill>
              </a:rPr>
              <a:t>specific relationship </a:t>
            </a:r>
            <a:r>
              <a:rPr lang="en-US" sz="2400" dirty="0"/>
              <a:t>(e.g., semantic), but in </a:t>
            </a:r>
            <a:r>
              <a:rPr lang="en-US" sz="2400" dirty="0">
                <a:solidFill>
                  <a:srgbClr val="C00000"/>
                </a:solidFill>
              </a:rPr>
              <a:t>NLP</a:t>
            </a:r>
            <a:r>
              <a:rPr lang="en-US" sz="2400" dirty="0"/>
              <a:t> we also need </a:t>
            </a:r>
            <a:r>
              <a:rPr lang="en-US" sz="2400" dirty="0">
                <a:solidFill>
                  <a:srgbClr val="C00000"/>
                </a:solidFill>
              </a:rPr>
              <a:t>other aspects </a:t>
            </a:r>
            <a:r>
              <a:rPr lang="en-US" sz="2400" dirty="0"/>
              <a:t>(e.g., syntactic)</a:t>
            </a:r>
          </a:p>
        </p:txBody>
      </p:sp>
      <p:sp>
        <p:nvSpPr>
          <p:cNvPr id="5" name="TextBox 4">
            <a:extLst>
              <a:ext uri="{FF2B5EF4-FFF2-40B4-BE49-F238E27FC236}">
                <a16:creationId xmlns:a16="http://schemas.microsoft.com/office/drawing/2014/main" id="{78D3CD91-F0F1-6BD6-635C-442F86561FE7}"/>
              </a:ext>
            </a:extLst>
          </p:cNvPr>
          <p:cNvSpPr txBox="1"/>
          <p:nvPr/>
        </p:nvSpPr>
        <p:spPr>
          <a:xfrm>
            <a:off x="6855055" y="4608263"/>
            <a:ext cx="5231358" cy="345694"/>
          </a:xfrm>
          <a:prstGeom prst="rect">
            <a:avLst/>
          </a:prstGeom>
          <a:noFill/>
        </p:spPr>
        <p:txBody>
          <a:bodyPr wrap="square">
            <a:spAutoFit/>
          </a:bodyPr>
          <a:lstStyle/>
          <a:p>
            <a:r>
              <a:rPr lang="en-US" sz="1600" dirty="0">
                <a:latin typeface="Calibri"/>
                <a:cs typeface="Calibri"/>
              </a:rPr>
              <a:t>E(monarch) </a:t>
            </a:r>
            <a:r>
              <a:rPr lang="en-US" sz="1600" dirty="0">
                <a:latin typeface="Calibri"/>
                <a:cs typeface="Calibri"/>
                <a:sym typeface="Wingdings" panose="05000000000000000000" pitchFamily="2" charset="2"/>
              </a:rPr>
              <a:t></a:t>
            </a:r>
            <a:r>
              <a:rPr lang="en-US" sz="1600" dirty="0">
                <a:latin typeface="Calibri"/>
                <a:cs typeface="Calibri"/>
              </a:rPr>
              <a:t> E(monarch) + 0.7 V(female) + 0.3V(princess)</a:t>
            </a:r>
            <a:endParaRPr lang="en-US" sz="1600" dirty="0"/>
          </a:p>
        </p:txBody>
      </p:sp>
    </p:spTree>
    <p:extLst>
      <p:ext uri="{BB962C8B-B14F-4D97-AF65-F5344CB8AC3E}">
        <p14:creationId xmlns:p14="http://schemas.microsoft.com/office/powerpoint/2010/main" val="1685222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76302" y="437232"/>
            <a:ext cx="10711015" cy="569387"/>
          </a:xfrm>
          <a:prstGeom prst="rect">
            <a:avLst/>
          </a:prstGeom>
        </p:spPr>
        <p:txBody>
          <a:bodyPr vert="horz" wrap="square" lIns="0" tIns="15240" rIns="0" bIns="0" rtlCol="0" anchor="ctr">
            <a:spAutoFit/>
          </a:bodyPr>
          <a:lstStyle/>
          <a:p>
            <a:pPr marL="12700">
              <a:spcBef>
                <a:spcPts val="120"/>
              </a:spcBef>
            </a:pPr>
            <a:r>
              <a:rPr lang="en-US" sz="4000" spc="-25" dirty="0"/>
              <a:t>Multi-</a:t>
            </a:r>
            <a:r>
              <a:rPr lang="en-US" sz="4000" dirty="0"/>
              <a:t>Head</a:t>
            </a:r>
            <a:r>
              <a:rPr lang="en-US" sz="4000" spc="-20" dirty="0"/>
              <a:t> </a:t>
            </a:r>
            <a:r>
              <a:rPr lang="en-US" sz="4000" spc="-10" dirty="0"/>
              <a:t>Attention</a:t>
            </a:r>
            <a:endParaRPr lang="en-US" sz="4000" dirty="0"/>
          </a:p>
        </p:txBody>
      </p:sp>
      <p:sp>
        <p:nvSpPr>
          <p:cNvPr id="3" name="object 3"/>
          <p:cNvSpPr txBox="1"/>
          <p:nvPr/>
        </p:nvSpPr>
        <p:spPr>
          <a:xfrm>
            <a:off x="876302" y="1155702"/>
            <a:ext cx="10934698" cy="1972335"/>
          </a:xfrm>
          <a:prstGeom prst="rect">
            <a:avLst/>
          </a:prstGeom>
        </p:spPr>
        <p:txBody>
          <a:bodyPr vert="horz" wrap="square" lIns="0" tIns="12700" rIns="0" bIns="0" rtlCol="0">
            <a:spAutoFit/>
          </a:bodyPr>
          <a:lstStyle/>
          <a:p>
            <a:pPr marL="12700">
              <a:spcBef>
                <a:spcPts val="100"/>
              </a:spcBef>
              <a:tabLst>
                <a:tab pos="177161" algn="l"/>
              </a:tabLst>
            </a:pPr>
            <a:r>
              <a:rPr lang="en-US" sz="2800" b="1" dirty="0">
                <a:latin typeface="Calibri"/>
                <a:cs typeface="Calibri"/>
              </a:rPr>
              <a:t>Solution</a:t>
            </a:r>
            <a:r>
              <a:rPr lang="en-US" sz="2800" dirty="0">
                <a:latin typeface="Calibri"/>
                <a:cs typeface="Calibri"/>
              </a:rPr>
              <a:t>: capturing </a:t>
            </a:r>
            <a:r>
              <a:rPr lang="en-US" sz="2800" dirty="0">
                <a:solidFill>
                  <a:srgbClr val="C00000"/>
                </a:solidFill>
                <a:latin typeface="Calibri"/>
                <a:cs typeface="Calibri"/>
              </a:rPr>
              <a:t>various aspects </a:t>
            </a:r>
            <a:r>
              <a:rPr lang="en-US" sz="2800" dirty="0">
                <a:latin typeface="Calibri"/>
                <a:cs typeface="Calibri"/>
              </a:rPr>
              <a:t>using </a:t>
            </a:r>
            <a:r>
              <a:rPr lang="en-US" sz="2800" dirty="0">
                <a:solidFill>
                  <a:srgbClr val="C00000"/>
                </a:solidFill>
                <a:latin typeface="Calibri"/>
                <a:cs typeface="Calibri"/>
              </a:rPr>
              <a:t>multiple</a:t>
            </a:r>
            <a:r>
              <a:rPr lang="en-US" sz="2800" dirty="0">
                <a:latin typeface="Calibri"/>
                <a:cs typeface="Calibri"/>
              </a:rPr>
              <a:t> attention heads:</a:t>
            </a:r>
            <a:endParaRPr sz="2800" dirty="0">
              <a:latin typeface="Calibri"/>
              <a:cs typeface="Calibri"/>
            </a:endParaRPr>
          </a:p>
          <a:p>
            <a:pPr marL="520052" lvl="1" indent="-164461">
              <a:spcBef>
                <a:spcPts val="60"/>
              </a:spcBef>
              <a:buFont typeface="Arial MT"/>
              <a:buChar char="•"/>
              <a:tabLst>
                <a:tab pos="520052" algn="l"/>
              </a:tabLst>
            </a:pPr>
            <a:r>
              <a:rPr lang="en-US" sz="2400" dirty="0">
                <a:latin typeface="Calibri"/>
                <a:cs typeface="Calibri"/>
              </a:rPr>
              <a:t>Each head is focused on </a:t>
            </a:r>
            <a:r>
              <a:rPr lang="en-US" sz="2400" dirty="0">
                <a:solidFill>
                  <a:srgbClr val="C00000"/>
                </a:solidFill>
                <a:latin typeface="Calibri"/>
                <a:cs typeface="Calibri"/>
              </a:rPr>
              <a:t>one specific aspect </a:t>
            </a:r>
            <a:r>
              <a:rPr lang="en-US" sz="2400" dirty="0">
                <a:latin typeface="Calibri"/>
                <a:cs typeface="Calibri"/>
              </a:rPr>
              <a:t>(e.g., syntactic, semantic, etc.)</a:t>
            </a:r>
          </a:p>
          <a:p>
            <a:pPr marL="520052" lvl="1" indent="-164461">
              <a:spcBef>
                <a:spcPts val="60"/>
              </a:spcBef>
              <a:buFont typeface="Arial MT"/>
              <a:buChar char="•"/>
              <a:tabLst>
                <a:tab pos="520052" algn="l"/>
              </a:tabLst>
            </a:pPr>
            <a:r>
              <a:rPr lang="en-US" sz="2400" dirty="0">
                <a:latin typeface="Calibri"/>
                <a:cs typeface="Calibri"/>
              </a:rPr>
              <a:t>Each head extracts a</a:t>
            </a:r>
            <a:r>
              <a:rPr lang="en-US" sz="2400" dirty="0">
                <a:solidFill>
                  <a:srgbClr val="C00000"/>
                </a:solidFill>
                <a:latin typeface="Calibri"/>
                <a:cs typeface="Calibri"/>
              </a:rPr>
              <a:t> different set</a:t>
            </a:r>
            <a:r>
              <a:rPr lang="en-US" sz="2400" dirty="0">
                <a:latin typeface="Calibri"/>
                <a:cs typeface="Calibri"/>
              </a:rPr>
              <a:t> of Q, K, and V vectors for each word</a:t>
            </a:r>
          </a:p>
          <a:p>
            <a:pPr marL="520052" lvl="1" indent="-164461">
              <a:spcBef>
                <a:spcPts val="60"/>
              </a:spcBef>
              <a:buFont typeface="Arial MT"/>
              <a:buChar char="•"/>
              <a:tabLst>
                <a:tab pos="520052" algn="l"/>
              </a:tabLst>
            </a:pPr>
            <a:r>
              <a:rPr lang="en-US" sz="2400" dirty="0">
                <a:latin typeface="Calibri"/>
                <a:cs typeface="Calibri"/>
              </a:rPr>
              <a:t>Each head processes a </a:t>
            </a:r>
            <a:r>
              <a:rPr lang="en-US" sz="2400" dirty="0">
                <a:solidFill>
                  <a:srgbClr val="C00000"/>
                </a:solidFill>
                <a:latin typeface="Calibri"/>
                <a:cs typeface="Calibri"/>
              </a:rPr>
              <a:t>subset</a:t>
            </a:r>
            <a:r>
              <a:rPr lang="en-US" sz="2400" dirty="0">
                <a:latin typeface="Calibri"/>
                <a:cs typeface="Calibri"/>
              </a:rPr>
              <a:t> of dimensions then results of heads are </a:t>
            </a:r>
            <a:r>
              <a:rPr lang="en-US" sz="2400" dirty="0">
                <a:solidFill>
                  <a:srgbClr val="C00000"/>
                </a:solidFill>
                <a:latin typeface="Calibri"/>
                <a:cs typeface="Calibri"/>
              </a:rPr>
              <a:t>concatenated</a:t>
            </a:r>
          </a:p>
          <a:p>
            <a:pPr marL="520052" lvl="1" indent="-164461">
              <a:spcBef>
                <a:spcPts val="60"/>
              </a:spcBef>
              <a:buFont typeface="Arial MT"/>
              <a:buChar char="•"/>
              <a:tabLst>
                <a:tab pos="520052" algn="l"/>
              </a:tabLst>
            </a:pPr>
            <a:r>
              <a:rPr lang="en-US" sz="2400" dirty="0">
                <a:latin typeface="Calibri"/>
                <a:cs typeface="Calibri"/>
              </a:rPr>
              <a:t>Each head handles the processing </a:t>
            </a:r>
            <a:r>
              <a:rPr lang="en-US" sz="2400" dirty="0">
                <a:solidFill>
                  <a:srgbClr val="C00000"/>
                </a:solidFill>
                <a:latin typeface="Calibri"/>
                <a:cs typeface="Calibri"/>
              </a:rPr>
              <a:t>independently</a:t>
            </a:r>
            <a:r>
              <a:rPr lang="en-US" sz="2400" dirty="0">
                <a:latin typeface="Calibri"/>
                <a:cs typeface="Calibri"/>
              </a:rPr>
              <a:t> and in </a:t>
            </a:r>
            <a:r>
              <a:rPr lang="en-US" sz="2400" dirty="0">
                <a:solidFill>
                  <a:srgbClr val="C00000"/>
                </a:solidFill>
                <a:latin typeface="Calibri"/>
                <a:cs typeface="Calibri"/>
              </a:rPr>
              <a:t>parallel</a:t>
            </a:r>
          </a:p>
        </p:txBody>
      </p:sp>
      <p:pic>
        <p:nvPicPr>
          <p:cNvPr id="11" name="Picture 10" descr="A screenshot of a computer&#10;&#10;Description automatically generated">
            <a:extLst>
              <a:ext uri="{FF2B5EF4-FFF2-40B4-BE49-F238E27FC236}">
                <a16:creationId xmlns:a16="http://schemas.microsoft.com/office/drawing/2014/main" id="{8AA0349D-CB6C-8E8E-2D55-5FF99D4E4F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64026" y="2691138"/>
            <a:ext cx="3562732" cy="3945821"/>
          </a:xfrm>
          <a:prstGeom prst="rect">
            <a:avLst/>
          </a:prstGeom>
        </p:spPr>
      </p:pic>
      <p:sp>
        <p:nvSpPr>
          <p:cNvPr id="4" name="TextBox 3">
            <a:extLst>
              <a:ext uri="{FF2B5EF4-FFF2-40B4-BE49-F238E27FC236}">
                <a16:creationId xmlns:a16="http://schemas.microsoft.com/office/drawing/2014/main" id="{2C9278BF-7245-E799-6E7F-C9F1D47BA74F}"/>
              </a:ext>
            </a:extLst>
          </p:cNvPr>
          <p:cNvSpPr txBox="1"/>
          <p:nvPr/>
        </p:nvSpPr>
        <p:spPr>
          <a:xfrm>
            <a:off x="1513429" y="3534354"/>
            <a:ext cx="6097712" cy="1231106"/>
          </a:xfrm>
          <a:prstGeom prst="rect">
            <a:avLst/>
          </a:prstGeom>
          <a:noFill/>
        </p:spPr>
        <p:txBody>
          <a:bodyPr wrap="square">
            <a:spAutoFit/>
          </a:bodyPr>
          <a:lstStyle/>
          <a:p>
            <a:pPr marL="0" indent="0">
              <a:buNone/>
            </a:pPr>
            <a:r>
              <a:rPr lang="en-US" sz="1800" dirty="0"/>
              <a:t>GPT3:</a:t>
            </a:r>
          </a:p>
          <a:p>
            <a:pPr marL="0" indent="0">
              <a:buNone/>
            </a:pPr>
            <a:r>
              <a:rPr lang="en-US" sz="1800" dirty="0"/>
              <a:t>dimensions ​ = 12288 (input embedding size),</a:t>
            </a:r>
          </a:p>
          <a:p>
            <a:pPr marL="0" indent="0">
              <a:buNone/>
            </a:pPr>
            <a:r>
              <a:rPr lang="en-US" sz="1800" dirty="0"/>
              <a:t>heads = 96,</a:t>
            </a:r>
          </a:p>
          <a:p>
            <a:pPr marL="0" indent="0">
              <a:buNone/>
            </a:pPr>
            <a:r>
              <a:rPr lang="en-US" sz="1800" dirty="0"/>
              <a:t>𝑑𝑘= dimensions /heads = 128 (embedding size per head</a:t>
            </a:r>
            <a:r>
              <a:rPr lang="en-US" sz="2000" dirty="0"/>
              <a:t>).</a:t>
            </a:r>
          </a:p>
        </p:txBody>
      </p:sp>
      <p:pic>
        <p:nvPicPr>
          <p:cNvPr id="6" name="Picture 5">
            <a:extLst>
              <a:ext uri="{FF2B5EF4-FFF2-40B4-BE49-F238E27FC236}">
                <a16:creationId xmlns:a16="http://schemas.microsoft.com/office/drawing/2014/main" id="{715E21B0-39BF-8A98-4BD7-09A529D627F4}"/>
              </a:ext>
            </a:extLst>
          </p:cNvPr>
          <p:cNvPicPr>
            <a:picLocks noChangeAspect="1"/>
          </p:cNvPicPr>
          <p:nvPr/>
        </p:nvPicPr>
        <p:blipFill>
          <a:blip r:embed="rId3"/>
          <a:stretch>
            <a:fillRect/>
          </a:stretch>
        </p:blipFill>
        <p:spPr>
          <a:xfrm>
            <a:off x="2637577" y="4846520"/>
            <a:ext cx="2838549" cy="1912936"/>
          </a:xfrm>
          <a:prstGeom prst="rect">
            <a:avLst/>
          </a:prstGeom>
        </p:spPr>
      </p:pic>
      <p:sp>
        <p:nvSpPr>
          <p:cNvPr id="7" name="TextBox 6">
            <a:extLst>
              <a:ext uri="{FF2B5EF4-FFF2-40B4-BE49-F238E27FC236}">
                <a16:creationId xmlns:a16="http://schemas.microsoft.com/office/drawing/2014/main" id="{70190469-8DFB-1641-DE59-E0F416ABB5D2}"/>
              </a:ext>
            </a:extLst>
          </p:cNvPr>
          <p:cNvSpPr txBox="1"/>
          <p:nvPr/>
        </p:nvSpPr>
        <p:spPr>
          <a:xfrm>
            <a:off x="1390436" y="5679502"/>
            <a:ext cx="1485900" cy="383341"/>
          </a:xfrm>
          <a:prstGeom prst="rect">
            <a:avLst/>
          </a:prstGeom>
          <a:noFill/>
        </p:spPr>
        <p:txBody>
          <a:bodyPr wrap="square">
            <a:spAutoFit/>
          </a:bodyPr>
          <a:lstStyle/>
          <a:p>
            <a:r>
              <a:rPr lang="en-US" b="1" dirty="0"/>
              <a:t>Embedding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384B2B-C59C-AAEC-106F-4B7CB1ED30D0}"/>
              </a:ext>
            </a:extLst>
          </p:cNvPr>
          <p:cNvPicPr>
            <a:picLocks noChangeAspect="1"/>
          </p:cNvPicPr>
          <p:nvPr/>
        </p:nvPicPr>
        <p:blipFill>
          <a:blip r:embed="rId2"/>
          <a:stretch>
            <a:fillRect/>
          </a:stretch>
        </p:blipFill>
        <p:spPr>
          <a:xfrm>
            <a:off x="7613151" y="4111592"/>
            <a:ext cx="3631416" cy="2540399"/>
          </a:xfrm>
          <a:prstGeom prst="rect">
            <a:avLst/>
          </a:prstGeom>
        </p:spPr>
      </p:pic>
      <p:sp>
        <p:nvSpPr>
          <p:cNvPr id="2" name="Title 1">
            <a:extLst>
              <a:ext uri="{FF2B5EF4-FFF2-40B4-BE49-F238E27FC236}">
                <a16:creationId xmlns:a16="http://schemas.microsoft.com/office/drawing/2014/main" id="{C12D67B0-8C9A-EB37-036C-A94C63B3E78E}"/>
              </a:ext>
            </a:extLst>
          </p:cNvPr>
          <p:cNvSpPr>
            <a:spLocks noGrp="1"/>
          </p:cNvSpPr>
          <p:nvPr>
            <p:ph type="title"/>
          </p:nvPr>
        </p:nvSpPr>
        <p:spPr>
          <a:xfrm>
            <a:off x="791424" y="403310"/>
            <a:ext cx="9258707" cy="512961"/>
          </a:xfrm>
        </p:spPr>
        <p:txBody>
          <a:bodyPr>
            <a:normAutofit fontScale="90000"/>
          </a:bodyPr>
          <a:lstStyle/>
          <a:p>
            <a:r>
              <a:rPr lang="en-US" spc="-25" dirty="0"/>
              <a:t>Multi-</a:t>
            </a:r>
            <a:r>
              <a:rPr lang="en-US" dirty="0"/>
              <a:t>Layer</a:t>
            </a:r>
            <a:r>
              <a:rPr lang="en-US" spc="-20" dirty="0"/>
              <a:t> </a:t>
            </a:r>
            <a:r>
              <a:rPr lang="en-US" spc="-10" dirty="0"/>
              <a:t>Attention</a:t>
            </a:r>
            <a:endParaRPr lang="en-US" dirty="0"/>
          </a:p>
        </p:txBody>
      </p:sp>
      <p:sp>
        <p:nvSpPr>
          <p:cNvPr id="3" name="Text Placeholder 2">
            <a:extLst>
              <a:ext uri="{FF2B5EF4-FFF2-40B4-BE49-F238E27FC236}">
                <a16:creationId xmlns:a16="http://schemas.microsoft.com/office/drawing/2014/main" id="{AEB49FD8-2721-4255-E55A-7A9847C8C7F2}"/>
              </a:ext>
            </a:extLst>
          </p:cNvPr>
          <p:cNvSpPr>
            <a:spLocks noGrp="1"/>
          </p:cNvSpPr>
          <p:nvPr>
            <p:ph type="body" idx="1"/>
          </p:nvPr>
        </p:nvSpPr>
        <p:spPr>
          <a:xfrm>
            <a:off x="863658" y="1108811"/>
            <a:ext cx="11239614" cy="5238750"/>
          </a:xfrm>
        </p:spPr>
        <p:txBody>
          <a:bodyPr>
            <a:normAutofit/>
          </a:bodyPr>
          <a:lstStyle/>
          <a:p>
            <a:pPr marL="0" indent="0">
              <a:buNone/>
            </a:pPr>
            <a:r>
              <a:rPr lang="en-US" sz="2400" b="1" dirty="0"/>
              <a:t>Problem: </a:t>
            </a:r>
            <a:r>
              <a:rPr lang="en-US" sz="2400" dirty="0"/>
              <a:t>Capturing </a:t>
            </a:r>
            <a:r>
              <a:rPr lang="en-US" sz="2400" dirty="0">
                <a:solidFill>
                  <a:srgbClr val="C00000"/>
                </a:solidFill>
              </a:rPr>
              <a:t>long-range </a:t>
            </a:r>
            <a:r>
              <a:rPr lang="en-US" sz="2400" dirty="0"/>
              <a:t>dependencies</a:t>
            </a:r>
            <a:r>
              <a:rPr lang="en-US" sz="2400" dirty="0">
                <a:solidFill>
                  <a:srgbClr val="C00000"/>
                </a:solidFill>
              </a:rPr>
              <a:t> </a:t>
            </a:r>
            <a:r>
              <a:rPr lang="en-US" sz="2400" dirty="0"/>
              <a:t>(e.g., in discourse integration), </a:t>
            </a:r>
            <a:r>
              <a:rPr lang="en-US" sz="2400" dirty="0">
                <a:solidFill>
                  <a:srgbClr val="C00000"/>
                </a:solidFill>
              </a:rPr>
              <a:t>complex</a:t>
            </a:r>
            <a:r>
              <a:rPr lang="en-US" sz="2400" dirty="0"/>
              <a:t> </a:t>
            </a:r>
            <a:r>
              <a:rPr lang="en-US" sz="2400" dirty="0">
                <a:solidFill>
                  <a:srgbClr val="C00000"/>
                </a:solidFill>
              </a:rPr>
              <a:t>hierarchical</a:t>
            </a:r>
            <a:r>
              <a:rPr lang="en-US" sz="2400" dirty="0"/>
              <a:t> relationships, and </a:t>
            </a:r>
            <a:r>
              <a:rPr lang="en-US" sz="2400" dirty="0">
                <a:solidFill>
                  <a:srgbClr val="C00000"/>
                </a:solidFill>
              </a:rPr>
              <a:t>abstract</a:t>
            </a:r>
            <a:r>
              <a:rPr lang="en-US" sz="2400" dirty="0"/>
              <a:t> concepts cannot be handled by </a:t>
            </a:r>
            <a:r>
              <a:rPr lang="en-US" sz="2400" dirty="0">
                <a:solidFill>
                  <a:srgbClr val="C00000"/>
                </a:solidFill>
              </a:rPr>
              <a:t>one layer</a:t>
            </a:r>
            <a:endParaRPr lang="en-US" sz="2400" b="1" dirty="0">
              <a:solidFill>
                <a:srgbClr val="C00000"/>
              </a:solidFill>
            </a:endParaRPr>
          </a:p>
          <a:p>
            <a:pPr marL="0" indent="0">
              <a:buNone/>
            </a:pPr>
            <a:r>
              <a:rPr lang="en-US" sz="2400" b="1" dirty="0"/>
              <a:t>Solution</a:t>
            </a:r>
            <a:r>
              <a:rPr lang="en-US" sz="2400" dirty="0"/>
              <a:t>:</a:t>
            </a:r>
          </a:p>
          <a:p>
            <a:r>
              <a:rPr lang="en-US" sz="2400" dirty="0"/>
              <a:t>Stacking allows the model to build a </a:t>
            </a:r>
            <a:r>
              <a:rPr lang="en-US" sz="2400" dirty="0">
                <a:solidFill>
                  <a:srgbClr val="C00000"/>
                </a:solidFill>
              </a:rPr>
              <a:t>hierarchical </a:t>
            </a:r>
            <a:r>
              <a:rPr lang="en-US" sz="2400" dirty="0"/>
              <a:t>understanding of features</a:t>
            </a:r>
          </a:p>
          <a:p>
            <a:r>
              <a:rPr lang="en-US" sz="2400" dirty="0">
                <a:solidFill>
                  <a:srgbClr val="C00000"/>
                </a:solidFill>
              </a:rPr>
              <a:t>Early</a:t>
            </a:r>
            <a:r>
              <a:rPr lang="en-US" sz="2400" dirty="0"/>
              <a:t> layers focus on simple and </a:t>
            </a:r>
            <a:r>
              <a:rPr lang="en-US" sz="2400" dirty="0">
                <a:solidFill>
                  <a:srgbClr val="C00000"/>
                </a:solidFill>
              </a:rPr>
              <a:t>syntactic</a:t>
            </a:r>
            <a:r>
              <a:rPr lang="en-US" sz="2400" dirty="0"/>
              <a:t> relationships (e.g., noun / adjective)</a:t>
            </a:r>
          </a:p>
          <a:p>
            <a:r>
              <a:rPr lang="en-US" sz="2400" dirty="0">
                <a:solidFill>
                  <a:srgbClr val="C00000"/>
                </a:solidFill>
              </a:rPr>
              <a:t>Middle layers </a:t>
            </a:r>
            <a:r>
              <a:rPr lang="en-US" sz="2400" dirty="0"/>
              <a:t>focus on named </a:t>
            </a:r>
            <a:r>
              <a:rPr lang="en-US" sz="2400" dirty="0">
                <a:solidFill>
                  <a:srgbClr val="C00000"/>
                </a:solidFill>
              </a:rPr>
              <a:t>entity recognition </a:t>
            </a:r>
            <a:r>
              <a:rPr lang="en-US" sz="2400" dirty="0"/>
              <a:t>and </a:t>
            </a:r>
            <a:r>
              <a:rPr lang="en-US" sz="2400" dirty="0">
                <a:solidFill>
                  <a:srgbClr val="C00000"/>
                </a:solidFill>
              </a:rPr>
              <a:t>word disambiguation</a:t>
            </a:r>
          </a:p>
          <a:p>
            <a:r>
              <a:rPr lang="en-US" sz="2400" dirty="0">
                <a:solidFill>
                  <a:srgbClr val="C00000"/>
                </a:solidFill>
              </a:rPr>
              <a:t>Deeper </a:t>
            </a:r>
            <a:r>
              <a:rPr lang="en-US" sz="2400" dirty="0"/>
              <a:t>layers</a:t>
            </a:r>
            <a:r>
              <a:rPr lang="en-US" sz="2400" dirty="0">
                <a:solidFill>
                  <a:srgbClr val="C00000"/>
                </a:solidFill>
              </a:rPr>
              <a:t> </a:t>
            </a:r>
            <a:r>
              <a:rPr lang="en-US" sz="2400" dirty="0"/>
              <a:t>capture </a:t>
            </a:r>
            <a:r>
              <a:rPr lang="en-US" sz="2400" dirty="0">
                <a:solidFill>
                  <a:srgbClr val="C00000"/>
                </a:solidFill>
              </a:rPr>
              <a:t>abstract</a:t>
            </a:r>
            <a:r>
              <a:rPr lang="en-US" sz="2400" dirty="0"/>
              <a:t> concepts</a:t>
            </a:r>
            <a:r>
              <a:rPr lang="en-US" sz="2400" dirty="0">
                <a:solidFill>
                  <a:srgbClr val="C00000"/>
                </a:solidFill>
              </a:rPr>
              <a:t> </a:t>
            </a:r>
            <a:r>
              <a:rPr lang="en-US" sz="2400" dirty="0"/>
              <a:t>and</a:t>
            </a:r>
            <a:r>
              <a:rPr lang="en-US" sz="2400" dirty="0">
                <a:solidFill>
                  <a:srgbClr val="C00000"/>
                </a:solidFill>
              </a:rPr>
              <a:t> long-range </a:t>
            </a:r>
            <a:r>
              <a:rPr lang="en-US" sz="2400" dirty="0"/>
              <a:t>relationships</a:t>
            </a:r>
            <a:endParaRPr lang="en-US" sz="2400" dirty="0">
              <a:solidFill>
                <a:srgbClr val="C00000"/>
              </a:solidFill>
            </a:endParaRPr>
          </a:p>
          <a:p>
            <a:endParaRPr lang="en-US" sz="2400" dirty="0"/>
          </a:p>
          <a:p>
            <a:endParaRPr lang="en-US" sz="2400" dirty="0"/>
          </a:p>
          <a:p>
            <a:endParaRPr lang="en-US" sz="2400" dirty="0"/>
          </a:p>
          <a:p>
            <a:endParaRPr lang="en-US" sz="2400" dirty="0"/>
          </a:p>
          <a:p>
            <a:endParaRPr lang="en-US" sz="2400" dirty="0"/>
          </a:p>
          <a:p>
            <a:endParaRPr lang="en-US" sz="2400" dirty="0"/>
          </a:p>
        </p:txBody>
      </p:sp>
      <p:sp>
        <p:nvSpPr>
          <p:cNvPr id="5" name="TextBox 4">
            <a:extLst>
              <a:ext uri="{FF2B5EF4-FFF2-40B4-BE49-F238E27FC236}">
                <a16:creationId xmlns:a16="http://schemas.microsoft.com/office/drawing/2014/main" id="{E7677DA3-9A90-1048-1A3B-059A06592F30}"/>
              </a:ext>
            </a:extLst>
          </p:cNvPr>
          <p:cNvSpPr txBox="1"/>
          <p:nvPr/>
        </p:nvSpPr>
        <p:spPr>
          <a:xfrm>
            <a:off x="1192139" y="4941116"/>
            <a:ext cx="1714254" cy="646331"/>
          </a:xfrm>
          <a:prstGeom prst="rect">
            <a:avLst/>
          </a:prstGeom>
          <a:noFill/>
        </p:spPr>
        <p:txBody>
          <a:bodyPr wrap="square">
            <a:spAutoFit/>
          </a:bodyPr>
          <a:lstStyle/>
          <a:p>
            <a:r>
              <a:rPr lang="en-US" b="0" i="0" dirty="0">
                <a:solidFill>
                  <a:srgbClr val="000000"/>
                </a:solidFill>
                <a:effectLst/>
                <a:latin typeface="-apple-system"/>
              </a:rPr>
              <a:t>GPT 3 has 96 attention layers</a:t>
            </a:r>
            <a:endParaRPr lang="en-US" dirty="0"/>
          </a:p>
        </p:txBody>
      </p:sp>
      <p:sp>
        <p:nvSpPr>
          <p:cNvPr id="9" name="TextBox 8">
            <a:extLst>
              <a:ext uri="{FF2B5EF4-FFF2-40B4-BE49-F238E27FC236}">
                <a16:creationId xmlns:a16="http://schemas.microsoft.com/office/drawing/2014/main" id="{0C34EC3C-574A-D5B4-AF18-13C729C4893C}"/>
              </a:ext>
            </a:extLst>
          </p:cNvPr>
          <p:cNvSpPr txBox="1"/>
          <p:nvPr/>
        </p:nvSpPr>
        <p:spPr>
          <a:xfrm>
            <a:off x="8338529" y="6611519"/>
            <a:ext cx="3497299" cy="215444"/>
          </a:xfrm>
          <a:prstGeom prst="rect">
            <a:avLst/>
          </a:prstGeom>
          <a:noFill/>
        </p:spPr>
        <p:txBody>
          <a:bodyPr wrap="square">
            <a:spAutoFit/>
          </a:bodyPr>
          <a:lstStyle/>
          <a:p>
            <a:r>
              <a:rPr lang="en-US" sz="800" dirty="0"/>
              <a:t>https://aclanthology.org/P19-1452.pdf</a:t>
            </a:r>
          </a:p>
        </p:txBody>
      </p:sp>
      <p:pic>
        <p:nvPicPr>
          <p:cNvPr id="8" name="Picture 7">
            <a:extLst>
              <a:ext uri="{FF2B5EF4-FFF2-40B4-BE49-F238E27FC236}">
                <a16:creationId xmlns:a16="http://schemas.microsoft.com/office/drawing/2014/main" id="{C2762A3C-3C47-9E5D-529E-F71E2C7CDD7B}"/>
              </a:ext>
            </a:extLst>
          </p:cNvPr>
          <p:cNvPicPr>
            <a:picLocks noChangeAspect="1"/>
          </p:cNvPicPr>
          <p:nvPr/>
        </p:nvPicPr>
        <p:blipFill>
          <a:blip r:embed="rId3"/>
          <a:stretch>
            <a:fillRect/>
          </a:stretch>
        </p:blipFill>
        <p:spPr>
          <a:xfrm>
            <a:off x="3070779" y="4347931"/>
            <a:ext cx="3631416" cy="2479032"/>
          </a:xfrm>
          <a:prstGeom prst="rect">
            <a:avLst/>
          </a:prstGeom>
        </p:spPr>
      </p:pic>
      <p:sp>
        <p:nvSpPr>
          <p:cNvPr id="4" name="Left Brace 3">
            <a:extLst>
              <a:ext uri="{FF2B5EF4-FFF2-40B4-BE49-F238E27FC236}">
                <a16:creationId xmlns:a16="http://schemas.microsoft.com/office/drawing/2014/main" id="{860013FF-F4E4-098F-6ACC-AF3CB0AC6E44}"/>
              </a:ext>
            </a:extLst>
          </p:cNvPr>
          <p:cNvSpPr/>
          <p:nvPr/>
        </p:nvSpPr>
        <p:spPr>
          <a:xfrm>
            <a:off x="2661007" y="4798031"/>
            <a:ext cx="337853" cy="862172"/>
          </a:xfrm>
          <a:prstGeom prst="leftBrace">
            <a:avLst/>
          </a:prstGeom>
          <a:ln>
            <a:solidFill>
              <a:srgbClr val="C0000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805783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264898"/>
            <a:ext cx="10515600" cy="689932"/>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lang="en-US" dirty="0"/>
              <a:t>Problems</a:t>
            </a:r>
            <a:r>
              <a:rPr spc="-70" dirty="0"/>
              <a:t> </a:t>
            </a:r>
            <a:r>
              <a:rPr dirty="0"/>
              <a:t>of</a:t>
            </a:r>
            <a:r>
              <a:rPr spc="-75" dirty="0"/>
              <a:t> </a:t>
            </a:r>
            <a:r>
              <a:rPr spc="-10" dirty="0"/>
              <a:t>Self-Attention</a:t>
            </a:r>
            <a:r>
              <a:rPr lang="en-US" spc="-10" dirty="0"/>
              <a:t> for NLP</a:t>
            </a:r>
            <a:endParaRPr spc="-10" dirty="0"/>
          </a:p>
        </p:txBody>
      </p:sp>
      <p:sp>
        <p:nvSpPr>
          <p:cNvPr id="4" name="object 4"/>
          <p:cNvSpPr txBox="1"/>
          <p:nvPr/>
        </p:nvSpPr>
        <p:spPr>
          <a:xfrm>
            <a:off x="838200" y="1123076"/>
            <a:ext cx="11119749" cy="4152419"/>
          </a:xfrm>
          <a:prstGeom prst="rect">
            <a:avLst/>
          </a:prstGeom>
        </p:spPr>
        <p:txBody>
          <a:bodyPr vert="horz" wrap="square" lIns="0" tIns="12700" rIns="0" bIns="0" rtlCol="0">
            <a:spAutoFit/>
          </a:bodyPr>
          <a:lstStyle/>
          <a:p>
            <a:pPr marL="12700">
              <a:spcBef>
                <a:spcPts val="100"/>
              </a:spcBef>
              <a:tabLst>
                <a:tab pos="212725" algn="l"/>
              </a:tabLst>
            </a:pPr>
            <a:r>
              <a:rPr lang="en-US" sz="2200" b="1" spc="-10" dirty="0">
                <a:latin typeface="Calibri"/>
                <a:cs typeface="Calibri"/>
              </a:rPr>
              <a:t>Arrangement of words in NLP tasks</a:t>
            </a:r>
          </a:p>
          <a:p>
            <a:pPr marL="212725" indent="-200025">
              <a:spcBef>
                <a:spcPts val="100"/>
              </a:spcBef>
              <a:buChar char="•"/>
              <a:tabLst>
                <a:tab pos="212725" algn="l"/>
              </a:tabLst>
            </a:pPr>
            <a:r>
              <a:rPr lang="en-US" sz="2200" spc="-10" dirty="0">
                <a:latin typeface="Calibri"/>
                <a:cs typeface="Calibri"/>
              </a:rPr>
              <a:t>Self-Attention</a:t>
            </a:r>
            <a:r>
              <a:rPr lang="en-US" sz="2200" spc="-30" dirty="0">
                <a:latin typeface="Calibri"/>
                <a:cs typeface="Calibri"/>
              </a:rPr>
              <a:t> </a:t>
            </a:r>
            <a:r>
              <a:rPr lang="en-US" sz="2200" dirty="0">
                <a:latin typeface="Calibri"/>
                <a:cs typeface="Calibri"/>
              </a:rPr>
              <a:t>is</a:t>
            </a:r>
            <a:r>
              <a:rPr lang="en-US" sz="2200" spc="-25" dirty="0">
                <a:latin typeface="Calibri"/>
                <a:cs typeface="Calibri"/>
              </a:rPr>
              <a:t> </a:t>
            </a:r>
            <a:r>
              <a:rPr lang="en-US" sz="2200" spc="-30" dirty="0">
                <a:solidFill>
                  <a:srgbClr val="C00000"/>
                </a:solidFill>
                <a:latin typeface="Calibri"/>
                <a:cs typeface="Calibri"/>
              </a:rPr>
              <a:t>order-</a:t>
            </a:r>
            <a:r>
              <a:rPr lang="en-US" sz="2200" spc="-10" dirty="0">
                <a:solidFill>
                  <a:srgbClr val="C00000"/>
                </a:solidFill>
                <a:latin typeface="Calibri"/>
                <a:cs typeface="Calibri"/>
              </a:rPr>
              <a:t>invariant</a:t>
            </a:r>
          </a:p>
          <a:p>
            <a:pPr marL="212725" indent="-200025">
              <a:spcBef>
                <a:spcPts val="100"/>
              </a:spcBef>
              <a:buChar char="•"/>
              <a:tabLst>
                <a:tab pos="212725" algn="l"/>
              </a:tabLst>
            </a:pPr>
            <a:r>
              <a:rPr lang="en-US" sz="2200" spc="-10" dirty="0">
                <a:solidFill>
                  <a:srgbClr val="C00000"/>
                </a:solidFill>
                <a:latin typeface="Calibri"/>
                <a:cs typeface="Calibri"/>
              </a:rPr>
              <a:t>Arrangement of words </a:t>
            </a:r>
            <a:r>
              <a:rPr lang="en-US" sz="2200" spc="-10" dirty="0">
                <a:latin typeface="Calibri"/>
                <a:cs typeface="Calibri"/>
              </a:rPr>
              <a:t>is important in many </a:t>
            </a:r>
            <a:r>
              <a:rPr lang="en-US" sz="2200" spc="-10" dirty="0">
                <a:solidFill>
                  <a:srgbClr val="C00000"/>
                </a:solidFill>
                <a:latin typeface="Calibri"/>
                <a:cs typeface="Calibri"/>
              </a:rPr>
              <a:t>NLP</a:t>
            </a:r>
            <a:r>
              <a:rPr lang="en-US" sz="2200" spc="-10" dirty="0">
                <a:latin typeface="Calibri"/>
                <a:cs typeface="Calibri"/>
              </a:rPr>
              <a:t> tasks (e.g., in language understanding)</a:t>
            </a:r>
            <a:endParaRPr lang="en-US" sz="2200" b="1" dirty="0">
              <a:latin typeface="Calibri"/>
              <a:cs typeface="Calibri"/>
            </a:endParaRPr>
          </a:p>
          <a:p>
            <a:pPr marL="212725" indent="-200025">
              <a:spcBef>
                <a:spcPts val="100"/>
              </a:spcBef>
              <a:buChar char="•"/>
              <a:tabLst>
                <a:tab pos="212725" algn="l"/>
              </a:tabLst>
            </a:pPr>
            <a:endParaRPr lang="en-US" sz="2200" b="1" dirty="0">
              <a:latin typeface="Calibri"/>
              <a:cs typeface="Calibri"/>
            </a:endParaRPr>
          </a:p>
          <a:p>
            <a:pPr marL="12700">
              <a:spcBef>
                <a:spcPts val="100"/>
              </a:spcBef>
              <a:tabLst>
                <a:tab pos="212725" algn="l"/>
              </a:tabLst>
            </a:pPr>
            <a:r>
              <a:rPr sz="2200" b="1" dirty="0">
                <a:latin typeface="Calibri"/>
                <a:cs typeface="Calibri"/>
              </a:rPr>
              <a:t>Lack</a:t>
            </a:r>
            <a:r>
              <a:rPr sz="2200" b="1" spc="-5" dirty="0">
                <a:latin typeface="Calibri"/>
                <a:cs typeface="Calibri"/>
              </a:rPr>
              <a:t> </a:t>
            </a:r>
            <a:r>
              <a:rPr sz="2200" b="1" dirty="0">
                <a:latin typeface="Calibri"/>
                <a:cs typeface="Calibri"/>
              </a:rPr>
              <a:t>of</a:t>
            </a:r>
            <a:r>
              <a:rPr sz="2200" b="1" spc="-5" dirty="0">
                <a:latin typeface="Calibri"/>
                <a:cs typeface="Calibri"/>
              </a:rPr>
              <a:t> </a:t>
            </a:r>
            <a:r>
              <a:rPr sz="2200" b="1" spc="-10" dirty="0">
                <a:latin typeface="Calibri"/>
                <a:cs typeface="Calibri"/>
              </a:rPr>
              <a:t>non-linearities</a:t>
            </a:r>
            <a:endParaRPr sz="2200" b="1" dirty="0">
              <a:latin typeface="Calibri"/>
              <a:cs typeface="Calibri"/>
            </a:endParaRPr>
          </a:p>
          <a:p>
            <a:pPr marL="593725" lvl="1" indent="-200025">
              <a:buChar char="•"/>
              <a:tabLst>
                <a:tab pos="593725" algn="l"/>
              </a:tabLst>
            </a:pPr>
            <a:r>
              <a:rPr lang="en-US" sz="2200" dirty="0">
                <a:latin typeface="Calibri"/>
                <a:cs typeface="Calibri"/>
              </a:rPr>
              <a:t>In </a:t>
            </a:r>
            <a:r>
              <a:rPr lang="en-US" sz="2200" spc="-10" dirty="0">
                <a:latin typeface="Calibri"/>
                <a:cs typeface="Calibri"/>
              </a:rPr>
              <a:t>Self-Attention </a:t>
            </a:r>
            <a:r>
              <a:rPr lang="en-US" sz="2200" dirty="0">
                <a:solidFill>
                  <a:srgbClr val="C00000"/>
                </a:solidFill>
                <a:latin typeface="Calibri"/>
                <a:cs typeface="Calibri"/>
              </a:rPr>
              <a:t>linear combination </a:t>
            </a:r>
            <a:r>
              <a:rPr lang="en-US" sz="2200" dirty="0">
                <a:latin typeface="Calibri"/>
                <a:cs typeface="Calibri"/>
              </a:rPr>
              <a:t>of other embeddings attends in each embedding  </a:t>
            </a:r>
            <a:endParaRPr lang="en-US" sz="2200" spc="-10" dirty="0">
              <a:latin typeface="Calibri"/>
              <a:cs typeface="Calibri"/>
            </a:endParaRPr>
          </a:p>
          <a:p>
            <a:pPr marL="593725" lvl="1" indent="-200025">
              <a:buChar char="•"/>
              <a:tabLst>
                <a:tab pos="593725" algn="l"/>
              </a:tabLst>
            </a:pPr>
            <a:r>
              <a:rPr lang="en-US" sz="2200" spc="-10" dirty="0">
                <a:latin typeface="Calibri"/>
                <a:cs typeface="Calibri"/>
              </a:rPr>
              <a:t>Most real-world relations are </a:t>
            </a:r>
            <a:r>
              <a:rPr lang="en-US" sz="2200" spc="-10" dirty="0">
                <a:solidFill>
                  <a:srgbClr val="C00000"/>
                </a:solidFill>
                <a:latin typeface="Calibri"/>
                <a:cs typeface="Calibri"/>
              </a:rPr>
              <a:t>non-linear</a:t>
            </a:r>
          </a:p>
          <a:p>
            <a:pPr marL="12700">
              <a:spcBef>
                <a:spcPts val="100"/>
              </a:spcBef>
              <a:tabLst>
                <a:tab pos="212725" algn="l"/>
              </a:tabLst>
            </a:pPr>
            <a:endParaRPr lang="en-US" sz="2200" spc="-10" dirty="0">
              <a:latin typeface="Calibri"/>
              <a:cs typeface="Calibri"/>
            </a:endParaRPr>
          </a:p>
          <a:p>
            <a:pPr marL="38100">
              <a:spcBef>
                <a:spcPts val="100"/>
              </a:spcBef>
              <a:tabLst>
                <a:tab pos="238125" algn="l"/>
              </a:tabLst>
            </a:pPr>
            <a:r>
              <a:rPr lang="en-US" sz="2200" b="1" dirty="0">
                <a:latin typeface="Calibri"/>
                <a:cs typeface="Calibri"/>
              </a:rPr>
              <a:t>A</a:t>
            </a:r>
            <a:r>
              <a:rPr lang="en-US" sz="2200" b="1" spc="-10" dirty="0">
                <a:latin typeface="Calibri"/>
                <a:cs typeface="Calibri"/>
              </a:rPr>
              <a:t>utoregressive</a:t>
            </a:r>
            <a:r>
              <a:rPr lang="en-US" sz="2200" b="1" spc="-45" dirty="0">
                <a:latin typeface="Calibri"/>
                <a:cs typeface="Calibri"/>
              </a:rPr>
              <a:t> </a:t>
            </a:r>
            <a:r>
              <a:rPr lang="en-US" sz="2200" b="1" spc="-10" dirty="0">
                <a:latin typeface="Calibri"/>
                <a:cs typeface="Calibri"/>
              </a:rPr>
              <a:t>text generation</a:t>
            </a:r>
            <a:endParaRPr lang="en-US" sz="2200" b="1" dirty="0">
              <a:latin typeface="Calibri"/>
              <a:cs typeface="Calibri"/>
            </a:endParaRPr>
          </a:p>
          <a:p>
            <a:pPr marL="619125" lvl="1" indent="-200025">
              <a:buChar char="•"/>
              <a:tabLst>
                <a:tab pos="619125" algn="l"/>
              </a:tabLst>
            </a:pPr>
            <a:r>
              <a:rPr lang="en-US" sz="2200" dirty="0">
                <a:latin typeface="Calibri"/>
                <a:cs typeface="Calibri"/>
              </a:rPr>
              <a:t>In</a:t>
            </a:r>
            <a:r>
              <a:rPr lang="en-US" sz="2200" spc="-45" dirty="0">
                <a:latin typeface="Calibri"/>
                <a:cs typeface="Calibri"/>
              </a:rPr>
              <a:t> </a:t>
            </a:r>
            <a:r>
              <a:rPr lang="en-US" sz="2200" spc="-10" dirty="0">
                <a:solidFill>
                  <a:srgbClr val="C00000"/>
                </a:solidFill>
                <a:latin typeface="Calibri"/>
                <a:cs typeface="Calibri"/>
              </a:rPr>
              <a:t>generation</a:t>
            </a:r>
            <a:r>
              <a:rPr lang="en-US" sz="2200" spc="-45" dirty="0">
                <a:latin typeface="Calibri"/>
                <a:cs typeface="Calibri"/>
              </a:rPr>
              <a:t> </a:t>
            </a:r>
            <a:r>
              <a:rPr lang="en-US" sz="2200" dirty="0">
                <a:latin typeface="Calibri"/>
                <a:cs typeface="Calibri"/>
              </a:rPr>
              <a:t>tasks in </a:t>
            </a:r>
            <a:r>
              <a:rPr lang="en-US" sz="2200" dirty="0">
                <a:solidFill>
                  <a:srgbClr val="C00000"/>
                </a:solidFill>
                <a:latin typeface="Calibri"/>
                <a:cs typeface="Calibri"/>
              </a:rPr>
              <a:t>decoder</a:t>
            </a:r>
            <a:r>
              <a:rPr lang="en-US" sz="2200" dirty="0">
                <a:latin typeface="Calibri"/>
                <a:cs typeface="Calibri"/>
              </a:rPr>
              <a:t> (e.g.,</a:t>
            </a:r>
            <a:r>
              <a:rPr lang="en-US" sz="2200" spc="-15" dirty="0">
                <a:latin typeface="Calibri"/>
                <a:cs typeface="Calibri"/>
              </a:rPr>
              <a:t> </a:t>
            </a:r>
            <a:r>
              <a:rPr lang="en-US" sz="2200" spc="-50" dirty="0">
                <a:latin typeface="Calibri"/>
                <a:cs typeface="Calibri"/>
              </a:rPr>
              <a:t>text</a:t>
            </a:r>
            <a:r>
              <a:rPr lang="en-US" sz="2200" spc="-15" dirty="0">
                <a:latin typeface="Calibri"/>
                <a:cs typeface="Calibri"/>
              </a:rPr>
              <a:t> </a:t>
            </a:r>
            <a:r>
              <a:rPr lang="en-US" sz="2200" spc="-10" dirty="0">
                <a:latin typeface="Calibri"/>
                <a:cs typeface="Calibri"/>
              </a:rPr>
              <a:t>generation</a:t>
            </a:r>
            <a:r>
              <a:rPr lang="en-US" sz="2200" dirty="0">
                <a:latin typeface="Calibri"/>
                <a:cs typeface="Calibri"/>
              </a:rPr>
              <a:t>),</a:t>
            </a:r>
            <a:r>
              <a:rPr lang="en-US" sz="2200" spc="-40" dirty="0">
                <a:latin typeface="Calibri"/>
                <a:cs typeface="Calibri"/>
              </a:rPr>
              <a:t> </a:t>
            </a:r>
            <a:r>
              <a:rPr lang="en-US" sz="2200" dirty="0">
                <a:latin typeface="Calibri"/>
                <a:cs typeface="Calibri"/>
              </a:rPr>
              <a:t>the</a:t>
            </a:r>
            <a:r>
              <a:rPr lang="en-US" sz="2200" spc="-45" dirty="0">
                <a:latin typeface="Calibri"/>
                <a:cs typeface="Calibri"/>
              </a:rPr>
              <a:t> </a:t>
            </a:r>
            <a:r>
              <a:rPr lang="en-US" sz="2200" dirty="0">
                <a:latin typeface="Calibri"/>
                <a:cs typeface="Calibri"/>
              </a:rPr>
              <a:t>model</a:t>
            </a:r>
            <a:r>
              <a:rPr lang="en-US" sz="2200" spc="-40" dirty="0">
                <a:latin typeface="Calibri"/>
                <a:cs typeface="Calibri"/>
              </a:rPr>
              <a:t> </a:t>
            </a:r>
            <a:r>
              <a:rPr lang="en-US" sz="2200" dirty="0">
                <a:solidFill>
                  <a:srgbClr val="C00000"/>
                </a:solidFill>
                <a:latin typeface="Calibri"/>
                <a:cs typeface="Calibri"/>
              </a:rPr>
              <a:t>doesn’t</a:t>
            </a:r>
            <a:r>
              <a:rPr lang="en-US" sz="2200" spc="-45" dirty="0">
                <a:solidFill>
                  <a:srgbClr val="C00000"/>
                </a:solidFill>
                <a:latin typeface="Calibri"/>
                <a:cs typeface="Calibri"/>
              </a:rPr>
              <a:t> </a:t>
            </a:r>
            <a:r>
              <a:rPr lang="en-US" sz="2200" dirty="0">
                <a:solidFill>
                  <a:srgbClr val="C00000"/>
                </a:solidFill>
                <a:latin typeface="Calibri"/>
                <a:cs typeface="Calibri"/>
              </a:rPr>
              <a:t>look</a:t>
            </a:r>
            <a:r>
              <a:rPr lang="en-US" sz="2200" spc="-40" dirty="0">
                <a:solidFill>
                  <a:srgbClr val="C00000"/>
                </a:solidFill>
                <a:latin typeface="Calibri"/>
                <a:cs typeface="Calibri"/>
              </a:rPr>
              <a:t> </a:t>
            </a:r>
            <a:r>
              <a:rPr lang="en-US" sz="2200" dirty="0">
                <a:solidFill>
                  <a:srgbClr val="C00000"/>
                </a:solidFill>
                <a:latin typeface="Calibri"/>
                <a:cs typeface="Calibri"/>
              </a:rPr>
              <a:t>at</a:t>
            </a:r>
            <a:r>
              <a:rPr lang="en-US" sz="2200" spc="-45" dirty="0">
                <a:solidFill>
                  <a:srgbClr val="C00000"/>
                </a:solidFill>
                <a:latin typeface="Calibri"/>
                <a:cs typeface="Calibri"/>
              </a:rPr>
              <a:t> </a:t>
            </a:r>
            <a:r>
              <a:rPr lang="en-US" sz="2200" dirty="0">
                <a:solidFill>
                  <a:srgbClr val="C00000"/>
                </a:solidFill>
                <a:latin typeface="Calibri"/>
                <a:cs typeface="Calibri"/>
              </a:rPr>
              <a:t>the</a:t>
            </a:r>
            <a:r>
              <a:rPr lang="en-US" sz="2200" spc="-40" dirty="0">
                <a:solidFill>
                  <a:srgbClr val="C00000"/>
                </a:solidFill>
                <a:latin typeface="Calibri"/>
                <a:cs typeface="Calibri"/>
              </a:rPr>
              <a:t> </a:t>
            </a:r>
            <a:r>
              <a:rPr lang="en-US" sz="2200" spc="-10" dirty="0">
                <a:solidFill>
                  <a:srgbClr val="C00000"/>
                </a:solidFill>
                <a:latin typeface="Calibri"/>
                <a:cs typeface="Calibri"/>
              </a:rPr>
              <a:t>future </a:t>
            </a:r>
            <a:r>
              <a:rPr lang="en-US" sz="2200" spc="-10" dirty="0">
                <a:latin typeface="Calibri"/>
                <a:cs typeface="Calibri"/>
              </a:rPr>
              <a:t>parts of a sequence, but </a:t>
            </a:r>
            <a:r>
              <a:rPr lang="en-US" sz="2200" spc="-25" dirty="0">
                <a:latin typeface="Calibri"/>
                <a:cs typeface="Calibri"/>
              </a:rPr>
              <a:t>self-</a:t>
            </a:r>
            <a:r>
              <a:rPr lang="en-US" sz="2200" spc="-10" dirty="0">
                <a:latin typeface="Calibri"/>
                <a:cs typeface="Calibri"/>
              </a:rPr>
              <a:t>attention</a:t>
            </a:r>
            <a:r>
              <a:rPr lang="en-US" sz="2200" spc="-55" dirty="0">
                <a:latin typeface="Calibri"/>
                <a:cs typeface="Calibri"/>
              </a:rPr>
              <a:t> </a:t>
            </a:r>
            <a:r>
              <a:rPr lang="en-US" sz="2200" dirty="0">
                <a:latin typeface="Calibri"/>
                <a:cs typeface="Calibri"/>
              </a:rPr>
              <a:t>requires</a:t>
            </a:r>
            <a:r>
              <a:rPr lang="en-US" sz="2200" spc="-60" dirty="0">
                <a:latin typeface="Calibri"/>
                <a:cs typeface="Calibri"/>
              </a:rPr>
              <a:t> </a:t>
            </a:r>
            <a:r>
              <a:rPr lang="en-US" sz="2200" dirty="0">
                <a:latin typeface="Calibri"/>
                <a:cs typeface="Calibri"/>
              </a:rPr>
              <a:t>the</a:t>
            </a:r>
            <a:r>
              <a:rPr lang="en-US" sz="2200" spc="-55" dirty="0">
                <a:latin typeface="Calibri"/>
                <a:cs typeface="Calibri"/>
              </a:rPr>
              <a:t> </a:t>
            </a:r>
            <a:r>
              <a:rPr lang="en-US" sz="2200" dirty="0">
                <a:latin typeface="Calibri"/>
                <a:cs typeface="Calibri"/>
              </a:rPr>
              <a:t>entire</a:t>
            </a:r>
            <a:r>
              <a:rPr lang="en-US" sz="2200" spc="-60" dirty="0">
                <a:latin typeface="Calibri"/>
                <a:cs typeface="Calibri"/>
              </a:rPr>
              <a:t> </a:t>
            </a:r>
            <a:r>
              <a:rPr lang="en-US" sz="2200" spc="-10" dirty="0">
                <a:latin typeface="Calibri"/>
                <a:cs typeface="Calibri"/>
              </a:rPr>
              <a:t>sequence</a:t>
            </a:r>
            <a:endParaRPr lang="en-US" sz="2200" dirty="0">
              <a:latin typeface="Calibri"/>
              <a:cs typeface="Calibri"/>
            </a:endParaRPr>
          </a:p>
          <a:p>
            <a:pPr marL="393700" lvl="1">
              <a:tabLst>
                <a:tab pos="593725" algn="l"/>
              </a:tabLst>
            </a:pPr>
            <a:endParaRPr lang="en-US" sz="2200" spc="-10" dirty="0">
              <a:latin typeface="Calibri"/>
              <a:cs typeface="Calibri"/>
            </a:endParaRPr>
          </a:p>
        </p:txBody>
      </p:sp>
      <p:pic>
        <p:nvPicPr>
          <p:cNvPr id="3" name="object 5">
            <a:extLst>
              <a:ext uri="{FF2B5EF4-FFF2-40B4-BE49-F238E27FC236}">
                <a16:creationId xmlns:a16="http://schemas.microsoft.com/office/drawing/2014/main" id="{F33620A2-49D3-64FA-FB68-2EB49BF0AEE3}"/>
              </a:ext>
            </a:extLst>
          </p:cNvPr>
          <p:cNvPicPr/>
          <p:nvPr/>
        </p:nvPicPr>
        <p:blipFill>
          <a:blip r:embed="rId2" cstate="print"/>
          <a:stretch>
            <a:fillRect/>
          </a:stretch>
        </p:blipFill>
        <p:spPr>
          <a:xfrm>
            <a:off x="1490257" y="5116530"/>
            <a:ext cx="4605744" cy="1602770"/>
          </a:xfrm>
          <a:prstGeom prst="rect">
            <a:avLst/>
          </a:prstGeom>
        </p:spPr>
      </p:pic>
      <p:pic>
        <p:nvPicPr>
          <p:cNvPr id="8" name="Picture 7">
            <a:extLst>
              <a:ext uri="{FF2B5EF4-FFF2-40B4-BE49-F238E27FC236}">
                <a16:creationId xmlns:a16="http://schemas.microsoft.com/office/drawing/2014/main" id="{A99D7ADB-B97B-4EBF-23AD-CB992BE8014B}"/>
              </a:ext>
            </a:extLst>
          </p:cNvPr>
          <p:cNvPicPr>
            <a:picLocks noChangeAspect="1"/>
          </p:cNvPicPr>
          <p:nvPr/>
        </p:nvPicPr>
        <p:blipFill>
          <a:blip r:embed="rId3"/>
          <a:stretch>
            <a:fillRect/>
          </a:stretch>
        </p:blipFill>
        <p:spPr>
          <a:xfrm>
            <a:off x="7437933" y="5116529"/>
            <a:ext cx="3040970" cy="1602770"/>
          </a:xfrm>
          <a:prstGeom prst="rect">
            <a:avLst/>
          </a:prstGeom>
        </p:spPr>
      </p:pic>
    </p:spTree>
    <p:extLst>
      <p:ext uri="{BB962C8B-B14F-4D97-AF65-F5344CB8AC3E}">
        <p14:creationId xmlns:p14="http://schemas.microsoft.com/office/powerpoint/2010/main" val="2222697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32991" y="394721"/>
            <a:ext cx="10861742" cy="62222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lang="en-US" spc="-10" dirty="0"/>
              <a:t>Word Positions using </a:t>
            </a:r>
            <a:r>
              <a:rPr spc="-10" dirty="0"/>
              <a:t>Positional</a:t>
            </a:r>
            <a:r>
              <a:rPr spc="-85" dirty="0"/>
              <a:t> </a:t>
            </a:r>
            <a:r>
              <a:rPr lang="en-US" spc="-5" dirty="0"/>
              <a:t>Embedding</a:t>
            </a:r>
            <a:endParaRPr spc="-5" dirty="0"/>
          </a:p>
        </p:txBody>
      </p:sp>
      <p:sp>
        <p:nvSpPr>
          <p:cNvPr id="3" name="object 3"/>
          <p:cNvSpPr txBox="1"/>
          <p:nvPr/>
        </p:nvSpPr>
        <p:spPr>
          <a:xfrm>
            <a:off x="833230" y="1406238"/>
            <a:ext cx="11253995" cy="2162836"/>
          </a:xfrm>
          <a:prstGeom prst="rect">
            <a:avLst/>
          </a:prstGeom>
        </p:spPr>
        <p:txBody>
          <a:bodyPr vert="horz" wrap="square" lIns="0" tIns="12700" rIns="0" bIns="0" rtlCol="0">
            <a:spAutoFit/>
          </a:bodyPr>
          <a:lstStyle/>
          <a:p>
            <a:pPr marL="469900" marR="5080" indent="-320675">
              <a:lnSpc>
                <a:spcPct val="114599"/>
              </a:lnSpc>
              <a:spcBef>
                <a:spcPts val="100"/>
              </a:spcBef>
              <a:buFontTx/>
              <a:buChar char="●"/>
              <a:tabLst>
                <a:tab pos="469265" algn="l"/>
                <a:tab pos="469900" algn="l"/>
              </a:tabLst>
            </a:pPr>
            <a:r>
              <a:rPr lang="en-US" sz="2400" spc="-5" dirty="0">
                <a:latin typeface="+mn-lt"/>
                <a:cs typeface="Arial MT"/>
              </a:rPr>
              <a:t>Positional embedding (PE) is a </a:t>
            </a:r>
            <a:r>
              <a:rPr lang="en-US" sz="2400" spc="-15" dirty="0">
                <a:solidFill>
                  <a:srgbClr val="C00000"/>
                </a:solidFill>
                <a:latin typeface="+mn-lt"/>
                <a:cs typeface="Arial MT"/>
              </a:rPr>
              <a:t>vector</a:t>
            </a:r>
            <a:r>
              <a:rPr lang="en-US" sz="2400" spc="-15" dirty="0">
                <a:latin typeface="+mn-lt"/>
                <a:cs typeface="Arial MT"/>
              </a:rPr>
              <a:t> </a:t>
            </a:r>
            <a:r>
              <a:rPr lang="en-US" sz="2400" spc="-5" dirty="0">
                <a:latin typeface="+mn-lt"/>
                <a:cs typeface="Arial MT"/>
              </a:rPr>
              <a:t>that </a:t>
            </a:r>
            <a:r>
              <a:rPr lang="en-US" sz="2400" dirty="0">
                <a:latin typeface="+mn-lt"/>
                <a:cs typeface="Arial MT"/>
              </a:rPr>
              <a:t>represents </a:t>
            </a:r>
            <a:r>
              <a:rPr lang="en-US" sz="2400" spc="-320" dirty="0">
                <a:latin typeface="+mn-lt"/>
                <a:cs typeface="Arial MT"/>
              </a:rPr>
              <a:t> </a:t>
            </a:r>
            <a:r>
              <a:rPr lang="en-US" sz="2400" spc="-5" dirty="0">
                <a:solidFill>
                  <a:srgbClr val="C00000"/>
                </a:solidFill>
                <a:latin typeface="+mn-lt"/>
                <a:cs typeface="Arial MT"/>
              </a:rPr>
              <a:t>position</a:t>
            </a:r>
            <a:r>
              <a:rPr lang="en-US" sz="2400" spc="-10" dirty="0">
                <a:latin typeface="+mn-lt"/>
                <a:cs typeface="Arial MT"/>
              </a:rPr>
              <a:t> </a:t>
            </a:r>
            <a:r>
              <a:rPr lang="en-US" sz="2400" spc="-5" dirty="0">
                <a:latin typeface="+mn-lt"/>
                <a:cs typeface="Arial MT"/>
              </a:rPr>
              <a:t>of each</a:t>
            </a:r>
            <a:r>
              <a:rPr lang="en-US" sz="2400" spc="-10" dirty="0">
                <a:latin typeface="+mn-lt"/>
                <a:cs typeface="Arial MT"/>
              </a:rPr>
              <a:t> </a:t>
            </a:r>
            <a:r>
              <a:rPr lang="en-US" sz="2400" spc="-5" dirty="0">
                <a:latin typeface="+mn-lt"/>
                <a:cs typeface="Arial MT"/>
              </a:rPr>
              <a:t>token</a:t>
            </a:r>
          </a:p>
          <a:p>
            <a:pPr marL="469900" marR="5080" indent="-320675">
              <a:lnSpc>
                <a:spcPct val="114599"/>
              </a:lnSpc>
              <a:spcBef>
                <a:spcPts val="100"/>
              </a:spcBef>
              <a:buFontTx/>
              <a:buChar char="●"/>
              <a:tabLst>
                <a:tab pos="469265" algn="l"/>
                <a:tab pos="469900" algn="l"/>
              </a:tabLst>
            </a:pPr>
            <a:r>
              <a:rPr lang="en-US" sz="2400" dirty="0">
                <a:latin typeface="+mn-lt"/>
                <a:cs typeface="Arial MT"/>
              </a:rPr>
              <a:t>For each position in a sequence, a PE value is </a:t>
            </a:r>
            <a:r>
              <a:rPr lang="en-US" sz="2400" dirty="0">
                <a:solidFill>
                  <a:srgbClr val="C00000"/>
                </a:solidFill>
                <a:latin typeface="+mn-lt"/>
                <a:cs typeface="Arial MT"/>
              </a:rPr>
              <a:t>added</a:t>
            </a:r>
            <a:r>
              <a:rPr lang="en-US" sz="2400" dirty="0">
                <a:latin typeface="+mn-lt"/>
                <a:cs typeface="Arial MT"/>
              </a:rPr>
              <a:t> to corresponding word </a:t>
            </a:r>
            <a:r>
              <a:rPr lang="en-US" sz="2400" dirty="0">
                <a:solidFill>
                  <a:srgbClr val="C00000"/>
                </a:solidFill>
                <a:latin typeface="+mn-lt"/>
                <a:cs typeface="Arial MT"/>
              </a:rPr>
              <a:t>embedding</a:t>
            </a:r>
          </a:p>
          <a:p>
            <a:pPr marL="469900" marR="5080" indent="-320675">
              <a:lnSpc>
                <a:spcPct val="114599"/>
              </a:lnSpc>
              <a:spcBef>
                <a:spcPts val="100"/>
              </a:spcBef>
              <a:buFontTx/>
              <a:buChar char="●"/>
              <a:tabLst>
                <a:tab pos="469265" algn="l"/>
                <a:tab pos="469900" algn="l"/>
              </a:tabLst>
            </a:pPr>
            <a:r>
              <a:rPr lang="en-US" sz="2400" dirty="0">
                <a:latin typeface="+mn-lt"/>
                <a:cs typeface="Arial MT"/>
              </a:rPr>
              <a:t>Using PE,</a:t>
            </a:r>
            <a:r>
              <a:rPr lang="en-US" sz="2400" dirty="0">
                <a:solidFill>
                  <a:srgbClr val="C00000"/>
                </a:solidFill>
                <a:latin typeface="+mn-lt"/>
                <a:cs typeface="Arial MT"/>
              </a:rPr>
              <a:t> </a:t>
            </a:r>
            <a:r>
              <a:rPr lang="en-US" sz="2400" dirty="0">
                <a:latin typeface="+mn-lt"/>
                <a:cs typeface="Arial MT"/>
              </a:rPr>
              <a:t>the model can learn the position and </a:t>
            </a:r>
            <a:r>
              <a:rPr lang="en-US" sz="2400" spc="-5" dirty="0">
                <a:solidFill>
                  <a:srgbClr val="C00000"/>
                </a:solidFill>
                <a:latin typeface="+mn-lt"/>
                <a:cs typeface="Arial MT"/>
              </a:rPr>
              <a:t>order </a:t>
            </a:r>
            <a:r>
              <a:rPr lang="en-US" sz="2400" spc="-320" dirty="0">
                <a:solidFill>
                  <a:srgbClr val="C00000"/>
                </a:solidFill>
                <a:latin typeface="+mn-lt"/>
                <a:cs typeface="Arial MT"/>
              </a:rPr>
              <a:t> </a:t>
            </a:r>
            <a:r>
              <a:rPr lang="en-US" sz="2400" spc="-5" dirty="0">
                <a:solidFill>
                  <a:srgbClr val="C00000"/>
                </a:solidFill>
                <a:latin typeface="+mn-lt"/>
                <a:cs typeface="Arial MT"/>
              </a:rPr>
              <a:t>of</a:t>
            </a:r>
            <a:r>
              <a:rPr lang="en-US" sz="2400" spc="-10" dirty="0">
                <a:solidFill>
                  <a:srgbClr val="C00000"/>
                </a:solidFill>
                <a:latin typeface="+mn-lt"/>
                <a:cs typeface="Arial MT"/>
              </a:rPr>
              <a:t> </a:t>
            </a:r>
            <a:r>
              <a:rPr lang="en-US" sz="2400" spc="-5" dirty="0">
                <a:solidFill>
                  <a:srgbClr val="C00000"/>
                </a:solidFill>
                <a:latin typeface="+mn-lt"/>
                <a:cs typeface="Arial MT"/>
              </a:rPr>
              <a:t>tokens </a:t>
            </a:r>
            <a:endParaRPr lang="en-US" sz="2400" dirty="0">
              <a:latin typeface="+mn-lt"/>
              <a:cs typeface="Arial MT"/>
            </a:endParaRPr>
          </a:p>
          <a:p>
            <a:pPr marL="469900" marR="5080" indent="-320675">
              <a:lnSpc>
                <a:spcPct val="114599"/>
              </a:lnSpc>
              <a:spcBef>
                <a:spcPts val="100"/>
              </a:spcBef>
              <a:buFontTx/>
              <a:buChar char="●"/>
              <a:tabLst>
                <a:tab pos="469265" algn="l"/>
                <a:tab pos="469900" algn="l"/>
              </a:tabLst>
            </a:pPr>
            <a:r>
              <a:rPr lang="en-US" sz="2400" spc="-5" dirty="0">
                <a:cs typeface="Arial MT"/>
              </a:rPr>
              <a:t>Typically, </a:t>
            </a:r>
            <a:r>
              <a:rPr lang="en-US" sz="2400" spc="-5" dirty="0">
                <a:latin typeface="+mn-lt"/>
                <a:cs typeface="Arial MT"/>
              </a:rPr>
              <a:t>PE is a set of </a:t>
            </a:r>
            <a:r>
              <a:rPr lang="en-US" sz="2400" spc="-5" dirty="0">
                <a:solidFill>
                  <a:srgbClr val="C00000"/>
                </a:solidFill>
                <a:latin typeface="+mn-lt"/>
                <a:cs typeface="Arial MT"/>
              </a:rPr>
              <a:t>parameters</a:t>
            </a:r>
            <a:r>
              <a:rPr lang="en-US" sz="2400" spc="-5" dirty="0">
                <a:latin typeface="+mn-lt"/>
                <a:cs typeface="Arial MT"/>
              </a:rPr>
              <a:t> learned during </a:t>
            </a:r>
            <a:r>
              <a:rPr lang="en-US" sz="2400" spc="-5" dirty="0">
                <a:solidFill>
                  <a:srgbClr val="C00000"/>
                </a:solidFill>
                <a:latin typeface="+mn-lt"/>
                <a:cs typeface="Arial MT"/>
              </a:rPr>
              <a:t>training</a:t>
            </a:r>
          </a:p>
          <a:p>
            <a:pPr marL="469900" marR="5080" indent="-320675">
              <a:lnSpc>
                <a:spcPct val="114599"/>
              </a:lnSpc>
              <a:spcBef>
                <a:spcPts val="100"/>
              </a:spcBef>
              <a:buFontTx/>
              <a:buChar char="●"/>
              <a:tabLst>
                <a:tab pos="469265" algn="l"/>
                <a:tab pos="469900" algn="l"/>
              </a:tabLst>
            </a:pPr>
            <a:r>
              <a:rPr lang="en-US" sz="2400" spc="-10" dirty="0">
                <a:latin typeface="+mn-lt"/>
                <a:cs typeface="Arial MT"/>
              </a:rPr>
              <a:t>With enough training, the model learns meaningfully </a:t>
            </a:r>
            <a:r>
              <a:rPr lang="en-US" sz="2400" spc="-10" dirty="0">
                <a:solidFill>
                  <a:srgbClr val="C00000"/>
                </a:solidFill>
                <a:latin typeface="+mn-lt"/>
                <a:cs typeface="Arial MT"/>
              </a:rPr>
              <a:t>different positional embeddings  </a:t>
            </a:r>
            <a:endParaRPr sz="2400" dirty="0">
              <a:solidFill>
                <a:srgbClr val="C00000"/>
              </a:solidFill>
              <a:latin typeface="+mn-lt"/>
              <a:cs typeface="Arial MT"/>
            </a:endParaRPr>
          </a:p>
        </p:txBody>
      </p:sp>
      <p:pic>
        <p:nvPicPr>
          <p:cNvPr id="1026" name="Picture 2" descr="LLM study notes: Positional Encoding | by xuer chen | Medium">
            <a:extLst>
              <a:ext uri="{FF2B5EF4-FFF2-40B4-BE49-F238E27FC236}">
                <a16:creationId xmlns:a16="http://schemas.microsoft.com/office/drawing/2014/main" id="{7A3D16E7-D9F7-8DD7-29D1-988FE36E7A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2428" y="3876176"/>
            <a:ext cx="5341434" cy="277017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6850A3C5-0D95-1A9E-D807-2EE45FE5F9BC}"/>
              </a:ext>
            </a:extLst>
          </p:cNvPr>
          <p:cNvPicPr>
            <a:picLocks noChangeAspect="1"/>
          </p:cNvPicPr>
          <p:nvPr/>
        </p:nvPicPr>
        <p:blipFill>
          <a:blip r:embed="rId4"/>
          <a:stretch>
            <a:fillRect/>
          </a:stretch>
        </p:blipFill>
        <p:spPr>
          <a:xfrm>
            <a:off x="7019436" y="4185445"/>
            <a:ext cx="4663136" cy="2162836"/>
          </a:xfrm>
          <a:prstGeom prst="rect">
            <a:avLst/>
          </a:prstGeom>
        </p:spPr>
      </p:pic>
    </p:spTree>
    <p:extLst>
      <p:ext uri="{BB962C8B-B14F-4D97-AF65-F5344CB8AC3E}">
        <p14:creationId xmlns:p14="http://schemas.microsoft.com/office/powerpoint/2010/main" val="152724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9226" y="540800"/>
            <a:ext cx="10515600" cy="689932"/>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dirty="0"/>
              <a:t>Combine</a:t>
            </a:r>
            <a:r>
              <a:rPr spc="-80" dirty="0"/>
              <a:t> </a:t>
            </a:r>
            <a:r>
              <a:rPr spc="-10" dirty="0"/>
              <a:t>Self-</a:t>
            </a:r>
            <a:r>
              <a:rPr dirty="0"/>
              <a:t>Attention</a:t>
            </a:r>
            <a:r>
              <a:rPr spc="-80" dirty="0"/>
              <a:t> </a:t>
            </a:r>
            <a:r>
              <a:rPr dirty="0"/>
              <a:t>with</a:t>
            </a:r>
            <a:r>
              <a:rPr spc="-85" dirty="0"/>
              <a:t> </a:t>
            </a:r>
            <a:r>
              <a:rPr spc="-10" dirty="0"/>
              <a:t>Nonlinearity</a:t>
            </a:r>
          </a:p>
        </p:txBody>
      </p:sp>
      <p:sp>
        <p:nvSpPr>
          <p:cNvPr id="3" name="object 3"/>
          <p:cNvSpPr txBox="1"/>
          <p:nvPr/>
        </p:nvSpPr>
        <p:spPr>
          <a:xfrm>
            <a:off x="729466" y="1392006"/>
            <a:ext cx="11291298" cy="3388107"/>
          </a:xfrm>
          <a:prstGeom prst="rect">
            <a:avLst/>
          </a:prstGeom>
        </p:spPr>
        <p:txBody>
          <a:bodyPr vert="horz" wrap="square" lIns="0" tIns="12700" rIns="0" bIns="0" rtlCol="0">
            <a:spAutoFit/>
          </a:bodyPr>
          <a:lstStyle/>
          <a:p>
            <a:pPr marL="50800">
              <a:spcBef>
                <a:spcPts val="100"/>
              </a:spcBef>
              <a:tabLst>
                <a:tab pos="250825" algn="l"/>
              </a:tabLst>
            </a:pPr>
            <a:r>
              <a:rPr sz="2400" b="1" spc="-20" dirty="0">
                <a:latin typeface="+mn-lt"/>
                <a:cs typeface="Calibri"/>
              </a:rPr>
              <a:t>Vanilla</a:t>
            </a:r>
            <a:r>
              <a:rPr sz="2400" b="1" dirty="0">
                <a:latin typeface="+mn-lt"/>
                <a:cs typeface="Calibri"/>
              </a:rPr>
              <a:t> </a:t>
            </a:r>
            <a:r>
              <a:rPr sz="2400" b="1" spc="-25" dirty="0">
                <a:latin typeface="+mn-lt"/>
                <a:cs typeface="Calibri"/>
              </a:rPr>
              <a:t>self-</a:t>
            </a:r>
            <a:r>
              <a:rPr sz="2400" b="1" spc="-10" dirty="0">
                <a:latin typeface="+mn-lt"/>
                <a:cs typeface="Calibri"/>
              </a:rPr>
              <a:t>attention</a:t>
            </a:r>
            <a:endParaRPr sz="2400" b="1" dirty="0">
              <a:latin typeface="+mn-lt"/>
              <a:cs typeface="Calibri"/>
            </a:endParaRPr>
          </a:p>
          <a:p>
            <a:pPr marL="631825" lvl="1" indent="-200025">
              <a:buChar char="•"/>
              <a:tabLst>
                <a:tab pos="631825" algn="l"/>
              </a:tabLst>
            </a:pPr>
            <a:r>
              <a:rPr lang="en-US" sz="2400" dirty="0">
                <a:latin typeface="Calibri"/>
                <a:cs typeface="Calibri"/>
              </a:rPr>
              <a:t>In </a:t>
            </a:r>
            <a:r>
              <a:rPr lang="en-US" sz="2400" spc="-10" dirty="0">
                <a:latin typeface="Calibri"/>
                <a:cs typeface="Calibri"/>
              </a:rPr>
              <a:t>Self-Attention </a:t>
            </a:r>
            <a:r>
              <a:rPr lang="en-US" sz="2400" dirty="0">
                <a:solidFill>
                  <a:srgbClr val="C00000"/>
                </a:solidFill>
                <a:latin typeface="Calibri"/>
                <a:cs typeface="Calibri"/>
              </a:rPr>
              <a:t>linear combination </a:t>
            </a:r>
            <a:r>
              <a:rPr lang="en-US" sz="2400" dirty="0">
                <a:latin typeface="Calibri"/>
                <a:cs typeface="Calibri"/>
              </a:rPr>
              <a:t>of other embeddings attends in each embedding </a:t>
            </a:r>
          </a:p>
          <a:p>
            <a:pPr marL="631825" lvl="1" indent="-200025">
              <a:buFontTx/>
              <a:buChar char="•"/>
              <a:tabLst>
                <a:tab pos="631825" algn="l"/>
              </a:tabLst>
            </a:pPr>
            <a:r>
              <a:rPr lang="en-US" sz="2400" spc="-10" dirty="0">
                <a:latin typeface="Calibri"/>
                <a:cs typeface="Calibri"/>
              </a:rPr>
              <a:t>Most </a:t>
            </a:r>
            <a:r>
              <a:rPr lang="en-US" sz="2400" spc="-10" dirty="0">
                <a:solidFill>
                  <a:srgbClr val="C00000"/>
                </a:solidFill>
                <a:latin typeface="Calibri"/>
                <a:cs typeface="Calibri"/>
              </a:rPr>
              <a:t>real-world</a:t>
            </a:r>
            <a:r>
              <a:rPr lang="en-US" sz="2400" spc="-10" dirty="0">
                <a:latin typeface="Calibri"/>
                <a:cs typeface="Calibri"/>
              </a:rPr>
              <a:t> relationships are </a:t>
            </a:r>
            <a:r>
              <a:rPr lang="en-US" sz="2400" spc="-10" dirty="0">
                <a:solidFill>
                  <a:srgbClr val="C00000"/>
                </a:solidFill>
                <a:latin typeface="Calibri"/>
                <a:cs typeface="Calibri"/>
              </a:rPr>
              <a:t>non-linear</a:t>
            </a:r>
          </a:p>
          <a:p>
            <a:pPr marL="631825" lvl="1" indent="-200025">
              <a:buChar char="•"/>
              <a:tabLst>
                <a:tab pos="631825" algn="l"/>
              </a:tabLst>
            </a:pPr>
            <a:endParaRPr lang="en-US" sz="2400" dirty="0">
              <a:latin typeface="Calibri"/>
              <a:cs typeface="Calibri"/>
            </a:endParaRPr>
          </a:p>
          <a:p>
            <a:pPr marL="631825" lvl="1" indent="-200025">
              <a:buChar char="•"/>
              <a:tabLst>
                <a:tab pos="631825" algn="l"/>
              </a:tabLst>
            </a:pPr>
            <a:endParaRPr lang="en-US" sz="2400" dirty="0">
              <a:latin typeface="Calibri"/>
              <a:cs typeface="Calibri"/>
            </a:endParaRPr>
          </a:p>
          <a:p>
            <a:pPr marL="431800" lvl="1">
              <a:tabLst>
                <a:tab pos="631825" algn="l"/>
              </a:tabLst>
            </a:pPr>
            <a:endParaRPr lang="en-US" sz="2400" spc="-20" dirty="0">
              <a:latin typeface="Calibri"/>
              <a:cs typeface="Calibri"/>
            </a:endParaRPr>
          </a:p>
          <a:p>
            <a:pPr marL="431800" lvl="1">
              <a:tabLst>
                <a:tab pos="631825" algn="l"/>
              </a:tabLst>
            </a:pPr>
            <a:r>
              <a:rPr lang="en-US" sz="2400" b="1" spc="-20" dirty="0">
                <a:latin typeface="+mn-lt"/>
                <a:cs typeface="Calibri"/>
              </a:rPr>
              <a:t>Solution</a:t>
            </a:r>
            <a:r>
              <a:rPr sz="2400" spc="-20" dirty="0">
                <a:latin typeface="+mn-lt"/>
                <a:cs typeface="Calibri"/>
              </a:rPr>
              <a:t>:</a:t>
            </a:r>
            <a:endParaRPr sz="2400" dirty="0">
              <a:latin typeface="+mn-lt"/>
              <a:cs typeface="Calibri"/>
            </a:endParaRPr>
          </a:p>
          <a:p>
            <a:pPr marL="631825" lvl="1" indent="-200025">
              <a:spcBef>
                <a:spcPts val="15"/>
              </a:spcBef>
              <a:buChar char="•"/>
              <a:tabLst>
                <a:tab pos="631825" algn="l"/>
              </a:tabLst>
            </a:pPr>
            <a:r>
              <a:rPr sz="2400" dirty="0">
                <a:latin typeface="+mn-lt"/>
                <a:cs typeface="Calibri"/>
              </a:rPr>
              <a:t>Add</a:t>
            </a:r>
            <a:r>
              <a:rPr sz="2400" spc="-35" dirty="0">
                <a:latin typeface="+mn-lt"/>
                <a:cs typeface="Calibri"/>
              </a:rPr>
              <a:t> </a:t>
            </a:r>
            <a:r>
              <a:rPr lang="en-US" sz="2400" dirty="0">
                <a:latin typeface="+mn-lt"/>
                <a:cs typeface="Calibri"/>
              </a:rPr>
              <a:t>a </a:t>
            </a:r>
            <a:r>
              <a:rPr lang="en-US" sz="2400" dirty="0">
                <a:solidFill>
                  <a:srgbClr val="C00000"/>
                </a:solidFill>
                <a:latin typeface="+mn-lt"/>
                <a:cs typeface="Calibri"/>
              </a:rPr>
              <a:t>Feed Forward Neural Network</a:t>
            </a:r>
            <a:r>
              <a:rPr sz="2400" spc="-35" dirty="0">
                <a:solidFill>
                  <a:srgbClr val="C00000"/>
                </a:solidFill>
                <a:latin typeface="+mn-lt"/>
                <a:cs typeface="Calibri"/>
              </a:rPr>
              <a:t> </a:t>
            </a:r>
            <a:r>
              <a:rPr lang="en-US" sz="2400" spc="-35" dirty="0">
                <a:latin typeface="+mn-lt"/>
                <a:cs typeface="Calibri"/>
              </a:rPr>
              <a:t>contains </a:t>
            </a:r>
            <a:r>
              <a:rPr lang="en-US" sz="2400" spc="-35" dirty="0">
                <a:solidFill>
                  <a:srgbClr val="C00000"/>
                </a:solidFill>
                <a:latin typeface="+mn-lt"/>
                <a:cs typeface="Calibri"/>
              </a:rPr>
              <a:t>non-linear</a:t>
            </a:r>
            <a:r>
              <a:rPr lang="en-US" sz="2400" spc="-35" dirty="0">
                <a:latin typeface="+mn-lt"/>
                <a:cs typeface="Calibri"/>
              </a:rPr>
              <a:t> </a:t>
            </a:r>
            <a:r>
              <a:rPr lang="en-US" sz="2400" spc="-35" dirty="0">
                <a:solidFill>
                  <a:srgbClr val="C00000"/>
                </a:solidFill>
                <a:latin typeface="+mn-lt"/>
                <a:cs typeface="Calibri"/>
              </a:rPr>
              <a:t>activation</a:t>
            </a:r>
            <a:r>
              <a:rPr lang="en-US" sz="2400" spc="-35" dirty="0">
                <a:latin typeface="+mn-lt"/>
                <a:cs typeface="Calibri"/>
              </a:rPr>
              <a:t> function</a:t>
            </a:r>
            <a:r>
              <a:rPr lang="en-US" sz="2400" dirty="0">
                <a:latin typeface="+mn-lt"/>
                <a:cs typeface="Calibri"/>
              </a:rPr>
              <a:t> </a:t>
            </a:r>
            <a:endParaRPr sz="2400" baseline="-19713" dirty="0">
              <a:latin typeface="+mn-lt"/>
              <a:cs typeface="Times New Roman"/>
            </a:endParaRPr>
          </a:p>
          <a:p>
            <a:pPr marL="431800" lvl="1">
              <a:spcBef>
                <a:spcPts val="385"/>
              </a:spcBef>
              <a:buSzPct val="93023"/>
              <a:tabLst>
                <a:tab pos="631825" algn="l"/>
              </a:tabLst>
            </a:pPr>
            <a:r>
              <a:rPr lang="en-US" sz="2400" i="1" dirty="0">
                <a:latin typeface="+mn-lt"/>
                <a:cs typeface="Times New Roman"/>
              </a:rPr>
              <a:t> </a:t>
            </a:r>
            <a:endParaRPr sz="2400" baseline="-19713" dirty="0">
              <a:latin typeface="+mn-lt"/>
              <a:cs typeface="Cambria"/>
            </a:endParaRPr>
          </a:p>
        </p:txBody>
      </p:sp>
      <p:pic>
        <p:nvPicPr>
          <p:cNvPr id="4" name="object 4"/>
          <p:cNvPicPr/>
          <p:nvPr/>
        </p:nvPicPr>
        <p:blipFill>
          <a:blip r:embed="rId2" cstate="print"/>
          <a:stretch>
            <a:fillRect/>
          </a:stretch>
        </p:blipFill>
        <p:spPr>
          <a:xfrm>
            <a:off x="8803722" y="4726166"/>
            <a:ext cx="2610866" cy="1991319"/>
          </a:xfrm>
          <a:prstGeom prst="rect">
            <a:avLst/>
          </a:prstGeom>
        </p:spPr>
      </p:pic>
      <p:sp>
        <p:nvSpPr>
          <p:cNvPr id="6" name="TextBox 5">
            <a:extLst>
              <a:ext uri="{FF2B5EF4-FFF2-40B4-BE49-F238E27FC236}">
                <a16:creationId xmlns:a16="http://schemas.microsoft.com/office/drawing/2014/main" id="{8AB2601C-663A-5D9C-47F6-18E9467052F3}"/>
              </a:ext>
            </a:extLst>
          </p:cNvPr>
          <p:cNvSpPr txBox="1"/>
          <p:nvPr/>
        </p:nvSpPr>
        <p:spPr>
          <a:xfrm>
            <a:off x="1225863" y="4647147"/>
            <a:ext cx="7081462" cy="101566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2000" dirty="0"/>
              <a:t>Each FF typically consists of </a:t>
            </a:r>
            <a:r>
              <a:rPr lang="en-US" altLang="en-US" sz="2000" dirty="0">
                <a:solidFill>
                  <a:srgbClr val="C00000"/>
                </a:solidFill>
              </a:rPr>
              <a:t>two</a:t>
            </a:r>
            <a:r>
              <a:rPr lang="en-US" altLang="en-US" sz="2000" dirty="0"/>
              <a:t> fully connected layers </a:t>
            </a:r>
            <a:r>
              <a:rPr lang="en-US" altLang="en-US" sz="2000" dirty="0">
                <a:solidFill>
                  <a:srgbClr val="C00000"/>
                </a:solidFill>
              </a:rPr>
              <a:t>one</a:t>
            </a:r>
            <a:r>
              <a:rPr lang="en-US" altLang="en-US" sz="2000" dirty="0"/>
              <a:t> layer as </a:t>
            </a:r>
            <a:r>
              <a:rPr lang="en-US" altLang="en-US" sz="2000" dirty="0">
                <a:solidFill>
                  <a:srgbClr val="C00000"/>
                </a:solidFill>
              </a:rPr>
              <a:t>hidden</a:t>
            </a:r>
            <a:r>
              <a:rPr lang="en-US" altLang="en-US" sz="2000" dirty="0"/>
              <a:t> layer with activation and output layer without activation:</a:t>
            </a:r>
            <a:endParaRPr lang="en-US" altLang="en-US" sz="3200" dirty="0"/>
          </a:p>
          <a:p>
            <a:pPr marL="457200" lvl="1" indent="0" eaLnBrk="0" hangingPunct="0">
              <a:lnSpc>
                <a:spcPct val="100000"/>
              </a:lnSpc>
              <a:spcBef>
                <a:spcPct val="0"/>
              </a:spcBef>
              <a:buNone/>
            </a:pPr>
            <a:r>
              <a:rPr lang="en-US" altLang="en-US" sz="2000" dirty="0"/>
              <a:t>FFN(x)=</a:t>
            </a:r>
            <a:r>
              <a:rPr lang="en-US" altLang="en-US" sz="2000" dirty="0">
                <a:solidFill>
                  <a:srgbClr val="C00000"/>
                </a:solidFill>
              </a:rPr>
              <a:t>GELU</a:t>
            </a:r>
            <a:r>
              <a:rPr lang="en-US" altLang="en-US" sz="2000" dirty="0"/>
              <a:t>(xW1+b1)W2+b2 </a:t>
            </a:r>
          </a:p>
        </p:txBody>
      </p:sp>
      <p:sp>
        <p:nvSpPr>
          <p:cNvPr id="8" name="TextBox 7">
            <a:extLst>
              <a:ext uri="{FF2B5EF4-FFF2-40B4-BE49-F238E27FC236}">
                <a16:creationId xmlns:a16="http://schemas.microsoft.com/office/drawing/2014/main" id="{179C5077-0E4F-F925-B2D9-354AE270633C}"/>
              </a:ext>
            </a:extLst>
          </p:cNvPr>
          <p:cNvSpPr txBox="1"/>
          <p:nvPr/>
        </p:nvSpPr>
        <p:spPr>
          <a:xfrm>
            <a:off x="1055671" y="2762893"/>
            <a:ext cx="6097712" cy="646331"/>
          </a:xfrm>
          <a:prstGeom prst="rect">
            <a:avLst/>
          </a:prstGeom>
          <a:noFill/>
        </p:spPr>
        <p:txBody>
          <a:bodyPr wrap="square">
            <a:spAutoFit/>
          </a:bodyPr>
          <a:lstStyle/>
          <a:p>
            <a:r>
              <a:rPr lang="en-US" sz="1800" dirty="0">
                <a:latin typeface="Calibri"/>
                <a:cs typeface="Calibri"/>
              </a:rPr>
              <a:t>Example of </a:t>
            </a:r>
            <a:r>
              <a:rPr lang="en-US" sz="1800" dirty="0">
                <a:solidFill>
                  <a:srgbClr val="C00000"/>
                </a:solidFill>
                <a:latin typeface="Calibri"/>
                <a:cs typeface="Calibri"/>
              </a:rPr>
              <a:t>linear</a:t>
            </a:r>
            <a:r>
              <a:rPr lang="en-US" sz="1800" dirty="0">
                <a:latin typeface="Calibri"/>
                <a:cs typeface="Calibri"/>
              </a:rPr>
              <a:t> combination:</a:t>
            </a:r>
          </a:p>
          <a:p>
            <a:r>
              <a:rPr lang="en-US" sz="1800" dirty="0">
                <a:latin typeface="Calibri"/>
                <a:cs typeface="Calibri"/>
              </a:rPr>
              <a:t>E(monarch) </a:t>
            </a:r>
            <a:r>
              <a:rPr lang="en-US" sz="1800" dirty="0">
                <a:latin typeface="Calibri"/>
                <a:cs typeface="Calibri"/>
                <a:sym typeface="Wingdings" panose="05000000000000000000" pitchFamily="2" charset="2"/>
              </a:rPr>
              <a:t></a:t>
            </a:r>
            <a:r>
              <a:rPr lang="en-US" sz="1800" dirty="0">
                <a:latin typeface="Calibri"/>
                <a:cs typeface="Calibri"/>
              </a:rPr>
              <a:t> E(monarch) + 0.7 V(female) + 0.3V(princess)</a:t>
            </a:r>
            <a:endParaRPr lang="en-US" dirty="0"/>
          </a:p>
        </p:txBody>
      </p:sp>
      <p:pic>
        <p:nvPicPr>
          <p:cNvPr id="9" name="Picture 8">
            <a:extLst>
              <a:ext uri="{FF2B5EF4-FFF2-40B4-BE49-F238E27FC236}">
                <a16:creationId xmlns:a16="http://schemas.microsoft.com/office/drawing/2014/main" id="{DA7281C9-DE8E-246A-5BB3-30C98A7D9ECC}"/>
              </a:ext>
            </a:extLst>
          </p:cNvPr>
          <p:cNvPicPr>
            <a:picLocks noChangeAspect="1"/>
          </p:cNvPicPr>
          <p:nvPr/>
        </p:nvPicPr>
        <p:blipFill>
          <a:blip r:embed="rId3"/>
          <a:stretch>
            <a:fillRect/>
          </a:stretch>
        </p:blipFill>
        <p:spPr>
          <a:xfrm>
            <a:off x="7479587" y="2299418"/>
            <a:ext cx="4088044" cy="1315952"/>
          </a:xfrm>
          <a:prstGeom prst="rect">
            <a:avLst/>
          </a:prstGeom>
        </p:spPr>
      </p:pic>
      <p:sp>
        <p:nvSpPr>
          <p:cNvPr id="10" name="TextBox 9">
            <a:extLst>
              <a:ext uri="{FF2B5EF4-FFF2-40B4-BE49-F238E27FC236}">
                <a16:creationId xmlns:a16="http://schemas.microsoft.com/office/drawing/2014/main" id="{CBF94657-E47C-9225-CA2D-E78B8B73F765}"/>
              </a:ext>
            </a:extLst>
          </p:cNvPr>
          <p:cNvSpPr txBox="1"/>
          <p:nvPr/>
        </p:nvSpPr>
        <p:spPr>
          <a:xfrm>
            <a:off x="1333073" y="5963257"/>
            <a:ext cx="6639673" cy="707886"/>
          </a:xfrm>
          <a:prstGeom prst="rect">
            <a:avLst/>
          </a:prstGeom>
          <a:noFill/>
        </p:spPr>
        <p:txBody>
          <a:bodyPr wrap="square">
            <a:spAutoFit/>
          </a:bodyPr>
          <a:lstStyle/>
          <a:p>
            <a:r>
              <a:rPr lang="en-US" sz="2000" dirty="0"/>
              <a:t>In a dense Transformer (not </a:t>
            </a:r>
            <a:r>
              <a:rPr lang="en-US" sz="2000" dirty="0" err="1"/>
              <a:t>MoE</a:t>
            </a:r>
            <a:r>
              <a:rPr lang="en-US" sz="2000" dirty="0"/>
              <a:t>), the feed-forward (FF) layer parameters are the </a:t>
            </a:r>
            <a:r>
              <a:rPr lang="en-US" sz="2000" dirty="0">
                <a:solidFill>
                  <a:srgbClr val="C00000"/>
                </a:solidFill>
              </a:rPr>
              <a:t>same</a:t>
            </a:r>
            <a:r>
              <a:rPr lang="en-US" sz="2000" dirty="0"/>
              <a:t> for all token within </a:t>
            </a:r>
            <a:r>
              <a:rPr lang="en-US" sz="2000" dirty="0">
                <a:solidFill>
                  <a:srgbClr val="C00000"/>
                </a:solidFill>
              </a:rPr>
              <a:t>one block </a:t>
            </a:r>
          </a:p>
        </p:txBody>
      </p:sp>
      <p:sp>
        <p:nvSpPr>
          <p:cNvPr id="12" name="Rectangle: Rounded Corners 11">
            <a:extLst>
              <a:ext uri="{FF2B5EF4-FFF2-40B4-BE49-F238E27FC236}">
                <a16:creationId xmlns:a16="http://schemas.microsoft.com/office/drawing/2014/main" id="{9064A4E4-ADAD-E183-AAEF-855B7182AD1A}"/>
              </a:ext>
            </a:extLst>
          </p:cNvPr>
          <p:cNvSpPr/>
          <p:nvPr/>
        </p:nvSpPr>
        <p:spPr>
          <a:xfrm>
            <a:off x="8568647" y="5630238"/>
            <a:ext cx="2845941" cy="287677"/>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Arrow Connector 13">
            <a:extLst>
              <a:ext uri="{FF2B5EF4-FFF2-40B4-BE49-F238E27FC236}">
                <a16:creationId xmlns:a16="http://schemas.microsoft.com/office/drawing/2014/main" id="{26C2BA27-4112-471A-1671-5D75F3A63F86}"/>
              </a:ext>
            </a:extLst>
          </p:cNvPr>
          <p:cNvCxnSpPr>
            <a:stCxn id="10" idx="3"/>
            <a:endCxn id="12" idx="1"/>
          </p:cNvCxnSpPr>
          <p:nvPr/>
        </p:nvCxnSpPr>
        <p:spPr>
          <a:xfrm flipV="1">
            <a:off x="7972746" y="5774077"/>
            <a:ext cx="595901" cy="54312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CF598-4BF5-AEF7-EB85-6673F4DA6D15}"/>
              </a:ext>
            </a:extLst>
          </p:cNvPr>
          <p:cNvSpPr>
            <a:spLocks noGrp="1"/>
          </p:cNvSpPr>
          <p:nvPr>
            <p:ph type="title"/>
          </p:nvPr>
        </p:nvSpPr>
        <p:spPr/>
        <p:txBody>
          <a:bodyPr/>
          <a:lstStyle/>
          <a:p>
            <a:r>
              <a:rPr lang="en-US" dirty="0"/>
              <a:t>Feed-Froward Layer</a:t>
            </a:r>
          </a:p>
        </p:txBody>
      </p:sp>
      <p:sp>
        <p:nvSpPr>
          <p:cNvPr id="3" name="Content Placeholder 2">
            <a:extLst>
              <a:ext uri="{FF2B5EF4-FFF2-40B4-BE49-F238E27FC236}">
                <a16:creationId xmlns:a16="http://schemas.microsoft.com/office/drawing/2014/main" id="{6FA92BA4-3717-8A2A-53F1-48FF342E356D}"/>
              </a:ext>
            </a:extLst>
          </p:cNvPr>
          <p:cNvSpPr>
            <a:spLocks noGrp="1"/>
          </p:cNvSpPr>
          <p:nvPr>
            <p:ph idx="1"/>
          </p:nvPr>
        </p:nvSpPr>
        <p:spPr>
          <a:xfrm>
            <a:off x="838200" y="1556321"/>
            <a:ext cx="8542106" cy="4351338"/>
          </a:xfrm>
        </p:spPr>
        <p:txBody>
          <a:bodyPr/>
          <a:lstStyle/>
          <a:p>
            <a:pPr eaLnBrk="0" hangingPunct="0">
              <a:lnSpc>
                <a:spcPct val="100000"/>
              </a:lnSpc>
              <a:spcBef>
                <a:spcPct val="0"/>
              </a:spcBef>
            </a:pPr>
            <a:r>
              <a:rPr lang="en-US" altLang="en-US" sz="2400" dirty="0"/>
              <a:t>After each self-attention block, all </a:t>
            </a:r>
            <a:r>
              <a:rPr lang="en-US" altLang="en-US" sz="2400" dirty="0">
                <a:solidFill>
                  <a:srgbClr val="C00000"/>
                </a:solidFill>
              </a:rPr>
              <a:t>embeddings</a:t>
            </a:r>
            <a:r>
              <a:rPr lang="en-US" altLang="en-US" sz="2400" dirty="0"/>
              <a:t> are processed </a:t>
            </a:r>
            <a:r>
              <a:rPr lang="en-US" altLang="en-US" sz="2400" dirty="0">
                <a:solidFill>
                  <a:srgbClr val="C00000"/>
                </a:solidFill>
              </a:rPr>
              <a:t>separately</a:t>
            </a:r>
            <a:r>
              <a:rPr lang="en-US" altLang="en-US" sz="2400" dirty="0"/>
              <a:t> using an FF network in </a:t>
            </a:r>
            <a:r>
              <a:rPr lang="en-US" altLang="en-US" sz="2400" dirty="0">
                <a:solidFill>
                  <a:srgbClr val="C00000"/>
                </a:solidFill>
              </a:rPr>
              <a:t>parallel </a:t>
            </a:r>
            <a:r>
              <a:rPr lang="en-US" altLang="en-US" sz="2400" dirty="0"/>
              <a:t>(matrix operation)</a:t>
            </a:r>
          </a:p>
          <a:p>
            <a:pPr eaLnBrk="0" hangingPunct="0">
              <a:lnSpc>
                <a:spcPct val="100000"/>
              </a:lnSpc>
              <a:spcBef>
                <a:spcPct val="0"/>
              </a:spcBef>
            </a:pPr>
            <a:r>
              <a:rPr lang="en-US" altLang="en-US" sz="2400" dirty="0"/>
              <a:t>The first transformation </a:t>
            </a:r>
            <a:r>
              <a:rPr lang="en-US" altLang="en-US" sz="2400" dirty="0">
                <a:solidFill>
                  <a:srgbClr val="C00000"/>
                </a:solidFill>
              </a:rPr>
              <a:t>expands the dimensionality </a:t>
            </a:r>
            <a:r>
              <a:rPr lang="en-US" altLang="en-US" sz="2400" dirty="0"/>
              <a:t>of the input (e.g., 4 to 8 times) to </a:t>
            </a:r>
            <a:r>
              <a:rPr lang="en-US" altLang="en-US" sz="2400" dirty="0">
                <a:solidFill>
                  <a:srgbClr val="C00000"/>
                </a:solidFill>
              </a:rPr>
              <a:t>decode complex </a:t>
            </a:r>
            <a:r>
              <a:rPr lang="en-US" altLang="en-US" sz="2400" dirty="0"/>
              <a:t>features in embeddings</a:t>
            </a:r>
          </a:p>
          <a:p>
            <a:pPr eaLnBrk="0" hangingPunct="0">
              <a:lnSpc>
                <a:spcPct val="100000"/>
              </a:lnSpc>
              <a:spcBef>
                <a:spcPct val="0"/>
              </a:spcBef>
            </a:pPr>
            <a:r>
              <a:rPr lang="en-US" altLang="en-US" sz="2400" dirty="0"/>
              <a:t> The second transformation </a:t>
            </a:r>
            <a:r>
              <a:rPr lang="en-US" altLang="en-US" sz="2400" dirty="0">
                <a:solidFill>
                  <a:srgbClr val="C00000"/>
                </a:solidFill>
              </a:rPr>
              <a:t>reduces the dimensionality </a:t>
            </a:r>
            <a:r>
              <a:rPr lang="en-US" altLang="en-US" sz="2400" dirty="0"/>
              <a:t>back to the original size (encodes features in embedding)</a:t>
            </a:r>
          </a:p>
          <a:p>
            <a:r>
              <a:rPr lang="en-US" sz="2400" dirty="0"/>
              <a:t>FF layer usually has about </a:t>
            </a:r>
            <a:r>
              <a:rPr lang="en-US" sz="2400" dirty="0">
                <a:solidFill>
                  <a:srgbClr val="C00000"/>
                </a:solidFill>
              </a:rPr>
              <a:t>twice parameters </a:t>
            </a:r>
            <a:r>
              <a:rPr lang="en-US" sz="2400" dirty="0"/>
              <a:t>as the entire multi-head </a:t>
            </a:r>
            <a:r>
              <a:rPr lang="en-US" sz="2400" dirty="0">
                <a:solidFill>
                  <a:srgbClr val="C00000"/>
                </a:solidFill>
              </a:rPr>
              <a:t>attention</a:t>
            </a:r>
            <a:r>
              <a:rPr lang="en-US" sz="2400" dirty="0"/>
              <a:t> block (</a:t>
            </a:r>
            <a:r>
              <a:rPr lang="en-US" sz="2400" dirty="0">
                <a:solidFill>
                  <a:srgbClr val="C00000"/>
                </a:solidFill>
              </a:rPr>
              <a:t>majority of parameters </a:t>
            </a:r>
            <a:r>
              <a:rPr lang="en-US" sz="2400" dirty="0"/>
              <a:t>in transformers)</a:t>
            </a:r>
          </a:p>
          <a:p>
            <a:r>
              <a:rPr lang="en-US" sz="2400" dirty="0"/>
              <a:t>Due to </a:t>
            </a:r>
            <a:r>
              <a:rPr lang="en-US" sz="2400" dirty="0">
                <a:solidFill>
                  <a:srgbClr val="C00000"/>
                </a:solidFill>
              </a:rPr>
              <a:t>huge number </a:t>
            </a:r>
            <a:r>
              <a:rPr lang="en-US" sz="2400" dirty="0"/>
              <a:t>of parameters and </a:t>
            </a:r>
            <a:r>
              <a:rPr lang="en-US" sz="2400" dirty="0">
                <a:solidFill>
                  <a:srgbClr val="C00000"/>
                </a:solidFill>
              </a:rPr>
              <a:t>non-linear</a:t>
            </a:r>
            <a:r>
              <a:rPr lang="en-US" sz="2400" dirty="0"/>
              <a:t> nature (like real-world relationships), most </a:t>
            </a:r>
            <a:r>
              <a:rPr lang="en-US" sz="2400" dirty="0">
                <a:solidFill>
                  <a:srgbClr val="C00000"/>
                </a:solidFill>
              </a:rPr>
              <a:t>factual</a:t>
            </a:r>
            <a:r>
              <a:rPr lang="en-US" sz="2400" dirty="0"/>
              <a:t> info is </a:t>
            </a:r>
            <a:r>
              <a:rPr lang="en-US" sz="2400" dirty="0">
                <a:solidFill>
                  <a:srgbClr val="C00000"/>
                </a:solidFill>
              </a:rPr>
              <a:t>memorized</a:t>
            </a:r>
            <a:r>
              <a:rPr lang="en-US" sz="2400" dirty="0"/>
              <a:t> in FF</a:t>
            </a:r>
          </a:p>
          <a:p>
            <a:r>
              <a:rPr lang="en-US" sz="2400" dirty="0"/>
              <a:t>Some studies show FF layer is like a </a:t>
            </a:r>
            <a:r>
              <a:rPr lang="en-US" sz="2400" dirty="0">
                <a:solidFill>
                  <a:srgbClr val="C00000"/>
                </a:solidFill>
              </a:rPr>
              <a:t>key–value memory system </a:t>
            </a:r>
            <a:r>
              <a:rPr lang="en-US" sz="2400" dirty="0"/>
              <a:t>(input tokens as query, W</a:t>
            </a:r>
            <a:r>
              <a:rPr lang="en-US" sz="1600" dirty="0"/>
              <a:t>1</a:t>
            </a:r>
            <a:r>
              <a:rPr lang="en-US" sz="2400" dirty="0"/>
              <a:t> as key, W</a:t>
            </a:r>
            <a:r>
              <a:rPr lang="en-US" sz="1600" dirty="0"/>
              <a:t>2</a:t>
            </a:r>
            <a:r>
              <a:rPr lang="en-US" sz="2400" dirty="0"/>
              <a:t> as value, and activation as similarity matching).</a:t>
            </a:r>
            <a:endParaRPr lang="en-US" altLang="en-US" sz="2400" dirty="0"/>
          </a:p>
          <a:p>
            <a:pPr marL="0" indent="0">
              <a:buNone/>
            </a:pPr>
            <a:r>
              <a:rPr lang="en-US" sz="2400" dirty="0"/>
              <a:t>   </a:t>
            </a:r>
          </a:p>
          <a:p>
            <a:endParaRPr lang="en-US" sz="2400" dirty="0"/>
          </a:p>
        </p:txBody>
      </p:sp>
      <p:sp>
        <p:nvSpPr>
          <p:cNvPr id="6" name="TextBox 5">
            <a:extLst>
              <a:ext uri="{FF2B5EF4-FFF2-40B4-BE49-F238E27FC236}">
                <a16:creationId xmlns:a16="http://schemas.microsoft.com/office/drawing/2014/main" id="{88F88A6C-9AD2-3F25-32D7-DC3D32DC3E01}"/>
              </a:ext>
            </a:extLst>
          </p:cNvPr>
          <p:cNvSpPr txBox="1"/>
          <p:nvPr/>
        </p:nvSpPr>
        <p:spPr>
          <a:xfrm>
            <a:off x="9380306" y="4471856"/>
            <a:ext cx="2889606" cy="2308324"/>
          </a:xfrm>
          <a:prstGeom prst="rect">
            <a:avLst/>
          </a:prstGeom>
          <a:noFill/>
        </p:spPr>
        <p:txBody>
          <a:bodyPr wrap="square">
            <a:spAutoFit/>
          </a:bodyPr>
          <a:lstStyle/>
          <a:p>
            <a:r>
              <a:rPr lang="en-US" dirty="0"/>
              <a:t>k2 in is triggered by inputs that describe a period of time and end with “a”.  the corresponding value v2 represents a distribution that puts most of its probability mass on the word “while”</a:t>
            </a:r>
          </a:p>
        </p:txBody>
      </p:sp>
      <p:sp>
        <p:nvSpPr>
          <p:cNvPr id="8" name="TextBox 7">
            <a:extLst>
              <a:ext uri="{FF2B5EF4-FFF2-40B4-BE49-F238E27FC236}">
                <a16:creationId xmlns:a16="http://schemas.microsoft.com/office/drawing/2014/main" id="{E4EC1F7D-0AE2-36C5-1666-FF3BFD619B4F}"/>
              </a:ext>
            </a:extLst>
          </p:cNvPr>
          <p:cNvSpPr txBox="1"/>
          <p:nvPr/>
        </p:nvSpPr>
        <p:spPr>
          <a:xfrm>
            <a:off x="7456470" y="6549348"/>
            <a:ext cx="2427269" cy="230832"/>
          </a:xfrm>
          <a:prstGeom prst="rect">
            <a:avLst/>
          </a:prstGeom>
          <a:noFill/>
        </p:spPr>
        <p:txBody>
          <a:bodyPr wrap="square">
            <a:spAutoFit/>
          </a:bodyPr>
          <a:lstStyle/>
          <a:p>
            <a:r>
              <a:rPr lang="en-US" sz="900" dirty="0"/>
              <a:t>https://arxiv.org/pdf/2012.14913</a:t>
            </a:r>
          </a:p>
        </p:txBody>
      </p:sp>
      <p:pic>
        <p:nvPicPr>
          <p:cNvPr id="10" name="Picture 9">
            <a:extLst>
              <a:ext uri="{FF2B5EF4-FFF2-40B4-BE49-F238E27FC236}">
                <a16:creationId xmlns:a16="http://schemas.microsoft.com/office/drawing/2014/main" id="{9D9552FE-A5A4-B40D-73FF-2BBEB287D711}"/>
              </a:ext>
            </a:extLst>
          </p:cNvPr>
          <p:cNvPicPr>
            <a:picLocks noChangeAspect="1"/>
          </p:cNvPicPr>
          <p:nvPr/>
        </p:nvPicPr>
        <p:blipFill>
          <a:blip r:embed="rId2"/>
          <a:stretch>
            <a:fillRect/>
          </a:stretch>
        </p:blipFill>
        <p:spPr>
          <a:xfrm>
            <a:off x="9380306" y="1491300"/>
            <a:ext cx="2615950" cy="2781168"/>
          </a:xfrm>
          <a:prstGeom prst="rect">
            <a:avLst/>
          </a:prstGeom>
        </p:spPr>
      </p:pic>
    </p:spTree>
    <p:extLst>
      <p:ext uri="{BB962C8B-B14F-4D97-AF65-F5344CB8AC3E}">
        <p14:creationId xmlns:p14="http://schemas.microsoft.com/office/powerpoint/2010/main" val="2355185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94ECC-14C1-9E3A-59C0-02805D806387}"/>
              </a:ext>
            </a:extLst>
          </p:cNvPr>
          <p:cNvSpPr>
            <a:spLocks noGrp="1"/>
          </p:cNvSpPr>
          <p:nvPr>
            <p:ph type="title"/>
          </p:nvPr>
        </p:nvSpPr>
        <p:spPr>
          <a:xfrm>
            <a:off x="660550" y="679916"/>
            <a:ext cx="10435540" cy="461665"/>
          </a:xfrm>
        </p:spPr>
        <p:txBody>
          <a:bodyPr/>
          <a:lstStyle/>
          <a:p>
            <a:r>
              <a:rPr lang="en-US" dirty="0"/>
              <a:t>Masked</a:t>
            </a:r>
            <a:r>
              <a:rPr lang="en-US" spc="-135" dirty="0"/>
              <a:t> </a:t>
            </a:r>
            <a:r>
              <a:rPr lang="en-US" spc="-10" dirty="0"/>
              <a:t>Attention for Text Generation</a:t>
            </a:r>
            <a:endParaRPr lang="en-US" dirty="0"/>
          </a:p>
        </p:txBody>
      </p:sp>
      <p:sp>
        <p:nvSpPr>
          <p:cNvPr id="4" name="Rectangle 1">
            <a:extLst>
              <a:ext uri="{FF2B5EF4-FFF2-40B4-BE49-F238E27FC236}">
                <a16:creationId xmlns:a16="http://schemas.microsoft.com/office/drawing/2014/main" id="{A4B2E71F-EA03-F451-72D7-34FA5E0E1C81}"/>
              </a:ext>
            </a:extLst>
          </p:cNvPr>
          <p:cNvSpPr>
            <a:spLocks noGrp="1" noChangeArrowheads="1"/>
          </p:cNvSpPr>
          <p:nvPr>
            <p:ph type="body" idx="1"/>
          </p:nvPr>
        </p:nvSpPr>
        <p:spPr bwMode="auto">
          <a:xfrm>
            <a:off x="750013" y="1419926"/>
            <a:ext cx="11126913" cy="2529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hangingPunct="0">
              <a:lnSpc>
                <a:spcPct val="100000"/>
              </a:lnSpc>
              <a:spcBef>
                <a:spcPct val="0"/>
              </a:spcBef>
              <a:buNone/>
            </a:pPr>
            <a:r>
              <a:rPr lang="en-US" altLang="en-US" sz="2400" dirty="0"/>
              <a:t>In </a:t>
            </a:r>
            <a:r>
              <a:rPr lang="en-US" altLang="en-US" sz="2400" dirty="0">
                <a:solidFill>
                  <a:srgbClr val="C00000"/>
                </a:solidFill>
              </a:rPr>
              <a:t>autoregressive</a:t>
            </a:r>
            <a:r>
              <a:rPr lang="en-US" altLang="en-US" sz="2400" dirty="0"/>
              <a:t> text generation, the </a:t>
            </a:r>
            <a:r>
              <a:rPr lang="en-US" altLang="en-US" sz="2400" dirty="0">
                <a:solidFill>
                  <a:srgbClr val="C00000"/>
                </a:solidFill>
              </a:rPr>
              <a:t>decoder</a:t>
            </a:r>
            <a:r>
              <a:rPr lang="en-US" altLang="en-US" sz="2400" dirty="0"/>
              <a:t> model generates one token at a time by considering previous tokens. During </a:t>
            </a:r>
            <a:r>
              <a:rPr lang="en-US" altLang="en-US" sz="2400" dirty="0">
                <a:solidFill>
                  <a:srgbClr val="C00000"/>
                </a:solidFill>
              </a:rPr>
              <a:t>training</a:t>
            </a:r>
            <a:r>
              <a:rPr lang="en-US" altLang="en-US" sz="2400" dirty="0"/>
              <a:t>, the model should </a:t>
            </a:r>
            <a:r>
              <a:rPr lang="en-US" altLang="en-US" sz="2400" dirty="0">
                <a:solidFill>
                  <a:srgbClr val="C00000"/>
                </a:solidFill>
              </a:rPr>
              <a:t>not look ahead </a:t>
            </a:r>
            <a:r>
              <a:rPr lang="en-US" altLang="en-US" sz="2400" dirty="0"/>
              <a:t>at future tokens when making predictions about the current token:</a:t>
            </a:r>
          </a:p>
          <a:p>
            <a:pPr algn="l" rtl="0" eaLnBrk="0" fontAlgn="base" hangingPunct="0">
              <a:spcBef>
                <a:spcPct val="0"/>
              </a:spcBef>
              <a:spcAft>
                <a:spcPct val="0"/>
              </a:spcAft>
              <a:buFontTx/>
              <a:buChar char="•"/>
            </a:pPr>
            <a:r>
              <a:rPr lang="en-US" altLang="en-US" sz="2400" dirty="0"/>
              <a:t>A </a:t>
            </a:r>
            <a:r>
              <a:rPr lang="en-US" altLang="en-US" sz="2400" dirty="0">
                <a:solidFill>
                  <a:srgbClr val="C00000"/>
                </a:solidFill>
              </a:rPr>
              <a:t>mask</a:t>
            </a:r>
            <a:r>
              <a:rPr lang="en-US" altLang="en-US" sz="2400" dirty="0"/>
              <a:t> is applied to the attention mechanism, ensuring that the model only attends to </a:t>
            </a:r>
            <a:r>
              <a:rPr lang="en-US" altLang="en-US" sz="2400" dirty="0">
                <a:solidFill>
                  <a:srgbClr val="C00000"/>
                </a:solidFill>
              </a:rPr>
              <a:t>previous</a:t>
            </a:r>
            <a:r>
              <a:rPr lang="en-US" altLang="en-US" sz="2400" dirty="0"/>
              <a:t> tokens, but not any future ones. </a:t>
            </a:r>
          </a:p>
          <a:p>
            <a:pPr eaLnBrk="0" hangingPunct="0">
              <a:spcBef>
                <a:spcPct val="0"/>
              </a:spcBef>
              <a:buFontTx/>
              <a:buChar char="•"/>
            </a:pPr>
            <a:r>
              <a:rPr lang="en-US" altLang="en-US" sz="2400" dirty="0"/>
              <a:t>To realize mask, a matrix with very </a:t>
            </a:r>
            <a:r>
              <a:rPr lang="en-US" altLang="en-US" sz="2400" dirty="0">
                <a:solidFill>
                  <a:srgbClr val="C00000"/>
                </a:solidFill>
              </a:rPr>
              <a:t>large negative scores </a:t>
            </a:r>
            <a:r>
              <a:rPr lang="en-US" altLang="en-US" sz="2400" dirty="0"/>
              <a:t>for</a:t>
            </a:r>
            <a:r>
              <a:rPr lang="en-US" altLang="en-US" sz="2400" dirty="0">
                <a:solidFill>
                  <a:srgbClr val="C00000"/>
                </a:solidFill>
              </a:rPr>
              <a:t> future token </a:t>
            </a:r>
            <a:r>
              <a:rPr lang="en-US" altLang="en-US" sz="2400" dirty="0"/>
              <a:t>positions is added to relevance scores, </a:t>
            </a:r>
            <a:r>
              <a:rPr lang="en-US" altLang="en-US" sz="2400" dirty="0">
                <a:solidFill>
                  <a:srgbClr val="C00000"/>
                </a:solidFill>
              </a:rPr>
              <a:t>preventing</a:t>
            </a:r>
            <a:r>
              <a:rPr lang="en-US" altLang="en-US" sz="2400" dirty="0"/>
              <a:t> them from </a:t>
            </a:r>
            <a:r>
              <a:rPr lang="en-US" altLang="en-US" sz="2400" dirty="0">
                <a:solidFill>
                  <a:srgbClr val="C00000"/>
                </a:solidFill>
              </a:rPr>
              <a:t>attending</a:t>
            </a:r>
            <a:r>
              <a:rPr lang="en-US" altLang="en-US" sz="2400" dirty="0"/>
              <a:t> to other tokens (mask).</a:t>
            </a:r>
          </a:p>
        </p:txBody>
      </p:sp>
      <p:pic>
        <p:nvPicPr>
          <p:cNvPr id="7" name="Picture 6">
            <a:extLst>
              <a:ext uri="{FF2B5EF4-FFF2-40B4-BE49-F238E27FC236}">
                <a16:creationId xmlns:a16="http://schemas.microsoft.com/office/drawing/2014/main" id="{885F2197-C82C-D953-7797-23E487CBC2CF}"/>
              </a:ext>
            </a:extLst>
          </p:cNvPr>
          <p:cNvPicPr>
            <a:picLocks noChangeAspect="1"/>
          </p:cNvPicPr>
          <p:nvPr/>
        </p:nvPicPr>
        <p:blipFill>
          <a:blip r:embed="rId2"/>
          <a:stretch>
            <a:fillRect/>
          </a:stretch>
        </p:blipFill>
        <p:spPr>
          <a:xfrm>
            <a:off x="6002548" y="3949849"/>
            <a:ext cx="5439439" cy="2752302"/>
          </a:xfrm>
          <a:prstGeom prst="rect">
            <a:avLst/>
          </a:prstGeom>
        </p:spPr>
      </p:pic>
      <p:pic>
        <p:nvPicPr>
          <p:cNvPr id="11" name="Picture 10">
            <a:extLst>
              <a:ext uri="{FF2B5EF4-FFF2-40B4-BE49-F238E27FC236}">
                <a16:creationId xmlns:a16="http://schemas.microsoft.com/office/drawing/2014/main" id="{4EDAA993-5A1C-3CEE-D6C5-A0473379BE1D}"/>
              </a:ext>
            </a:extLst>
          </p:cNvPr>
          <p:cNvPicPr>
            <a:picLocks noChangeAspect="1"/>
          </p:cNvPicPr>
          <p:nvPr/>
        </p:nvPicPr>
        <p:blipFill>
          <a:blip r:embed="rId3"/>
          <a:stretch>
            <a:fillRect/>
          </a:stretch>
        </p:blipFill>
        <p:spPr>
          <a:xfrm>
            <a:off x="1410930" y="3949849"/>
            <a:ext cx="2746320" cy="2670651"/>
          </a:xfrm>
          <a:prstGeom prst="rect">
            <a:avLst/>
          </a:prstGeom>
        </p:spPr>
      </p:pic>
    </p:spTree>
    <p:extLst>
      <p:ext uri="{BB962C8B-B14F-4D97-AF65-F5344CB8AC3E}">
        <p14:creationId xmlns:p14="http://schemas.microsoft.com/office/powerpoint/2010/main" val="4050707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AD253-4D5D-21CC-E24B-CFDF368205F5}"/>
              </a:ext>
            </a:extLst>
          </p:cNvPr>
          <p:cNvSpPr>
            <a:spLocks noGrp="1"/>
          </p:cNvSpPr>
          <p:nvPr>
            <p:ph type="title"/>
          </p:nvPr>
        </p:nvSpPr>
        <p:spPr/>
        <p:txBody>
          <a:bodyPr/>
          <a:lstStyle/>
          <a:p>
            <a:r>
              <a:rPr lang="en-US" dirty="0"/>
              <a:t>A Transformer Architecture</a:t>
            </a:r>
          </a:p>
        </p:txBody>
      </p:sp>
      <p:pic>
        <p:nvPicPr>
          <p:cNvPr id="5" name="Content Placeholder 4" descr="A diagram of a process&#10;&#10;Description automatically generated">
            <a:extLst>
              <a:ext uri="{FF2B5EF4-FFF2-40B4-BE49-F238E27FC236}">
                <a16:creationId xmlns:a16="http://schemas.microsoft.com/office/drawing/2014/main" id="{05921510-B6D1-2D08-FB70-5645C4CBA6D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409825" y="2715877"/>
            <a:ext cx="5457683" cy="3972599"/>
          </a:xfrm>
        </p:spPr>
      </p:pic>
      <p:sp>
        <p:nvSpPr>
          <p:cNvPr id="4" name="TextBox 3">
            <a:extLst>
              <a:ext uri="{FF2B5EF4-FFF2-40B4-BE49-F238E27FC236}">
                <a16:creationId xmlns:a16="http://schemas.microsoft.com/office/drawing/2014/main" id="{719803C0-A618-299C-1083-184C9A9EF1AC}"/>
              </a:ext>
            </a:extLst>
          </p:cNvPr>
          <p:cNvSpPr txBox="1"/>
          <p:nvPr/>
        </p:nvSpPr>
        <p:spPr>
          <a:xfrm>
            <a:off x="838200" y="1571720"/>
            <a:ext cx="10648309" cy="2677656"/>
          </a:xfrm>
          <a:prstGeom prst="rect">
            <a:avLst/>
          </a:prstGeom>
          <a:noFill/>
        </p:spPr>
        <p:txBody>
          <a:bodyPr wrap="square">
            <a:spAutoFit/>
          </a:bodyPr>
          <a:lstStyle/>
          <a:p>
            <a:pPr marL="285750" indent="-285750">
              <a:buFont typeface="Arial" panose="020B0604020202020204" pitchFamily="34" charset="0"/>
              <a:buChar char="•"/>
            </a:pPr>
            <a:r>
              <a:rPr lang="en-US" sz="2400" dirty="0"/>
              <a:t>The </a:t>
            </a:r>
            <a:r>
              <a:rPr lang="en-US" sz="2400" dirty="0">
                <a:solidFill>
                  <a:srgbClr val="C00000"/>
                </a:solidFill>
              </a:rPr>
              <a:t>Transformer</a:t>
            </a:r>
            <a:r>
              <a:rPr lang="en-US" sz="2400" dirty="0"/>
              <a:t> architecture is a </a:t>
            </a:r>
            <a:r>
              <a:rPr lang="en-US" sz="2400" dirty="0">
                <a:solidFill>
                  <a:srgbClr val="C00000"/>
                </a:solidFill>
              </a:rPr>
              <a:t>deep learning </a:t>
            </a:r>
            <a:r>
              <a:rPr lang="en-US" sz="2400" dirty="0"/>
              <a:t>model </a:t>
            </a:r>
          </a:p>
          <a:p>
            <a:pPr marL="285750" indent="-285750">
              <a:buFont typeface="Arial" panose="020B0604020202020204" pitchFamily="34" charset="0"/>
              <a:buChar char="•"/>
            </a:pPr>
            <a:r>
              <a:rPr lang="en-US" sz="2400" dirty="0"/>
              <a:t>It introduced in the paper “</a:t>
            </a:r>
            <a:r>
              <a:rPr lang="en-US" sz="2400" dirty="0">
                <a:solidFill>
                  <a:srgbClr val="C00000"/>
                </a:solidFill>
              </a:rPr>
              <a:t>Attention is All You Need</a:t>
            </a:r>
            <a:r>
              <a:rPr lang="en-US" sz="2400" dirty="0"/>
              <a:t>” (Vaswani et al. in 2017). </a:t>
            </a:r>
          </a:p>
          <a:p>
            <a:pPr marL="285750" indent="-285750">
              <a:buFont typeface="Arial" panose="020B0604020202020204" pitchFamily="34" charset="0"/>
              <a:buChar char="•"/>
            </a:pPr>
            <a:r>
              <a:rPr lang="en-US" sz="2400" dirty="0"/>
              <a:t>It </a:t>
            </a:r>
            <a:r>
              <a:rPr lang="en-US" sz="2400" dirty="0">
                <a:solidFill>
                  <a:srgbClr val="C00000"/>
                </a:solidFill>
              </a:rPr>
              <a:t>revolutionized</a:t>
            </a:r>
            <a:r>
              <a:rPr lang="en-US" sz="2400" dirty="0"/>
              <a:t> natural language processing (NLP) tasks</a:t>
            </a:r>
          </a:p>
          <a:p>
            <a:pPr marL="285750" indent="-285750">
              <a:buFont typeface="Arial" panose="020B0604020202020204" pitchFamily="34" charset="0"/>
              <a:buChar char="•"/>
            </a:pPr>
            <a:r>
              <a:rPr lang="en-US" sz="2400" dirty="0"/>
              <a:t>It is the </a:t>
            </a:r>
            <a:r>
              <a:rPr lang="en-US" sz="2400" dirty="0">
                <a:solidFill>
                  <a:srgbClr val="C00000"/>
                </a:solidFill>
              </a:rPr>
              <a:t>foundation</a:t>
            </a:r>
            <a:r>
              <a:rPr lang="en-US" sz="2400" dirty="0"/>
              <a:t> for most modern </a:t>
            </a:r>
            <a:r>
              <a:rPr lang="en-US" sz="2400" dirty="0">
                <a:solidFill>
                  <a:srgbClr val="C00000"/>
                </a:solidFill>
              </a:rPr>
              <a:t>LLMs</a:t>
            </a:r>
          </a:p>
          <a:p>
            <a:pPr marL="285750" indent="-285750">
              <a:buFont typeface="Arial" panose="020B0604020202020204" pitchFamily="34" charset="0"/>
              <a:buChar char="•"/>
            </a:pPr>
            <a:r>
              <a:rPr lang="en-US" sz="2400" dirty="0"/>
              <a:t>It may contain a </a:t>
            </a:r>
            <a:r>
              <a:rPr lang="en-US" sz="2400" dirty="0">
                <a:solidFill>
                  <a:srgbClr val="C00000"/>
                </a:solidFill>
              </a:rPr>
              <a:t>decoder</a:t>
            </a:r>
            <a:r>
              <a:rPr lang="en-US" sz="2400" dirty="0"/>
              <a:t> and / or an </a:t>
            </a:r>
            <a:r>
              <a:rPr lang="en-US" sz="2400" dirty="0">
                <a:solidFill>
                  <a:srgbClr val="C00000"/>
                </a:solidFill>
              </a:rPr>
              <a:t>encoder</a:t>
            </a:r>
            <a:r>
              <a:rPr lang="en-US" sz="2400" dirty="0"/>
              <a:t> </a:t>
            </a:r>
          </a:p>
          <a:p>
            <a:pPr marL="285750" indent="-285750">
              <a:buFont typeface="Arial" panose="020B0604020202020204" pitchFamily="34" charset="0"/>
              <a:buChar char="•"/>
            </a:pPr>
            <a:r>
              <a:rPr lang="en-US" sz="2400" dirty="0"/>
              <a:t>It uses </a:t>
            </a:r>
            <a:r>
              <a:rPr lang="en-US" sz="2400" dirty="0">
                <a:solidFill>
                  <a:srgbClr val="C00000"/>
                </a:solidFill>
              </a:rPr>
              <a:t>various attention</a:t>
            </a:r>
            <a:r>
              <a:rPr lang="en-US" sz="2400" dirty="0"/>
              <a:t> mechanisms </a:t>
            </a:r>
          </a:p>
          <a:p>
            <a:pPr marL="285750" indent="-285750">
              <a:buFont typeface="Arial" panose="020B0604020202020204" pitchFamily="34" charset="0"/>
              <a:buChar char="•"/>
            </a:pPr>
            <a:endParaRPr lang="en-US" sz="2400" dirty="0">
              <a:solidFill>
                <a:srgbClr val="C00000"/>
              </a:solidFill>
            </a:endParaRPr>
          </a:p>
        </p:txBody>
      </p:sp>
    </p:spTree>
    <p:extLst>
      <p:ext uri="{BB962C8B-B14F-4D97-AF65-F5344CB8AC3E}">
        <p14:creationId xmlns:p14="http://schemas.microsoft.com/office/powerpoint/2010/main" val="1725939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178" y="347731"/>
            <a:ext cx="7004407" cy="563616"/>
          </a:xfrm>
          <a:prstGeom prst="rect">
            <a:avLst/>
          </a:prstGeom>
        </p:spPr>
        <p:txBody>
          <a:bodyPr vert="horz" wrap="square" lIns="0" tIns="9525" rIns="0" bIns="0" numCol="1" rtlCol="0" anchor="ctr" anchorCtr="0" compatLnSpc="1">
            <a:prstTxWarp prst="textNoShape">
              <a:avLst/>
            </a:prstTxWarp>
            <a:spAutoFit/>
          </a:bodyPr>
          <a:lstStyle/>
          <a:p>
            <a:pPr marL="9525">
              <a:spcBef>
                <a:spcPts val="75"/>
              </a:spcBef>
            </a:pPr>
            <a:r>
              <a:rPr sz="4000" dirty="0"/>
              <a:t>Encoder</a:t>
            </a:r>
            <a:r>
              <a:rPr sz="4000" spc="-184" dirty="0"/>
              <a:t> </a:t>
            </a:r>
            <a:r>
              <a:rPr sz="4000" spc="-8" dirty="0"/>
              <a:t>Model</a:t>
            </a:r>
          </a:p>
        </p:txBody>
      </p:sp>
      <p:grpSp>
        <p:nvGrpSpPr>
          <p:cNvPr id="7" name="object 7"/>
          <p:cNvGrpSpPr/>
          <p:nvPr/>
        </p:nvGrpSpPr>
        <p:grpSpPr>
          <a:xfrm>
            <a:off x="7983020" y="3061699"/>
            <a:ext cx="3842875" cy="3600792"/>
            <a:chOff x="7747166" y="2178100"/>
            <a:chExt cx="4153048" cy="4041645"/>
          </a:xfrm>
        </p:grpSpPr>
        <p:pic>
          <p:nvPicPr>
            <p:cNvPr id="8" name="object 8"/>
            <p:cNvPicPr/>
            <p:nvPr/>
          </p:nvPicPr>
          <p:blipFill>
            <a:blip r:embed="rId2" cstate="print"/>
            <a:stretch>
              <a:fillRect/>
            </a:stretch>
          </p:blipFill>
          <p:spPr>
            <a:xfrm>
              <a:off x="10246880" y="2178100"/>
              <a:ext cx="1653334" cy="3053657"/>
            </a:xfrm>
            <a:prstGeom prst="rect">
              <a:avLst/>
            </a:prstGeom>
          </p:spPr>
        </p:pic>
        <p:pic>
          <p:nvPicPr>
            <p:cNvPr id="9" name="object 9"/>
            <p:cNvPicPr/>
            <p:nvPr/>
          </p:nvPicPr>
          <p:blipFill>
            <a:blip r:embed="rId3" cstate="print"/>
            <a:stretch>
              <a:fillRect/>
            </a:stretch>
          </p:blipFill>
          <p:spPr>
            <a:xfrm>
              <a:off x="7747166" y="3361984"/>
              <a:ext cx="2045898" cy="2857761"/>
            </a:xfrm>
            <a:prstGeom prst="rect">
              <a:avLst/>
            </a:prstGeom>
          </p:spPr>
        </p:pic>
        <p:sp>
          <p:nvSpPr>
            <p:cNvPr id="10" name="object 10"/>
            <p:cNvSpPr/>
            <p:nvPr/>
          </p:nvSpPr>
          <p:spPr>
            <a:xfrm>
              <a:off x="9660369" y="3414826"/>
              <a:ext cx="1217295" cy="200025"/>
            </a:xfrm>
            <a:custGeom>
              <a:avLst/>
              <a:gdLst/>
              <a:ahLst/>
              <a:cxnLst/>
              <a:rect l="l" t="t" r="r" b="b"/>
              <a:pathLst>
                <a:path w="1217295" h="200025">
                  <a:moveTo>
                    <a:pt x="1130456" y="171295"/>
                  </a:moveTo>
                  <a:lnTo>
                    <a:pt x="1126871" y="199644"/>
                  </a:lnTo>
                  <a:lnTo>
                    <a:pt x="1202471" y="173088"/>
                  </a:lnTo>
                  <a:lnTo>
                    <a:pt x="1144638" y="173088"/>
                  </a:lnTo>
                  <a:lnTo>
                    <a:pt x="1130456" y="171295"/>
                  </a:lnTo>
                  <a:close/>
                </a:path>
                <a:path w="1217295" h="200025">
                  <a:moveTo>
                    <a:pt x="1134042" y="142949"/>
                  </a:moveTo>
                  <a:lnTo>
                    <a:pt x="1130456" y="171295"/>
                  </a:lnTo>
                  <a:lnTo>
                    <a:pt x="1144638" y="173088"/>
                  </a:lnTo>
                  <a:lnTo>
                    <a:pt x="1148219" y="144741"/>
                  </a:lnTo>
                  <a:lnTo>
                    <a:pt x="1134042" y="142949"/>
                  </a:lnTo>
                  <a:close/>
                </a:path>
                <a:path w="1217295" h="200025">
                  <a:moveTo>
                    <a:pt x="1137627" y="114604"/>
                  </a:moveTo>
                  <a:lnTo>
                    <a:pt x="1134042" y="142949"/>
                  </a:lnTo>
                  <a:lnTo>
                    <a:pt x="1148219" y="144741"/>
                  </a:lnTo>
                  <a:lnTo>
                    <a:pt x="1144638" y="173088"/>
                  </a:lnTo>
                  <a:lnTo>
                    <a:pt x="1202471" y="173088"/>
                  </a:lnTo>
                  <a:lnTo>
                    <a:pt x="1217295" y="167881"/>
                  </a:lnTo>
                  <a:lnTo>
                    <a:pt x="1137627" y="114604"/>
                  </a:lnTo>
                  <a:close/>
                </a:path>
                <a:path w="1217295" h="200025">
                  <a:moveTo>
                    <a:pt x="3581" y="0"/>
                  </a:moveTo>
                  <a:lnTo>
                    <a:pt x="0" y="28346"/>
                  </a:lnTo>
                  <a:lnTo>
                    <a:pt x="1130456" y="171295"/>
                  </a:lnTo>
                  <a:lnTo>
                    <a:pt x="1134042" y="142949"/>
                  </a:lnTo>
                  <a:lnTo>
                    <a:pt x="3581" y="0"/>
                  </a:lnTo>
                  <a:close/>
                </a:path>
              </a:pathLst>
            </a:custGeom>
            <a:solidFill>
              <a:srgbClr val="4472C4"/>
            </a:solidFill>
          </p:spPr>
          <p:txBody>
            <a:bodyPr wrap="square" lIns="0" tIns="0" rIns="0" bIns="0" rtlCol="0"/>
            <a:lstStyle/>
            <a:p>
              <a:endParaRPr/>
            </a:p>
          </p:txBody>
        </p:sp>
      </p:grpSp>
      <p:sp>
        <p:nvSpPr>
          <p:cNvPr id="5" name="object 3">
            <a:extLst>
              <a:ext uri="{FF2B5EF4-FFF2-40B4-BE49-F238E27FC236}">
                <a16:creationId xmlns:a16="http://schemas.microsoft.com/office/drawing/2014/main" id="{BF30E88D-51D8-8DFE-CF77-FC2BAFB31A52}"/>
              </a:ext>
            </a:extLst>
          </p:cNvPr>
          <p:cNvSpPr txBox="1"/>
          <p:nvPr/>
        </p:nvSpPr>
        <p:spPr>
          <a:xfrm>
            <a:off x="806292" y="1280706"/>
            <a:ext cx="10399603" cy="3097771"/>
          </a:xfrm>
          <a:prstGeom prst="rect">
            <a:avLst/>
          </a:prstGeom>
        </p:spPr>
        <p:txBody>
          <a:bodyPr vert="horz" wrap="square" lIns="0" tIns="9525" rIns="0" bIns="0" rtlCol="0">
            <a:spAutoFit/>
          </a:bodyPr>
          <a:lstStyle/>
          <a:p>
            <a:pPr marL="723900" lvl="1" indent="-457200">
              <a:spcBef>
                <a:spcPts val="45"/>
              </a:spcBef>
              <a:buFont typeface="+mj-lt"/>
              <a:buAutoNum type="arabicPeriod"/>
              <a:tabLst>
                <a:tab pos="390049" algn="l"/>
              </a:tabLst>
            </a:pPr>
            <a:r>
              <a:rPr lang="en-US" sz="2400" spc="-26" dirty="0">
                <a:solidFill>
                  <a:srgbClr val="C00000"/>
                </a:solidFill>
                <a:latin typeface="Calibri"/>
                <a:cs typeface="Calibri"/>
              </a:rPr>
              <a:t>Self-</a:t>
            </a:r>
            <a:r>
              <a:rPr lang="en-US" sz="2400" spc="-8" dirty="0">
                <a:solidFill>
                  <a:srgbClr val="C00000"/>
                </a:solidFill>
                <a:latin typeface="Calibri"/>
                <a:cs typeface="Calibri"/>
              </a:rPr>
              <a:t>attention</a:t>
            </a:r>
            <a:r>
              <a:rPr lang="en-US" sz="2400" spc="-26" dirty="0">
                <a:latin typeface="Calibri"/>
                <a:cs typeface="Calibri"/>
              </a:rPr>
              <a:t> </a:t>
            </a:r>
            <a:r>
              <a:rPr lang="en-US" sz="2400" spc="-15" dirty="0">
                <a:latin typeface="Calibri"/>
                <a:cs typeface="Calibri"/>
              </a:rPr>
              <a:t>mechanism is used to </a:t>
            </a:r>
            <a:r>
              <a:rPr lang="en-US" sz="2400" spc="-15" dirty="0">
                <a:solidFill>
                  <a:srgbClr val="C00000"/>
                </a:solidFill>
                <a:latin typeface="Calibri"/>
                <a:cs typeface="Calibri"/>
              </a:rPr>
              <a:t>encodes context </a:t>
            </a:r>
            <a:r>
              <a:rPr lang="en-US" sz="2400" spc="-15" dirty="0">
                <a:latin typeface="Calibri"/>
                <a:cs typeface="Calibri"/>
              </a:rPr>
              <a:t>and </a:t>
            </a:r>
            <a:r>
              <a:rPr lang="en-US" sz="2400" spc="-15" dirty="0">
                <a:solidFill>
                  <a:srgbClr val="C00000"/>
                </a:solidFill>
                <a:latin typeface="Carlito"/>
                <a:cs typeface="Carlito"/>
              </a:rPr>
              <a:t>multi-</a:t>
            </a:r>
            <a:r>
              <a:rPr lang="en-US" sz="2400" dirty="0">
                <a:solidFill>
                  <a:srgbClr val="C00000"/>
                </a:solidFill>
                <a:latin typeface="Carlito"/>
                <a:cs typeface="Carlito"/>
              </a:rPr>
              <a:t>head</a:t>
            </a:r>
            <a:r>
              <a:rPr lang="en-US" sz="2400" spc="-38" dirty="0">
                <a:latin typeface="Carlito"/>
                <a:cs typeface="Carlito"/>
              </a:rPr>
              <a:t> </a:t>
            </a:r>
            <a:r>
              <a:rPr lang="en-US" sz="2400" spc="-8" dirty="0">
                <a:latin typeface="Carlito"/>
                <a:cs typeface="Carlito"/>
              </a:rPr>
              <a:t>attention</a:t>
            </a:r>
            <a:r>
              <a:rPr lang="en-US" sz="2400" spc="-38" dirty="0">
                <a:latin typeface="Carlito"/>
                <a:cs typeface="Carlito"/>
              </a:rPr>
              <a:t> </a:t>
            </a:r>
            <a:r>
              <a:rPr lang="en-US" sz="2400" dirty="0">
                <a:latin typeface="Carlito"/>
                <a:cs typeface="Carlito"/>
              </a:rPr>
              <a:t>blocks</a:t>
            </a:r>
            <a:r>
              <a:rPr lang="en-US" sz="2400" spc="-41" dirty="0">
                <a:latin typeface="Carlito"/>
                <a:cs typeface="Carlito"/>
              </a:rPr>
              <a:t> </a:t>
            </a:r>
            <a:r>
              <a:rPr lang="en-US" sz="2400" spc="-8" dirty="0">
                <a:latin typeface="Carlito"/>
                <a:cs typeface="Carlito"/>
              </a:rPr>
              <a:t>capture information</a:t>
            </a:r>
            <a:r>
              <a:rPr lang="en-US" sz="2400" spc="-71" dirty="0">
                <a:latin typeface="Carlito"/>
                <a:cs typeface="Carlito"/>
              </a:rPr>
              <a:t> </a:t>
            </a:r>
            <a:r>
              <a:rPr lang="en-US" sz="2400" dirty="0">
                <a:latin typeface="Carlito"/>
                <a:cs typeface="Carlito"/>
              </a:rPr>
              <a:t>from</a:t>
            </a:r>
            <a:r>
              <a:rPr lang="en-US" sz="2400" spc="-75" dirty="0">
                <a:latin typeface="Carlito"/>
                <a:cs typeface="Carlito"/>
              </a:rPr>
              <a:t> </a:t>
            </a:r>
            <a:r>
              <a:rPr lang="en-US" sz="2400" spc="-8" dirty="0">
                <a:solidFill>
                  <a:srgbClr val="C00000"/>
                </a:solidFill>
                <a:latin typeface="Carlito"/>
                <a:cs typeface="Carlito"/>
              </a:rPr>
              <a:t>different</a:t>
            </a:r>
            <a:r>
              <a:rPr lang="en-US" sz="2400" spc="-75" dirty="0">
                <a:solidFill>
                  <a:srgbClr val="C00000"/>
                </a:solidFill>
                <a:latin typeface="Carlito"/>
                <a:cs typeface="Carlito"/>
              </a:rPr>
              <a:t> </a:t>
            </a:r>
            <a:r>
              <a:rPr lang="en-US" sz="2400" dirty="0">
                <a:solidFill>
                  <a:srgbClr val="C00000"/>
                </a:solidFill>
                <a:latin typeface="Carlito"/>
                <a:cs typeface="Carlito"/>
              </a:rPr>
              <a:t>aspects</a:t>
            </a:r>
            <a:endParaRPr lang="en-US" sz="2400" spc="-8" dirty="0">
              <a:solidFill>
                <a:srgbClr val="C00000"/>
              </a:solidFill>
              <a:latin typeface="Carlito"/>
              <a:cs typeface="Carlito"/>
            </a:endParaRPr>
          </a:p>
          <a:p>
            <a:pPr marL="723900" lvl="1" indent="-457200">
              <a:spcBef>
                <a:spcPts val="45"/>
              </a:spcBef>
              <a:buFont typeface="+mj-lt"/>
              <a:buAutoNum type="arabicPeriod"/>
              <a:tabLst>
                <a:tab pos="390049" algn="l"/>
              </a:tabLst>
            </a:pPr>
            <a:r>
              <a:rPr sz="2400" spc="-8" dirty="0">
                <a:solidFill>
                  <a:srgbClr val="C00000"/>
                </a:solidFill>
                <a:latin typeface="Calibri"/>
                <a:cs typeface="Calibri"/>
              </a:rPr>
              <a:t>Feedforward</a:t>
            </a:r>
            <a:r>
              <a:rPr sz="2400" spc="-56" dirty="0">
                <a:latin typeface="Calibri"/>
                <a:cs typeface="Calibri"/>
              </a:rPr>
              <a:t> </a:t>
            </a:r>
            <a:r>
              <a:rPr lang="en-US" sz="2400" spc="-15" dirty="0">
                <a:latin typeface="Calibri"/>
                <a:cs typeface="Calibri"/>
              </a:rPr>
              <a:t>network is used to provide </a:t>
            </a:r>
            <a:r>
              <a:rPr lang="en-US" sz="2400" spc="-15" dirty="0">
                <a:solidFill>
                  <a:srgbClr val="C00000"/>
                </a:solidFill>
                <a:latin typeface="Calibri"/>
                <a:cs typeface="Calibri"/>
              </a:rPr>
              <a:t>non-linearity</a:t>
            </a:r>
            <a:r>
              <a:rPr lang="en-US" sz="2400" spc="-15" dirty="0">
                <a:latin typeface="Calibri"/>
                <a:cs typeface="Calibri"/>
              </a:rPr>
              <a:t> for attention blocks</a:t>
            </a:r>
            <a:endParaRPr lang="en-US" sz="2400" spc="-8" dirty="0">
              <a:latin typeface="Carlito"/>
              <a:cs typeface="Calibri"/>
            </a:endParaRPr>
          </a:p>
          <a:p>
            <a:pPr marL="723900" lvl="1" indent="-457200">
              <a:spcBef>
                <a:spcPts val="45"/>
              </a:spcBef>
              <a:buFont typeface="+mj-lt"/>
              <a:buAutoNum type="arabicPeriod"/>
              <a:tabLst>
                <a:tab pos="390049" algn="l"/>
              </a:tabLst>
            </a:pPr>
            <a:r>
              <a:rPr lang="en-US" sz="2400" spc="-23" dirty="0">
                <a:solidFill>
                  <a:srgbClr val="C00000"/>
                </a:solidFill>
                <a:latin typeface="Carlito"/>
                <a:cs typeface="Carlito"/>
              </a:rPr>
              <a:t>Stacking</a:t>
            </a:r>
            <a:r>
              <a:rPr lang="en-US" sz="2400" spc="-23" dirty="0">
                <a:latin typeface="Carlito"/>
                <a:cs typeface="Carlito"/>
              </a:rPr>
              <a:t> many </a:t>
            </a:r>
            <a:r>
              <a:rPr lang="en-US" sz="2400" spc="-8" dirty="0">
                <a:latin typeface="Carlito"/>
                <a:cs typeface="Carlito"/>
              </a:rPr>
              <a:t>attention</a:t>
            </a:r>
            <a:r>
              <a:rPr lang="en-US" sz="2400" spc="-38" dirty="0">
                <a:latin typeface="Carlito"/>
                <a:cs typeface="Carlito"/>
              </a:rPr>
              <a:t> </a:t>
            </a:r>
            <a:r>
              <a:rPr lang="en-US" sz="2400" dirty="0">
                <a:latin typeface="Carlito"/>
                <a:cs typeface="Carlito"/>
              </a:rPr>
              <a:t>blocks and FF layers one after each other</a:t>
            </a:r>
            <a:r>
              <a:rPr lang="en-US" sz="2400" spc="-41" dirty="0">
                <a:latin typeface="Carlito"/>
                <a:cs typeface="Carlito"/>
              </a:rPr>
              <a:t> to improve </a:t>
            </a:r>
            <a:r>
              <a:rPr lang="en-US" sz="2400" spc="-41" dirty="0">
                <a:solidFill>
                  <a:srgbClr val="C00000"/>
                </a:solidFill>
                <a:latin typeface="Carlito"/>
                <a:cs typeface="Carlito"/>
              </a:rPr>
              <a:t>hierarchical learning </a:t>
            </a:r>
            <a:r>
              <a:rPr lang="en-US" sz="2400" spc="-41" dirty="0">
                <a:latin typeface="Carlito"/>
                <a:cs typeface="Carlito"/>
              </a:rPr>
              <a:t>and extract </a:t>
            </a:r>
            <a:r>
              <a:rPr lang="en-US" sz="2400" spc="-41" dirty="0">
                <a:solidFill>
                  <a:srgbClr val="C00000"/>
                </a:solidFill>
                <a:latin typeface="Carlito"/>
                <a:cs typeface="Carlito"/>
              </a:rPr>
              <a:t>complex</a:t>
            </a:r>
            <a:r>
              <a:rPr lang="en-US" sz="2400" spc="-41" dirty="0">
                <a:latin typeface="Carlito"/>
                <a:cs typeface="Carlito"/>
              </a:rPr>
              <a:t> and abstract concepts</a:t>
            </a:r>
          </a:p>
          <a:p>
            <a:pPr marL="180975" marR="122873" indent="-171450">
              <a:lnSpc>
                <a:spcPct val="90700"/>
              </a:lnSpc>
              <a:spcBef>
                <a:spcPts val="307"/>
              </a:spcBef>
              <a:buFont typeface="Arial"/>
              <a:buChar char="•"/>
              <a:tabLst>
                <a:tab pos="180975" algn="l"/>
              </a:tabLst>
            </a:pPr>
            <a:endParaRPr lang="en-US" sz="2400" spc="-41" dirty="0">
              <a:latin typeface="Carlito"/>
              <a:cs typeface="Carlito"/>
            </a:endParaRPr>
          </a:p>
          <a:p>
            <a:pPr>
              <a:spcBef>
                <a:spcPts val="911"/>
              </a:spcBef>
              <a:buFont typeface="Arial"/>
              <a:buChar char="•"/>
            </a:pPr>
            <a:endParaRPr lang="en-US" sz="2400" dirty="0">
              <a:latin typeface="Carlito"/>
              <a:cs typeface="Carlito"/>
            </a:endParaRPr>
          </a:p>
          <a:p>
            <a:pPr marL="266700" lvl="1">
              <a:spcBef>
                <a:spcPts val="105"/>
              </a:spcBef>
              <a:tabLst>
                <a:tab pos="390049" algn="l"/>
              </a:tabLst>
            </a:pPr>
            <a:endParaRPr sz="2400" dirty="0">
              <a:latin typeface="Calibri"/>
              <a:cs typeface="Calibri"/>
            </a:endParaRPr>
          </a:p>
        </p:txBody>
      </p:sp>
      <p:sp>
        <p:nvSpPr>
          <p:cNvPr id="4" name="TextBox 3">
            <a:extLst>
              <a:ext uri="{FF2B5EF4-FFF2-40B4-BE49-F238E27FC236}">
                <a16:creationId xmlns:a16="http://schemas.microsoft.com/office/drawing/2014/main" id="{EC6E0AF1-BC14-2B1D-5FE6-B92BF4203009}"/>
              </a:ext>
            </a:extLst>
          </p:cNvPr>
          <p:cNvSpPr txBox="1"/>
          <p:nvPr/>
        </p:nvSpPr>
        <p:spPr>
          <a:xfrm>
            <a:off x="1237848" y="3903640"/>
            <a:ext cx="6570511" cy="2185983"/>
          </a:xfrm>
          <a:prstGeom prst="rect">
            <a:avLst/>
          </a:prstGeom>
          <a:noFill/>
        </p:spPr>
        <p:txBody>
          <a:bodyPr wrap="square">
            <a:spAutoFit/>
          </a:bodyPr>
          <a:lstStyle/>
          <a:p>
            <a:pPr marL="9525" marR="122873">
              <a:lnSpc>
                <a:spcPct val="90700"/>
              </a:lnSpc>
              <a:spcBef>
                <a:spcPts val="307"/>
              </a:spcBef>
              <a:tabLst>
                <a:tab pos="180975" algn="l"/>
              </a:tabLst>
            </a:pPr>
            <a:r>
              <a:rPr lang="en-US" sz="2400" b="1" spc="-41" dirty="0">
                <a:latin typeface="+mn-lt"/>
                <a:cs typeface="Carlito"/>
              </a:rPr>
              <a:t>Problems</a:t>
            </a:r>
            <a:r>
              <a:rPr lang="en-US" sz="2400" spc="-41" dirty="0">
                <a:latin typeface="+mn-lt"/>
                <a:cs typeface="Carlito"/>
              </a:rPr>
              <a:t>: </a:t>
            </a:r>
          </a:p>
          <a:p>
            <a:pPr marL="352425" marR="122873" indent="-342900">
              <a:lnSpc>
                <a:spcPct val="90700"/>
              </a:lnSpc>
              <a:spcBef>
                <a:spcPts val="307"/>
              </a:spcBef>
              <a:buFont typeface="Arial" panose="020B0604020202020204" pitchFamily="34" charset="0"/>
              <a:buChar char="•"/>
              <a:tabLst>
                <a:tab pos="180975" algn="l"/>
              </a:tabLst>
            </a:pPr>
            <a:r>
              <a:rPr lang="en-US" sz="2400" spc="-41" dirty="0">
                <a:latin typeface="+mn-lt"/>
                <a:cs typeface="Carlito"/>
              </a:rPr>
              <a:t>The </a:t>
            </a:r>
            <a:r>
              <a:rPr lang="en-US" sz="2400" spc="-41" dirty="0">
                <a:solidFill>
                  <a:srgbClr val="C00000"/>
                </a:solidFill>
                <a:latin typeface="+mn-lt"/>
                <a:cs typeface="Carlito"/>
              </a:rPr>
              <a:t>original information </a:t>
            </a:r>
            <a:r>
              <a:rPr lang="en-US" sz="2400" spc="-41" dirty="0">
                <a:latin typeface="+mn-lt"/>
                <a:cs typeface="Carlito"/>
              </a:rPr>
              <a:t>might be </a:t>
            </a:r>
            <a:r>
              <a:rPr lang="en-US" sz="2400" spc="-41" dirty="0">
                <a:solidFill>
                  <a:srgbClr val="C00000"/>
                </a:solidFill>
                <a:latin typeface="+mn-lt"/>
                <a:cs typeface="Carlito"/>
              </a:rPr>
              <a:t>lost</a:t>
            </a:r>
            <a:r>
              <a:rPr lang="en-US" sz="2400" spc="-41" dirty="0">
                <a:latin typeface="+mn-lt"/>
                <a:cs typeface="Carlito"/>
              </a:rPr>
              <a:t> due to passing through </a:t>
            </a:r>
            <a:r>
              <a:rPr lang="en-US" sz="2400" spc="-41" dirty="0">
                <a:solidFill>
                  <a:srgbClr val="C00000"/>
                </a:solidFill>
                <a:latin typeface="+mn-lt"/>
                <a:cs typeface="Carlito"/>
              </a:rPr>
              <a:t>many stacked transformer </a:t>
            </a:r>
            <a:r>
              <a:rPr lang="en-US" sz="2400" spc="-41" dirty="0">
                <a:latin typeface="+mn-lt"/>
                <a:cs typeface="Carlito"/>
              </a:rPr>
              <a:t>layers and non-linear transformation. </a:t>
            </a:r>
          </a:p>
          <a:p>
            <a:pPr marL="352425" marR="122873" indent="-342900">
              <a:lnSpc>
                <a:spcPct val="90700"/>
              </a:lnSpc>
              <a:spcBef>
                <a:spcPts val="307"/>
              </a:spcBef>
              <a:buFont typeface="Arial" panose="020B0604020202020204" pitchFamily="34" charset="0"/>
              <a:buChar char="•"/>
              <a:tabLst>
                <a:tab pos="180975" algn="l"/>
              </a:tabLst>
            </a:pPr>
            <a:r>
              <a:rPr lang="en-US" sz="2400" spc="-41" dirty="0">
                <a:latin typeface="+mn-lt"/>
                <a:cs typeface="Carlito"/>
              </a:rPr>
              <a:t>Stacking many layers creates very </a:t>
            </a:r>
            <a:r>
              <a:rPr lang="en-US" sz="2400" spc="-41" dirty="0">
                <a:solidFill>
                  <a:srgbClr val="C00000"/>
                </a:solidFill>
                <a:latin typeface="+mn-lt"/>
                <a:cs typeface="Carlito"/>
              </a:rPr>
              <a:t>deep networks </a:t>
            </a:r>
            <a:r>
              <a:rPr lang="en-US" sz="2400" spc="-41" dirty="0">
                <a:latin typeface="+mn-lt"/>
                <a:cs typeface="Carlito"/>
              </a:rPr>
              <a:t>in which </a:t>
            </a:r>
            <a:r>
              <a:rPr lang="en-US" sz="2400" spc="-41" dirty="0">
                <a:solidFill>
                  <a:srgbClr val="C00000"/>
                </a:solidFill>
                <a:latin typeface="+mn-lt"/>
                <a:cs typeface="Carlito"/>
              </a:rPr>
              <a:t>vanishing gradient</a:t>
            </a:r>
            <a:r>
              <a:rPr lang="en-US" sz="2400" spc="-41" dirty="0">
                <a:latin typeface="+mn-lt"/>
                <a:cs typeface="Carlito"/>
              </a:rPr>
              <a:t> is a problem </a:t>
            </a:r>
            <a:endParaRPr lang="en-US" sz="2400" dirty="0">
              <a:latin typeface="+mn-lt"/>
              <a:cs typeface="Carli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computer system&#10;&#10;Description automatically generated">
            <a:extLst>
              <a:ext uri="{FF2B5EF4-FFF2-40B4-BE49-F238E27FC236}">
                <a16:creationId xmlns:a16="http://schemas.microsoft.com/office/drawing/2014/main" id="{BB3E06AB-90C8-4C4C-7904-681AFB2889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0195" y="3668055"/>
            <a:ext cx="5203818" cy="3141805"/>
          </a:xfrm>
          <a:prstGeom prst="rect">
            <a:avLst/>
          </a:prstGeom>
        </p:spPr>
      </p:pic>
      <p:pic>
        <p:nvPicPr>
          <p:cNvPr id="6" name="Picture 5">
            <a:extLst>
              <a:ext uri="{FF2B5EF4-FFF2-40B4-BE49-F238E27FC236}">
                <a16:creationId xmlns:a16="http://schemas.microsoft.com/office/drawing/2014/main" id="{7194436E-2C7B-A21B-A122-8B7B5593B9F8}"/>
              </a:ext>
            </a:extLst>
          </p:cNvPr>
          <p:cNvPicPr>
            <a:picLocks noChangeAspect="1"/>
          </p:cNvPicPr>
          <p:nvPr/>
        </p:nvPicPr>
        <p:blipFill>
          <a:blip r:embed="rId3"/>
          <a:stretch>
            <a:fillRect/>
          </a:stretch>
        </p:blipFill>
        <p:spPr>
          <a:xfrm>
            <a:off x="9130453" y="3363097"/>
            <a:ext cx="2777296" cy="3446763"/>
          </a:xfrm>
          <a:prstGeom prst="rect">
            <a:avLst/>
          </a:prstGeom>
        </p:spPr>
      </p:pic>
      <p:sp>
        <p:nvSpPr>
          <p:cNvPr id="2" name="Title 1">
            <a:extLst>
              <a:ext uri="{FF2B5EF4-FFF2-40B4-BE49-F238E27FC236}">
                <a16:creationId xmlns:a16="http://schemas.microsoft.com/office/drawing/2014/main" id="{2094238A-4B06-2ACB-6347-B26938A5BF7D}"/>
              </a:ext>
            </a:extLst>
          </p:cNvPr>
          <p:cNvSpPr>
            <a:spLocks noGrp="1"/>
          </p:cNvSpPr>
          <p:nvPr>
            <p:ph type="title"/>
          </p:nvPr>
        </p:nvSpPr>
        <p:spPr>
          <a:xfrm>
            <a:off x="873303" y="534648"/>
            <a:ext cx="9328935" cy="338655"/>
          </a:xfrm>
        </p:spPr>
        <p:txBody>
          <a:bodyPr/>
          <a:lstStyle/>
          <a:p>
            <a:r>
              <a:rPr lang="en-US" sz="4000" dirty="0"/>
              <a:t>Residual Connections &amp; Norm Layer</a:t>
            </a:r>
          </a:p>
        </p:txBody>
      </p:sp>
      <p:sp>
        <p:nvSpPr>
          <p:cNvPr id="4" name="TextBox 3">
            <a:extLst>
              <a:ext uri="{FF2B5EF4-FFF2-40B4-BE49-F238E27FC236}">
                <a16:creationId xmlns:a16="http://schemas.microsoft.com/office/drawing/2014/main" id="{A7EF29D5-4E95-6AF6-441E-A3848E84083B}"/>
              </a:ext>
            </a:extLst>
          </p:cNvPr>
          <p:cNvSpPr txBox="1"/>
          <p:nvPr/>
        </p:nvSpPr>
        <p:spPr>
          <a:xfrm>
            <a:off x="873303" y="1210765"/>
            <a:ext cx="11034445" cy="3125215"/>
          </a:xfrm>
          <a:prstGeom prst="rect">
            <a:avLst/>
          </a:prstGeom>
          <a:noFill/>
        </p:spPr>
        <p:txBody>
          <a:bodyPr wrap="square">
            <a:spAutoFit/>
          </a:bodyPr>
          <a:lstStyle/>
          <a:p>
            <a:pPr marL="342900" indent="-342900">
              <a:lnSpc>
                <a:spcPct val="107000"/>
              </a:lnSpc>
              <a:spcBef>
                <a:spcPts val="0"/>
              </a:spcBef>
              <a:spcAft>
                <a:spcPts val="800"/>
              </a:spcAft>
              <a:buSzPts val="1000"/>
              <a:buFont typeface="Symbol" panose="05050102010706020507" pitchFamily="18" charset="2"/>
              <a:buChar char=""/>
              <a:tabLst>
                <a:tab pos="457200" algn="l"/>
              </a:tabLst>
            </a:pPr>
            <a:r>
              <a:rPr lang="en-US" sz="2200" kern="100" dirty="0">
                <a:solidFill>
                  <a:srgbClr val="C00000"/>
                </a:solidFill>
                <a:latin typeface="+mn-lt"/>
                <a:ea typeface="Aptos" panose="020B0004020202020204" pitchFamily="34" charset="0"/>
                <a:cs typeface="Arial" panose="020B0604020202020204" pitchFamily="34" charset="0"/>
              </a:rPr>
              <a:t>Original input </a:t>
            </a:r>
            <a:r>
              <a:rPr lang="en-US" sz="2200" kern="100" dirty="0">
                <a:latin typeface="+mn-lt"/>
                <a:ea typeface="Aptos" panose="020B0004020202020204" pitchFamily="34" charset="0"/>
                <a:cs typeface="Arial" panose="020B0604020202020204" pitchFamily="34" charset="0"/>
              </a:rPr>
              <a:t>of the attention layer (</a:t>
            </a:r>
            <a:r>
              <a:rPr lang="en-US" sz="2200" kern="100" dirty="0">
                <a:solidFill>
                  <a:srgbClr val="C00000"/>
                </a:solidFill>
                <a:latin typeface="+mn-lt"/>
                <a:ea typeface="Aptos" panose="020B0004020202020204" pitchFamily="34" charset="0"/>
                <a:cs typeface="Arial" panose="020B0604020202020204" pitchFamily="34" charset="0"/>
              </a:rPr>
              <a:t>residual</a:t>
            </a:r>
            <a:r>
              <a:rPr lang="en-US" sz="2200" kern="100" dirty="0">
                <a:latin typeface="+mn-lt"/>
                <a:ea typeface="Aptos" panose="020B0004020202020204" pitchFamily="34" charset="0"/>
                <a:cs typeface="Arial" panose="020B0604020202020204" pitchFamily="34" charset="0"/>
              </a:rPr>
              <a:t> connection) is added to the </a:t>
            </a:r>
            <a:r>
              <a:rPr lang="en-US" sz="2200" kern="100" dirty="0">
                <a:solidFill>
                  <a:srgbClr val="C00000"/>
                </a:solidFill>
                <a:latin typeface="+mn-lt"/>
                <a:ea typeface="Aptos" panose="020B0004020202020204" pitchFamily="34" charset="0"/>
                <a:cs typeface="Arial" panose="020B0604020202020204" pitchFamily="34" charset="0"/>
              </a:rPr>
              <a:t>attention output</a:t>
            </a:r>
          </a:p>
          <a:p>
            <a:pPr marL="342900" indent="-342900">
              <a:lnSpc>
                <a:spcPct val="107000"/>
              </a:lnSpc>
              <a:spcBef>
                <a:spcPts val="0"/>
              </a:spcBef>
              <a:spcAft>
                <a:spcPts val="800"/>
              </a:spcAft>
              <a:buSzPts val="1000"/>
              <a:buFont typeface="Symbol" panose="05050102010706020507" pitchFamily="18" charset="2"/>
              <a:buChar char=""/>
              <a:tabLst>
                <a:tab pos="457200" algn="l"/>
              </a:tabLst>
            </a:pPr>
            <a:r>
              <a:rPr lang="en-US" sz="2200" kern="100" dirty="0">
                <a:latin typeface="+mn-lt"/>
                <a:ea typeface="Aptos" panose="020B0004020202020204" pitchFamily="34" charset="0"/>
                <a:cs typeface="Arial" panose="020B0604020202020204" pitchFamily="34" charset="0"/>
              </a:rPr>
              <a:t>Helps in </a:t>
            </a:r>
            <a:r>
              <a:rPr lang="en-US" sz="2200" kern="100" dirty="0">
                <a:solidFill>
                  <a:srgbClr val="C00000"/>
                </a:solidFill>
                <a:latin typeface="+mn-lt"/>
                <a:ea typeface="Aptos" panose="020B0004020202020204" pitchFamily="34" charset="0"/>
                <a:cs typeface="Arial" panose="020B0604020202020204" pitchFamily="34" charset="0"/>
              </a:rPr>
              <a:t>preserving</a:t>
            </a:r>
            <a:r>
              <a:rPr lang="en-US" sz="2200" kern="100" dirty="0">
                <a:latin typeface="+mn-lt"/>
                <a:ea typeface="Aptos" panose="020B0004020202020204" pitchFamily="34" charset="0"/>
                <a:cs typeface="Arial" panose="020B0604020202020204" pitchFamily="34" charset="0"/>
              </a:rPr>
              <a:t> the </a:t>
            </a:r>
            <a:r>
              <a:rPr lang="en-US" sz="2200" kern="100" dirty="0">
                <a:solidFill>
                  <a:srgbClr val="C00000"/>
                </a:solidFill>
                <a:latin typeface="+mn-lt"/>
                <a:ea typeface="Aptos" panose="020B0004020202020204" pitchFamily="34" charset="0"/>
                <a:cs typeface="Arial" panose="020B0604020202020204" pitchFamily="34" charset="0"/>
              </a:rPr>
              <a:t>original</a:t>
            </a:r>
            <a:r>
              <a:rPr lang="en-US" sz="2200" kern="100" dirty="0">
                <a:latin typeface="+mn-lt"/>
                <a:ea typeface="Aptos" panose="020B0004020202020204" pitchFamily="34" charset="0"/>
                <a:cs typeface="Arial" panose="020B0604020202020204" pitchFamily="34" charset="0"/>
              </a:rPr>
              <a:t> information while incorporating the </a:t>
            </a:r>
            <a:r>
              <a:rPr lang="en-US" sz="2200" kern="100" dirty="0">
                <a:solidFill>
                  <a:srgbClr val="C00000"/>
                </a:solidFill>
                <a:latin typeface="+mn-lt"/>
                <a:ea typeface="Aptos" panose="020B0004020202020204" pitchFamily="34" charset="0"/>
                <a:cs typeface="Arial" panose="020B0604020202020204" pitchFamily="34" charset="0"/>
              </a:rPr>
              <a:t>context</a:t>
            </a:r>
            <a:r>
              <a:rPr lang="en-US" sz="2200" kern="100" dirty="0">
                <a:latin typeface="+mn-lt"/>
                <a:ea typeface="Aptos" panose="020B0004020202020204" pitchFamily="34" charset="0"/>
                <a:cs typeface="Arial" panose="020B0604020202020204" pitchFamily="34" charset="0"/>
              </a:rPr>
              <a:t> using attention</a:t>
            </a:r>
          </a:p>
          <a:p>
            <a:pPr marL="342900" indent="-342900">
              <a:lnSpc>
                <a:spcPct val="107000"/>
              </a:lnSpc>
              <a:spcBef>
                <a:spcPts val="0"/>
              </a:spcBef>
              <a:spcAft>
                <a:spcPts val="800"/>
              </a:spcAft>
              <a:buSzPts val="1000"/>
              <a:buFont typeface="Symbol" panose="05050102010706020507" pitchFamily="18" charset="2"/>
              <a:buChar char=""/>
              <a:tabLst>
                <a:tab pos="457200" algn="l"/>
              </a:tabLst>
            </a:pPr>
            <a:r>
              <a:rPr lang="en-US" sz="2200" kern="100" dirty="0">
                <a:latin typeface="+mn-lt"/>
                <a:ea typeface="Aptos" panose="020B0004020202020204" pitchFamily="34" charset="0"/>
                <a:cs typeface="Arial" panose="020B0604020202020204" pitchFamily="34" charset="0"/>
              </a:rPr>
              <a:t>It also provide a </a:t>
            </a:r>
            <a:r>
              <a:rPr lang="en-US" sz="2200" kern="100" dirty="0">
                <a:solidFill>
                  <a:srgbClr val="C00000"/>
                </a:solidFill>
                <a:latin typeface="+mn-lt"/>
                <a:ea typeface="Aptos" panose="020B0004020202020204" pitchFamily="34" charset="0"/>
                <a:cs typeface="Arial" panose="020B0604020202020204" pitchFamily="34" charset="0"/>
              </a:rPr>
              <a:t>direct path</a:t>
            </a:r>
            <a:r>
              <a:rPr lang="en-US" sz="2200" kern="100" dirty="0">
                <a:latin typeface="+mn-lt"/>
                <a:ea typeface="Aptos" panose="020B0004020202020204" pitchFamily="34" charset="0"/>
                <a:cs typeface="Arial" panose="020B0604020202020204" pitchFamily="34" charset="0"/>
              </a:rPr>
              <a:t> for gradients to flow backward, </a:t>
            </a:r>
            <a:r>
              <a:rPr lang="en-US" sz="2200" kern="100" dirty="0">
                <a:solidFill>
                  <a:srgbClr val="C00000"/>
                </a:solidFill>
                <a:latin typeface="+mn-lt"/>
                <a:ea typeface="Aptos" panose="020B0004020202020204" pitchFamily="34" charset="0"/>
                <a:cs typeface="Arial" panose="020B0604020202020204" pitchFamily="34" charset="0"/>
              </a:rPr>
              <a:t>avoids vanishing gradients</a:t>
            </a:r>
            <a:r>
              <a:rPr lang="en-US" sz="2200" kern="100" dirty="0">
                <a:latin typeface="+mn-lt"/>
                <a:ea typeface="Aptos" panose="020B0004020202020204" pitchFamily="34" charset="0"/>
                <a:cs typeface="Arial" panose="020B0604020202020204" pitchFamily="34" charset="0"/>
              </a:rPr>
              <a:t>.</a:t>
            </a:r>
          </a:p>
          <a:p>
            <a:pPr marL="342900" indent="-342900">
              <a:lnSpc>
                <a:spcPct val="107000"/>
              </a:lnSpc>
              <a:spcBef>
                <a:spcPts val="0"/>
              </a:spcBef>
              <a:spcAft>
                <a:spcPts val="800"/>
              </a:spcAft>
              <a:buSzPts val="1000"/>
              <a:buFont typeface="Symbol" panose="05050102010706020507" pitchFamily="18" charset="2"/>
              <a:buChar char=""/>
              <a:tabLst>
                <a:tab pos="457200" algn="l"/>
              </a:tabLst>
            </a:pPr>
            <a:r>
              <a:rPr lang="en-US" sz="2200" kern="100" dirty="0">
                <a:latin typeface="+mn-lt"/>
                <a:ea typeface="Aptos" panose="020B0004020202020204" pitchFamily="34" charset="0"/>
                <a:cs typeface="Arial" panose="020B0604020202020204" pitchFamily="34" charset="0"/>
              </a:rPr>
              <a:t>This sum is then passed through a layer </a:t>
            </a:r>
            <a:r>
              <a:rPr lang="en-US" sz="2200" kern="100" dirty="0">
                <a:solidFill>
                  <a:srgbClr val="C00000"/>
                </a:solidFill>
                <a:latin typeface="+mn-lt"/>
                <a:ea typeface="Aptos" panose="020B0004020202020204" pitchFamily="34" charset="0"/>
                <a:cs typeface="Arial" panose="020B0604020202020204" pitchFamily="34" charset="0"/>
              </a:rPr>
              <a:t>normalization</a:t>
            </a:r>
            <a:r>
              <a:rPr lang="en-US" sz="2200" kern="100" dirty="0">
                <a:latin typeface="+mn-lt"/>
                <a:ea typeface="Aptos" panose="020B0004020202020204" pitchFamily="34" charset="0"/>
                <a:cs typeface="Arial" panose="020B0604020202020204" pitchFamily="34" charset="0"/>
              </a:rPr>
              <a:t> step, which helps in stabilizing the training by normalizing the input to have </a:t>
            </a:r>
            <a:r>
              <a:rPr lang="en-US" sz="2200" kern="100" dirty="0">
                <a:solidFill>
                  <a:srgbClr val="C00000"/>
                </a:solidFill>
                <a:latin typeface="+mn-lt"/>
                <a:ea typeface="Aptos" panose="020B0004020202020204" pitchFamily="34" charset="0"/>
                <a:cs typeface="Arial" panose="020B0604020202020204" pitchFamily="34" charset="0"/>
              </a:rPr>
              <a:t>zero mean</a:t>
            </a:r>
            <a:r>
              <a:rPr lang="en-US" sz="2200" kern="100" dirty="0">
                <a:latin typeface="+mn-lt"/>
                <a:ea typeface="Aptos" panose="020B0004020202020204" pitchFamily="34" charset="0"/>
                <a:cs typeface="Arial" panose="020B0604020202020204" pitchFamily="34" charset="0"/>
              </a:rPr>
              <a:t> and </a:t>
            </a:r>
            <a:r>
              <a:rPr lang="en-US" sz="2200" kern="100" dirty="0">
                <a:solidFill>
                  <a:srgbClr val="C00000"/>
                </a:solidFill>
                <a:latin typeface="+mn-lt"/>
                <a:ea typeface="Aptos" panose="020B0004020202020204" pitchFamily="34" charset="0"/>
                <a:cs typeface="Arial" panose="020B0604020202020204" pitchFamily="34" charset="0"/>
              </a:rPr>
              <a:t>unit variance</a:t>
            </a:r>
            <a:r>
              <a:rPr lang="en-US" sz="2200" kern="100" dirty="0">
                <a:latin typeface="+mn-lt"/>
                <a:ea typeface="Aptos" panose="020B0004020202020204" pitchFamily="34" charset="0"/>
                <a:cs typeface="Arial" panose="020B0604020202020204" pitchFamily="34" charset="0"/>
              </a:rPr>
              <a:t>. Inputs to activation functions stay in a </a:t>
            </a:r>
            <a:r>
              <a:rPr lang="en-US" sz="2200" kern="100" dirty="0">
                <a:solidFill>
                  <a:srgbClr val="C00000"/>
                </a:solidFill>
                <a:latin typeface="+mn-lt"/>
                <a:ea typeface="Aptos" panose="020B0004020202020204" pitchFamily="34" charset="0"/>
                <a:cs typeface="Arial" panose="020B0604020202020204" pitchFamily="34" charset="0"/>
              </a:rPr>
              <a:t>range</a:t>
            </a:r>
            <a:r>
              <a:rPr lang="en-US" sz="2200" kern="100" dirty="0">
                <a:latin typeface="+mn-lt"/>
                <a:ea typeface="Aptos" panose="020B0004020202020204" pitchFamily="34" charset="0"/>
                <a:cs typeface="Arial" panose="020B0604020202020204" pitchFamily="34" charset="0"/>
              </a:rPr>
              <a:t> where the </a:t>
            </a:r>
            <a:r>
              <a:rPr lang="en-US" sz="2200" kern="100" dirty="0">
                <a:solidFill>
                  <a:srgbClr val="C00000"/>
                </a:solidFill>
                <a:latin typeface="+mn-lt"/>
                <a:ea typeface="Aptos" panose="020B0004020202020204" pitchFamily="34" charset="0"/>
                <a:cs typeface="Arial" panose="020B0604020202020204" pitchFamily="34" charset="0"/>
              </a:rPr>
              <a:t>gradient</a:t>
            </a:r>
            <a:r>
              <a:rPr lang="en-US" sz="2200" kern="100" dirty="0">
                <a:latin typeface="+mn-lt"/>
                <a:ea typeface="Aptos" panose="020B0004020202020204" pitchFamily="34" charset="0"/>
                <a:cs typeface="Arial" panose="020B0604020202020204" pitchFamily="34" charset="0"/>
              </a:rPr>
              <a:t> signal is </a:t>
            </a:r>
            <a:r>
              <a:rPr lang="en-US" sz="2200" kern="100" dirty="0">
                <a:solidFill>
                  <a:srgbClr val="C00000"/>
                </a:solidFill>
                <a:latin typeface="+mn-lt"/>
                <a:ea typeface="Aptos" panose="020B0004020202020204" pitchFamily="34" charset="0"/>
                <a:cs typeface="Arial" panose="020B0604020202020204" pitchFamily="34" charset="0"/>
              </a:rPr>
              <a:t>strong</a:t>
            </a:r>
          </a:p>
          <a:p>
            <a:pPr>
              <a:lnSpc>
                <a:spcPct val="107000"/>
              </a:lnSpc>
              <a:spcBef>
                <a:spcPts val="0"/>
              </a:spcBef>
              <a:spcAft>
                <a:spcPts val="800"/>
              </a:spcAft>
              <a:buSzPts val="1000"/>
              <a:tabLst>
                <a:tab pos="457200" algn="l"/>
              </a:tabLst>
            </a:pPr>
            <a:endParaRPr lang="en-US" sz="2200" kern="100" dirty="0">
              <a:latin typeface="+mn-lt"/>
              <a:ea typeface="Aptos" panose="020B00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316169A1-BE38-C6A2-F750-433C2EC19D4A}"/>
              </a:ext>
            </a:extLst>
          </p:cNvPr>
          <p:cNvSpPr txBox="1"/>
          <p:nvPr/>
        </p:nvSpPr>
        <p:spPr>
          <a:xfrm>
            <a:off x="784890" y="4486313"/>
            <a:ext cx="4553315" cy="1200329"/>
          </a:xfrm>
          <a:prstGeom prst="rect">
            <a:avLst/>
          </a:prstGeom>
          <a:noFill/>
        </p:spPr>
        <p:txBody>
          <a:bodyPr wrap="square">
            <a:spAutoFit/>
          </a:bodyPr>
          <a:lstStyle/>
          <a:p>
            <a:r>
              <a:rPr lang="en-US" dirty="0"/>
              <a:t>In </a:t>
            </a:r>
            <a:r>
              <a:rPr lang="en-US" dirty="0">
                <a:solidFill>
                  <a:srgbClr val="C00000"/>
                </a:solidFill>
              </a:rPr>
              <a:t>newer</a:t>
            </a:r>
            <a:r>
              <a:rPr lang="en-US" dirty="0"/>
              <a:t> models (e.g., GPT4) </a:t>
            </a:r>
            <a:r>
              <a:rPr lang="en-US" dirty="0">
                <a:solidFill>
                  <a:srgbClr val="C00000"/>
                </a:solidFill>
              </a:rPr>
              <a:t>normalizing</a:t>
            </a:r>
            <a:r>
              <a:rPr lang="en-US" dirty="0"/>
              <a:t> happens </a:t>
            </a:r>
            <a:r>
              <a:rPr lang="en-US" dirty="0">
                <a:solidFill>
                  <a:srgbClr val="C00000"/>
                </a:solidFill>
              </a:rPr>
              <a:t>before</a:t>
            </a:r>
            <a:r>
              <a:rPr lang="en-US" dirty="0"/>
              <a:t> </a:t>
            </a:r>
            <a:r>
              <a:rPr lang="en-US" dirty="0">
                <a:solidFill>
                  <a:srgbClr val="C00000"/>
                </a:solidFill>
              </a:rPr>
              <a:t>attention</a:t>
            </a:r>
            <a:r>
              <a:rPr lang="en-US" dirty="0"/>
              <a:t> block and FF network to facilitate training :</a:t>
            </a:r>
          </a:p>
          <a:p>
            <a:r>
              <a:rPr lang="en-US" dirty="0"/>
              <a:t>Emb + FF(Norm(Emb + Attention(Norm(Emb)))</a:t>
            </a:r>
          </a:p>
        </p:txBody>
      </p:sp>
    </p:spTree>
    <p:extLst>
      <p:ext uri="{BB962C8B-B14F-4D97-AF65-F5344CB8AC3E}">
        <p14:creationId xmlns:p14="http://schemas.microsoft.com/office/powerpoint/2010/main" val="2254553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25704" y="392159"/>
            <a:ext cx="10515600" cy="565539"/>
          </a:xfrm>
          <a:prstGeom prst="rect">
            <a:avLst/>
          </a:prstGeom>
        </p:spPr>
        <p:txBody>
          <a:bodyPr vert="horz" wrap="square" lIns="0" tIns="11430" rIns="0" bIns="0" numCol="1" rtlCol="0" anchor="ctr" anchorCtr="0" compatLnSpc="1">
            <a:prstTxWarp prst="textNoShape">
              <a:avLst/>
            </a:prstTxWarp>
            <a:spAutoFit/>
          </a:bodyPr>
          <a:lstStyle/>
          <a:p>
            <a:pPr marL="9525">
              <a:spcBef>
                <a:spcPts val="90"/>
              </a:spcBef>
            </a:pPr>
            <a:r>
              <a:rPr sz="4000" dirty="0"/>
              <a:t>Decoder</a:t>
            </a:r>
            <a:r>
              <a:rPr lang="en-US" sz="4000" dirty="0"/>
              <a:t> Model</a:t>
            </a:r>
            <a:endParaRPr sz="4000" dirty="0"/>
          </a:p>
        </p:txBody>
      </p:sp>
      <p:sp>
        <p:nvSpPr>
          <p:cNvPr id="3" name="object 3"/>
          <p:cNvSpPr txBox="1"/>
          <p:nvPr/>
        </p:nvSpPr>
        <p:spPr>
          <a:xfrm>
            <a:off x="1025704" y="1294530"/>
            <a:ext cx="10851222" cy="1760096"/>
          </a:xfrm>
          <a:prstGeom prst="rect">
            <a:avLst/>
          </a:prstGeom>
        </p:spPr>
        <p:txBody>
          <a:bodyPr vert="horz" wrap="square" lIns="0" tIns="43814" rIns="0" bIns="0" rtlCol="0">
            <a:spAutoFit/>
          </a:bodyPr>
          <a:lstStyle/>
          <a:p>
            <a:pPr marL="466726" indent="-457200">
              <a:spcBef>
                <a:spcPts val="344"/>
              </a:spcBef>
              <a:buFont typeface="Arial" panose="020B0604020202020204" pitchFamily="34" charset="0"/>
              <a:buChar char="•"/>
              <a:tabLst>
                <a:tab pos="201454" algn="l"/>
              </a:tabLst>
            </a:pPr>
            <a:r>
              <a:rPr lang="en-US" sz="2600" dirty="0">
                <a:latin typeface="Calibri"/>
                <a:cs typeface="Calibri"/>
              </a:rPr>
              <a:t>For </a:t>
            </a:r>
            <a:r>
              <a:rPr lang="en-US" sz="2600" dirty="0">
                <a:solidFill>
                  <a:srgbClr val="C00000"/>
                </a:solidFill>
                <a:latin typeface="Calibri"/>
                <a:cs typeface="Calibri"/>
              </a:rPr>
              <a:t>generation</a:t>
            </a:r>
            <a:r>
              <a:rPr lang="en-US" sz="2600" dirty="0">
                <a:latin typeface="Calibri"/>
                <a:cs typeface="Calibri"/>
              </a:rPr>
              <a:t> tasks, </a:t>
            </a:r>
            <a:r>
              <a:rPr lang="en-US" sz="2600" dirty="0">
                <a:solidFill>
                  <a:srgbClr val="C00000"/>
                </a:solidFill>
                <a:latin typeface="Calibri"/>
                <a:cs typeface="Calibri"/>
              </a:rPr>
              <a:t>mask attention </a:t>
            </a:r>
            <a:r>
              <a:rPr lang="en-US" sz="2600" dirty="0">
                <a:latin typeface="Calibri"/>
                <a:cs typeface="Calibri"/>
              </a:rPr>
              <a:t>mechanism is used</a:t>
            </a:r>
          </a:p>
          <a:p>
            <a:pPr marL="466726" indent="-457200">
              <a:spcBef>
                <a:spcPts val="344"/>
              </a:spcBef>
              <a:buFont typeface="Arial" panose="020B0604020202020204" pitchFamily="34" charset="0"/>
              <a:buChar char="•"/>
              <a:tabLst>
                <a:tab pos="201454" algn="l"/>
              </a:tabLst>
            </a:pPr>
            <a:r>
              <a:rPr lang="en-US" sz="2600" dirty="0">
                <a:latin typeface="Calibri"/>
                <a:cs typeface="Calibri"/>
              </a:rPr>
              <a:t>Like encoder, decoder contains </a:t>
            </a:r>
            <a:r>
              <a:rPr lang="en-US" sz="2600" dirty="0">
                <a:solidFill>
                  <a:srgbClr val="C00000"/>
                </a:solidFill>
                <a:latin typeface="Calibri"/>
                <a:cs typeface="Calibri"/>
              </a:rPr>
              <a:t>FF</a:t>
            </a:r>
            <a:r>
              <a:rPr lang="en-US" sz="2600" dirty="0">
                <a:latin typeface="Calibri"/>
                <a:cs typeface="Calibri"/>
              </a:rPr>
              <a:t> and </a:t>
            </a:r>
            <a:r>
              <a:rPr lang="en-US" sz="2600" dirty="0" err="1">
                <a:solidFill>
                  <a:srgbClr val="C00000"/>
                </a:solidFill>
                <a:latin typeface="Calibri"/>
                <a:cs typeface="Calibri"/>
              </a:rPr>
              <a:t>Add&amp;Norm</a:t>
            </a:r>
            <a:r>
              <a:rPr lang="en-US" sz="2600" dirty="0">
                <a:latin typeface="Calibri"/>
                <a:cs typeface="Calibri"/>
              </a:rPr>
              <a:t> layers </a:t>
            </a:r>
          </a:p>
          <a:p>
            <a:pPr marL="466726" indent="-457200">
              <a:spcBef>
                <a:spcPts val="344"/>
              </a:spcBef>
              <a:buFont typeface="Arial" panose="020B0604020202020204" pitchFamily="34" charset="0"/>
              <a:buChar char="•"/>
              <a:tabLst>
                <a:tab pos="201454" algn="l"/>
              </a:tabLst>
            </a:pPr>
            <a:r>
              <a:rPr lang="en-US" sz="2600" dirty="0">
                <a:latin typeface="Calibri"/>
                <a:cs typeface="Calibri"/>
              </a:rPr>
              <a:t>Like encoder, decoder contains </a:t>
            </a:r>
            <a:r>
              <a:rPr lang="en-US" sz="2600" dirty="0">
                <a:solidFill>
                  <a:srgbClr val="C00000"/>
                </a:solidFill>
                <a:latin typeface="Calibri"/>
                <a:cs typeface="Calibri"/>
              </a:rPr>
              <a:t>several layers </a:t>
            </a:r>
            <a:r>
              <a:rPr lang="en-US" sz="2600" dirty="0">
                <a:latin typeface="Calibri"/>
                <a:cs typeface="Calibri"/>
              </a:rPr>
              <a:t>of </a:t>
            </a:r>
            <a:r>
              <a:rPr lang="en-US" sz="2600" dirty="0">
                <a:solidFill>
                  <a:srgbClr val="C00000"/>
                </a:solidFill>
                <a:latin typeface="Calibri"/>
                <a:cs typeface="Calibri"/>
              </a:rPr>
              <a:t>multi-head</a:t>
            </a:r>
            <a:r>
              <a:rPr lang="en-US" sz="2600" dirty="0">
                <a:latin typeface="Calibri"/>
                <a:cs typeface="Calibri"/>
              </a:rPr>
              <a:t> attention blocks</a:t>
            </a:r>
          </a:p>
          <a:p>
            <a:pPr marL="201454" indent="-191928">
              <a:spcBef>
                <a:spcPts val="270"/>
              </a:spcBef>
              <a:buFont typeface="Arial MT"/>
              <a:buChar char="•"/>
              <a:tabLst>
                <a:tab pos="201454" algn="l"/>
              </a:tabLst>
            </a:pPr>
            <a:endParaRPr sz="2600" dirty="0">
              <a:latin typeface="Calibri"/>
              <a:cs typeface="Calibri"/>
            </a:endParaRPr>
          </a:p>
        </p:txBody>
      </p:sp>
      <p:pic>
        <p:nvPicPr>
          <p:cNvPr id="8" name="Picture 7">
            <a:extLst>
              <a:ext uri="{FF2B5EF4-FFF2-40B4-BE49-F238E27FC236}">
                <a16:creationId xmlns:a16="http://schemas.microsoft.com/office/drawing/2014/main" id="{475B8B8D-F862-2511-2BEB-F2D01AED82F8}"/>
              </a:ext>
            </a:extLst>
          </p:cNvPr>
          <p:cNvPicPr>
            <a:picLocks noChangeAspect="1"/>
          </p:cNvPicPr>
          <p:nvPr/>
        </p:nvPicPr>
        <p:blipFill>
          <a:blip r:embed="rId2"/>
          <a:stretch>
            <a:fillRect/>
          </a:stretch>
        </p:blipFill>
        <p:spPr>
          <a:xfrm>
            <a:off x="3558858" y="2689305"/>
            <a:ext cx="4196584" cy="4090677"/>
          </a:xfrm>
          <a:prstGeom prst="rect">
            <a:avLst/>
          </a:prstGeom>
        </p:spPr>
      </p:pic>
      <p:pic>
        <p:nvPicPr>
          <p:cNvPr id="11" name="Content Placeholder 4" descr="A diagram of a process&#10;&#10;Description automatically generated">
            <a:extLst>
              <a:ext uri="{FF2B5EF4-FFF2-40B4-BE49-F238E27FC236}">
                <a16:creationId xmlns:a16="http://schemas.microsoft.com/office/drawing/2014/main" id="{B60DEDFD-B518-82EC-9364-052884593E5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343416" y="2795700"/>
            <a:ext cx="4660481" cy="3392323"/>
          </a:xfrm>
        </p:spPr>
      </p:pic>
      <p:sp>
        <p:nvSpPr>
          <p:cNvPr id="7" name="TextBox 6">
            <a:extLst>
              <a:ext uri="{FF2B5EF4-FFF2-40B4-BE49-F238E27FC236}">
                <a16:creationId xmlns:a16="http://schemas.microsoft.com/office/drawing/2014/main" id="{FA4E87D0-ECEB-2BD5-8CE0-F11A78635F4F}"/>
              </a:ext>
            </a:extLst>
          </p:cNvPr>
          <p:cNvSpPr txBox="1"/>
          <p:nvPr/>
        </p:nvSpPr>
        <p:spPr>
          <a:xfrm>
            <a:off x="1025703" y="4168695"/>
            <a:ext cx="4049731" cy="1238801"/>
          </a:xfrm>
          <a:prstGeom prst="rect">
            <a:avLst/>
          </a:prstGeom>
          <a:noFill/>
        </p:spPr>
        <p:txBody>
          <a:bodyPr wrap="square">
            <a:spAutoFit/>
          </a:bodyPr>
          <a:lstStyle/>
          <a:p>
            <a:pPr marL="9526">
              <a:spcBef>
                <a:spcPts val="344"/>
              </a:spcBef>
              <a:tabLst>
                <a:tab pos="201454" algn="l"/>
              </a:tabLst>
            </a:pPr>
            <a:r>
              <a:rPr lang="en-US" sz="2400" b="1" dirty="0">
                <a:latin typeface="Calibri"/>
                <a:cs typeface="Calibri"/>
              </a:rPr>
              <a:t>Problem</a:t>
            </a:r>
            <a:r>
              <a:rPr lang="en-US" sz="2400" dirty="0">
                <a:latin typeface="Calibri"/>
                <a:cs typeface="Calibri"/>
              </a:rPr>
              <a:t>:</a:t>
            </a:r>
            <a:r>
              <a:rPr lang="en-US" sz="2400" dirty="0">
                <a:solidFill>
                  <a:srgbClr val="C00000"/>
                </a:solidFill>
                <a:latin typeface="Calibri"/>
                <a:cs typeface="Calibri"/>
              </a:rPr>
              <a:t> </a:t>
            </a:r>
          </a:p>
          <a:p>
            <a:pPr marL="9526">
              <a:spcBef>
                <a:spcPts val="344"/>
              </a:spcBef>
              <a:tabLst>
                <a:tab pos="201454" algn="l"/>
              </a:tabLst>
            </a:pPr>
            <a:r>
              <a:rPr lang="en-US" sz="2400" dirty="0">
                <a:latin typeface="Calibri"/>
                <a:cs typeface="Calibri"/>
              </a:rPr>
              <a:t>Needs a </a:t>
            </a:r>
            <a:r>
              <a:rPr lang="en-US" sz="2400" dirty="0">
                <a:solidFill>
                  <a:srgbClr val="C00000"/>
                </a:solidFill>
                <a:latin typeface="Calibri"/>
                <a:cs typeface="Calibri"/>
              </a:rPr>
              <a:t>mechanism </a:t>
            </a:r>
            <a:r>
              <a:rPr lang="en-US" sz="2400" dirty="0">
                <a:latin typeface="Calibri"/>
                <a:cs typeface="Calibri"/>
              </a:rPr>
              <a:t>to receive the </a:t>
            </a:r>
            <a:r>
              <a:rPr lang="en-US" sz="2400" dirty="0">
                <a:solidFill>
                  <a:srgbClr val="C00000"/>
                </a:solidFill>
                <a:latin typeface="Calibri"/>
                <a:cs typeface="Calibri"/>
              </a:rPr>
              <a:t>context</a:t>
            </a:r>
            <a:r>
              <a:rPr lang="en-US" sz="2400" dirty="0">
                <a:latin typeface="Calibri"/>
                <a:cs typeface="Calibri"/>
              </a:rPr>
              <a:t> from </a:t>
            </a:r>
            <a:r>
              <a:rPr lang="en-US" sz="2400" dirty="0">
                <a:solidFill>
                  <a:srgbClr val="C00000"/>
                </a:solidFill>
                <a:latin typeface="Calibri"/>
                <a:cs typeface="Calibri"/>
              </a:rPr>
              <a:t>encoder</a:t>
            </a:r>
            <a:r>
              <a:rPr lang="en-US" sz="2400" dirty="0">
                <a:latin typeface="Calibri"/>
                <a:cs typeface="Calibri"/>
              </a:rPr>
              <a:t> side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2D34E8B-F210-CBC1-FC5B-0A9352F7346A}"/>
              </a:ext>
            </a:extLst>
          </p:cNvPr>
          <p:cNvPicPr>
            <a:picLocks noChangeAspect="1"/>
          </p:cNvPicPr>
          <p:nvPr/>
        </p:nvPicPr>
        <p:blipFill>
          <a:blip r:embed="rId2"/>
          <a:stretch>
            <a:fillRect/>
          </a:stretch>
        </p:blipFill>
        <p:spPr>
          <a:xfrm>
            <a:off x="8989888" y="81997"/>
            <a:ext cx="3202112" cy="4087666"/>
          </a:xfrm>
          <a:prstGeom prst="rect">
            <a:avLst/>
          </a:prstGeom>
        </p:spPr>
      </p:pic>
      <p:sp>
        <p:nvSpPr>
          <p:cNvPr id="2" name="Title 1">
            <a:extLst>
              <a:ext uri="{FF2B5EF4-FFF2-40B4-BE49-F238E27FC236}">
                <a16:creationId xmlns:a16="http://schemas.microsoft.com/office/drawing/2014/main" id="{BBE583FB-F2B6-D456-3715-1339B5F3A0D0}"/>
              </a:ext>
            </a:extLst>
          </p:cNvPr>
          <p:cNvSpPr>
            <a:spLocks noGrp="1"/>
          </p:cNvSpPr>
          <p:nvPr>
            <p:ph type="title"/>
          </p:nvPr>
        </p:nvSpPr>
        <p:spPr>
          <a:xfrm>
            <a:off x="476324" y="604443"/>
            <a:ext cx="8277258" cy="461665"/>
          </a:xfrm>
        </p:spPr>
        <p:txBody>
          <a:bodyPr/>
          <a:lstStyle/>
          <a:p>
            <a:r>
              <a:rPr lang="en-US" dirty="0"/>
              <a:t>Cross attention (Decoder-Encoder)</a:t>
            </a:r>
          </a:p>
        </p:txBody>
      </p:sp>
      <p:sp>
        <p:nvSpPr>
          <p:cNvPr id="3" name="Text Placeholder 2">
            <a:extLst>
              <a:ext uri="{FF2B5EF4-FFF2-40B4-BE49-F238E27FC236}">
                <a16:creationId xmlns:a16="http://schemas.microsoft.com/office/drawing/2014/main" id="{EE8AF2FC-6698-8631-DA17-4A8AE1F00A8D}"/>
              </a:ext>
            </a:extLst>
          </p:cNvPr>
          <p:cNvSpPr>
            <a:spLocks noGrp="1"/>
          </p:cNvSpPr>
          <p:nvPr>
            <p:ph type="body" idx="1"/>
          </p:nvPr>
        </p:nvSpPr>
        <p:spPr>
          <a:xfrm>
            <a:off x="476324" y="1588553"/>
            <a:ext cx="8835774" cy="3077766"/>
          </a:xfrm>
        </p:spPr>
        <p:txBody>
          <a:bodyPr/>
          <a:lstStyle/>
          <a:p>
            <a:pPr marL="342900" indent="-342900"/>
            <a:r>
              <a:rPr lang="en-US" sz="2600" dirty="0"/>
              <a:t>In </a:t>
            </a:r>
            <a:r>
              <a:rPr lang="en-US" sz="2600" dirty="0">
                <a:solidFill>
                  <a:srgbClr val="C00000"/>
                </a:solidFill>
              </a:rPr>
              <a:t>self-attention</a:t>
            </a:r>
            <a:r>
              <a:rPr lang="en-US" sz="2600" dirty="0"/>
              <a:t> and </a:t>
            </a:r>
            <a:r>
              <a:rPr lang="en-US" sz="2600" dirty="0">
                <a:solidFill>
                  <a:srgbClr val="C00000"/>
                </a:solidFill>
              </a:rPr>
              <a:t>masked attention</a:t>
            </a:r>
            <a:r>
              <a:rPr lang="en-US" sz="2600" dirty="0"/>
              <a:t>, the model focuses on different parts of a </a:t>
            </a:r>
            <a:r>
              <a:rPr lang="en-US" sz="2600" dirty="0">
                <a:solidFill>
                  <a:srgbClr val="C00000"/>
                </a:solidFill>
              </a:rPr>
              <a:t>single</a:t>
            </a:r>
            <a:r>
              <a:rPr lang="en-US" sz="2600" dirty="0"/>
              <a:t> </a:t>
            </a:r>
            <a:r>
              <a:rPr lang="en-US" sz="2600" dirty="0">
                <a:solidFill>
                  <a:srgbClr val="C00000"/>
                </a:solidFill>
              </a:rPr>
              <a:t>sequence</a:t>
            </a:r>
            <a:r>
              <a:rPr lang="en-US" sz="2600" dirty="0"/>
              <a:t>.</a:t>
            </a:r>
          </a:p>
          <a:p>
            <a:pPr marL="342900" indent="-342900"/>
            <a:r>
              <a:rPr lang="en-US" sz="2600" dirty="0">
                <a:solidFill>
                  <a:srgbClr val="C00000"/>
                </a:solidFill>
              </a:rPr>
              <a:t>Cross attention </a:t>
            </a:r>
            <a:r>
              <a:rPr lang="en-US" sz="2600" dirty="0"/>
              <a:t>involves </a:t>
            </a:r>
            <a:r>
              <a:rPr lang="en-US" sz="2600" dirty="0">
                <a:solidFill>
                  <a:srgbClr val="C00000"/>
                </a:solidFill>
              </a:rPr>
              <a:t>two sequences</a:t>
            </a:r>
            <a:r>
              <a:rPr lang="en-US" sz="2600" dirty="0"/>
              <a:t>, where the model attends to elements in </a:t>
            </a:r>
            <a:r>
              <a:rPr lang="en-US" sz="2600" dirty="0">
                <a:solidFill>
                  <a:srgbClr val="C00000"/>
                </a:solidFill>
              </a:rPr>
              <a:t>decoder side </a:t>
            </a:r>
            <a:r>
              <a:rPr lang="en-US" sz="2600" dirty="0"/>
              <a:t>sequence</a:t>
            </a:r>
            <a:r>
              <a:rPr lang="en-US" sz="2600" dirty="0">
                <a:solidFill>
                  <a:srgbClr val="C00000"/>
                </a:solidFill>
              </a:rPr>
              <a:t> </a:t>
            </a:r>
            <a:r>
              <a:rPr lang="en-US" sz="2600" dirty="0"/>
              <a:t>based on information from </a:t>
            </a:r>
            <a:r>
              <a:rPr lang="en-US" sz="2600" dirty="0">
                <a:solidFill>
                  <a:srgbClr val="C00000"/>
                </a:solidFill>
              </a:rPr>
              <a:t>encoder side </a:t>
            </a:r>
            <a:r>
              <a:rPr lang="en-US" sz="2600" dirty="0"/>
              <a:t>sequence</a:t>
            </a:r>
          </a:p>
          <a:p>
            <a:pPr marL="342900" indent="-342900"/>
            <a:r>
              <a:rPr lang="en-US" sz="2600" dirty="0"/>
              <a:t>Cross-Attention required for tasks like </a:t>
            </a:r>
            <a:r>
              <a:rPr lang="en-US" sz="2600" dirty="0">
                <a:solidFill>
                  <a:srgbClr val="C00000"/>
                </a:solidFill>
              </a:rPr>
              <a:t>translation</a:t>
            </a:r>
            <a:r>
              <a:rPr lang="en-US" sz="2600" dirty="0"/>
              <a:t>, where the model needs to align words in a </a:t>
            </a:r>
            <a:r>
              <a:rPr lang="en-US" sz="2600" dirty="0">
                <a:solidFill>
                  <a:srgbClr val="C00000"/>
                </a:solidFill>
              </a:rPr>
              <a:t>source </a:t>
            </a:r>
            <a:r>
              <a:rPr lang="en-US" sz="2600" dirty="0"/>
              <a:t>sentence</a:t>
            </a:r>
            <a:r>
              <a:rPr lang="en-US" sz="2600" dirty="0">
                <a:solidFill>
                  <a:srgbClr val="C00000"/>
                </a:solidFill>
              </a:rPr>
              <a:t> </a:t>
            </a:r>
            <a:r>
              <a:rPr lang="en-US" sz="2600" dirty="0"/>
              <a:t>with words in a </a:t>
            </a:r>
            <a:r>
              <a:rPr lang="en-US" sz="2600" dirty="0">
                <a:solidFill>
                  <a:srgbClr val="C00000"/>
                </a:solidFill>
              </a:rPr>
              <a:t>target </a:t>
            </a:r>
            <a:r>
              <a:rPr lang="en-US" sz="2600" dirty="0"/>
              <a:t>sentence</a:t>
            </a:r>
            <a:r>
              <a:rPr lang="en-US" sz="2600" dirty="0">
                <a:solidFill>
                  <a:srgbClr val="C00000"/>
                </a:solidFill>
              </a:rPr>
              <a:t>.</a:t>
            </a:r>
          </a:p>
          <a:p>
            <a:pPr marL="342900" indent="-342900"/>
            <a:r>
              <a:rPr lang="en-US" sz="2600" dirty="0"/>
              <a:t>The decoder takes the encoded</a:t>
            </a:r>
            <a:r>
              <a:rPr lang="en-US" sz="2600" dirty="0">
                <a:solidFill>
                  <a:srgbClr val="C00000"/>
                </a:solidFill>
              </a:rPr>
              <a:t> context </a:t>
            </a:r>
            <a:r>
              <a:rPr lang="en-US" sz="2600" dirty="0"/>
              <a:t>of the source words (e.g., in source language) and uses it to </a:t>
            </a:r>
            <a:r>
              <a:rPr lang="en-US" sz="2600" dirty="0">
                <a:solidFill>
                  <a:srgbClr val="C00000"/>
                </a:solidFill>
              </a:rPr>
              <a:t>generate</a:t>
            </a:r>
            <a:r>
              <a:rPr lang="en-US" sz="2600" dirty="0"/>
              <a:t> or modify the </a:t>
            </a:r>
            <a:r>
              <a:rPr lang="en-US" sz="2600" dirty="0">
                <a:solidFill>
                  <a:srgbClr val="C00000"/>
                </a:solidFill>
              </a:rPr>
              <a:t>target words </a:t>
            </a:r>
            <a:r>
              <a:rPr lang="en-US" sz="2600" dirty="0"/>
              <a:t>(e.g., in target language)</a:t>
            </a:r>
          </a:p>
          <a:p>
            <a:pPr marL="342900" indent="-342900"/>
            <a:endParaRPr lang="en-US" sz="2600" dirty="0"/>
          </a:p>
        </p:txBody>
      </p:sp>
      <p:pic>
        <p:nvPicPr>
          <p:cNvPr id="6" name="Picture 5">
            <a:extLst>
              <a:ext uri="{FF2B5EF4-FFF2-40B4-BE49-F238E27FC236}">
                <a16:creationId xmlns:a16="http://schemas.microsoft.com/office/drawing/2014/main" id="{8CD114D1-5872-8BE8-FC70-E78656A69A82}"/>
              </a:ext>
            </a:extLst>
          </p:cNvPr>
          <p:cNvPicPr>
            <a:picLocks noChangeAspect="1"/>
          </p:cNvPicPr>
          <p:nvPr/>
        </p:nvPicPr>
        <p:blipFill>
          <a:blip r:embed="rId3"/>
          <a:stretch>
            <a:fillRect/>
          </a:stretch>
        </p:blipFill>
        <p:spPr>
          <a:xfrm>
            <a:off x="9790935" y="4265627"/>
            <a:ext cx="1666154" cy="2593603"/>
          </a:xfrm>
          <a:prstGeom prst="rect">
            <a:avLst/>
          </a:prstGeom>
        </p:spPr>
      </p:pic>
      <p:sp>
        <p:nvSpPr>
          <p:cNvPr id="5" name="TextBox 4">
            <a:extLst>
              <a:ext uri="{FF2B5EF4-FFF2-40B4-BE49-F238E27FC236}">
                <a16:creationId xmlns:a16="http://schemas.microsoft.com/office/drawing/2014/main" id="{E9DC4650-B000-0AE1-D4BB-090C9A8D448B}"/>
              </a:ext>
            </a:extLst>
          </p:cNvPr>
          <p:cNvSpPr txBox="1"/>
          <p:nvPr/>
        </p:nvSpPr>
        <p:spPr>
          <a:xfrm>
            <a:off x="4894211" y="6129672"/>
            <a:ext cx="4796910" cy="646331"/>
          </a:xfrm>
          <a:prstGeom prst="rect">
            <a:avLst/>
          </a:prstGeom>
          <a:noFill/>
        </p:spPr>
        <p:txBody>
          <a:bodyPr wrap="square">
            <a:spAutoFit/>
          </a:bodyPr>
          <a:lstStyle/>
          <a:p>
            <a:r>
              <a:rPr lang="en-US" sz="1800" dirty="0"/>
              <a:t>The </a:t>
            </a:r>
            <a:r>
              <a:rPr lang="en-US" sz="1800" dirty="0">
                <a:solidFill>
                  <a:srgbClr val="C00000"/>
                </a:solidFill>
              </a:rPr>
              <a:t>queries</a:t>
            </a:r>
            <a:r>
              <a:rPr lang="en-US" sz="1800" dirty="0"/>
              <a:t> come from the </a:t>
            </a:r>
            <a:r>
              <a:rPr lang="en-US" sz="1800" dirty="0">
                <a:solidFill>
                  <a:srgbClr val="C00000"/>
                </a:solidFill>
              </a:rPr>
              <a:t>decoder</a:t>
            </a:r>
            <a:r>
              <a:rPr lang="en-US" sz="1800" dirty="0"/>
              <a:t> </a:t>
            </a:r>
          </a:p>
          <a:p>
            <a:r>
              <a:rPr lang="en-US" sz="1800" dirty="0"/>
              <a:t>The </a:t>
            </a:r>
            <a:r>
              <a:rPr lang="en-US" sz="1800" dirty="0">
                <a:solidFill>
                  <a:srgbClr val="C00000"/>
                </a:solidFill>
              </a:rPr>
              <a:t>keys</a:t>
            </a:r>
            <a:r>
              <a:rPr lang="en-US" sz="1800" dirty="0"/>
              <a:t> and </a:t>
            </a:r>
            <a:r>
              <a:rPr lang="en-US" sz="1800" dirty="0">
                <a:solidFill>
                  <a:srgbClr val="C00000"/>
                </a:solidFill>
              </a:rPr>
              <a:t>values</a:t>
            </a:r>
            <a:r>
              <a:rPr lang="en-US" sz="1800" dirty="0"/>
              <a:t> both come from the </a:t>
            </a:r>
            <a:r>
              <a:rPr lang="en-US" sz="1800" dirty="0">
                <a:solidFill>
                  <a:srgbClr val="C00000"/>
                </a:solidFill>
              </a:rPr>
              <a:t>encoder</a:t>
            </a:r>
            <a:endParaRPr lang="en-US" dirty="0"/>
          </a:p>
        </p:txBody>
      </p:sp>
    </p:spTree>
    <p:extLst>
      <p:ext uri="{BB962C8B-B14F-4D97-AF65-F5344CB8AC3E}">
        <p14:creationId xmlns:p14="http://schemas.microsoft.com/office/powerpoint/2010/main" val="41251585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6E173-340C-DAAB-C0DC-6D4F640AA330}"/>
              </a:ext>
            </a:extLst>
          </p:cNvPr>
          <p:cNvSpPr>
            <a:spLocks noGrp="1"/>
          </p:cNvSpPr>
          <p:nvPr>
            <p:ph type="title"/>
          </p:nvPr>
        </p:nvSpPr>
        <p:spPr/>
        <p:txBody>
          <a:bodyPr/>
          <a:lstStyle/>
          <a:p>
            <a:r>
              <a:rPr lang="en-US" dirty="0"/>
              <a:t>Linear Layer and </a:t>
            </a:r>
            <a:r>
              <a:rPr lang="en-US" dirty="0" err="1"/>
              <a:t>Softmax</a:t>
            </a:r>
            <a:endParaRPr lang="en-US" dirty="0"/>
          </a:p>
        </p:txBody>
      </p:sp>
      <p:sp>
        <p:nvSpPr>
          <p:cNvPr id="3" name="Content Placeholder 2">
            <a:extLst>
              <a:ext uri="{FF2B5EF4-FFF2-40B4-BE49-F238E27FC236}">
                <a16:creationId xmlns:a16="http://schemas.microsoft.com/office/drawing/2014/main" id="{6C5CD09F-D74B-88A3-7982-180229E3623D}"/>
              </a:ext>
            </a:extLst>
          </p:cNvPr>
          <p:cNvSpPr>
            <a:spLocks noGrp="1"/>
          </p:cNvSpPr>
          <p:nvPr>
            <p:ph idx="1"/>
          </p:nvPr>
        </p:nvSpPr>
        <p:spPr>
          <a:xfrm>
            <a:off x="864742" y="1797407"/>
            <a:ext cx="8597773" cy="4351338"/>
          </a:xfrm>
        </p:spPr>
        <p:txBody>
          <a:bodyPr/>
          <a:lstStyle/>
          <a:p>
            <a:r>
              <a:rPr lang="en-US" sz="2400" dirty="0"/>
              <a:t>For </a:t>
            </a:r>
            <a:r>
              <a:rPr lang="en-US" sz="2400" dirty="0">
                <a:solidFill>
                  <a:srgbClr val="C00000"/>
                </a:solidFill>
              </a:rPr>
              <a:t>each</a:t>
            </a:r>
            <a:r>
              <a:rPr lang="en-US" sz="2400" dirty="0"/>
              <a:t> </a:t>
            </a:r>
            <a:r>
              <a:rPr lang="en-US" sz="2400" dirty="0">
                <a:solidFill>
                  <a:srgbClr val="C00000"/>
                </a:solidFill>
              </a:rPr>
              <a:t>output</a:t>
            </a:r>
            <a:r>
              <a:rPr lang="en-US" sz="2400" dirty="0"/>
              <a:t> of </a:t>
            </a:r>
            <a:r>
              <a:rPr lang="en-US" sz="2400" dirty="0">
                <a:solidFill>
                  <a:srgbClr val="C00000"/>
                </a:solidFill>
              </a:rPr>
              <a:t>final self-attention</a:t>
            </a:r>
            <a:r>
              <a:rPr lang="en-US" sz="2400" dirty="0"/>
              <a:t>, the model needs to </a:t>
            </a:r>
            <a:r>
              <a:rPr lang="en-US" sz="2400" dirty="0">
                <a:solidFill>
                  <a:srgbClr val="C00000"/>
                </a:solidFill>
              </a:rPr>
              <a:t>predict a token</a:t>
            </a:r>
            <a:r>
              <a:rPr lang="en-US" sz="2400" dirty="0"/>
              <a:t> based on the </a:t>
            </a:r>
            <a:r>
              <a:rPr lang="en-US" sz="2400" dirty="0">
                <a:solidFill>
                  <a:srgbClr val="C00000"/>
                </a:solidFill>
              </a:rPr>
              <a:t>contextual information </a:t>
            </a:r>
            <a:r>
              <a:rPr lang="en-US" sz="2400" dirty="0"/>
              <a:t>of that position</a:t>
            </a:r>
          </a:p>
          <a:p>
            <a:r>
              <a:rPr lang="en-US" sz="2400" dirty="0"/>
              <a:t>The </a:t>
            </a:r>
            <a:r>
              <a:rPr lang="en-US" sz="2400" dirty="0">
                <a:solidFill>
                  <a:srgbClr val="C00000"/>
                </a:solidFill>
              </a:rPr>
              <a:t>output</a:t>
            </a:r>
            <a:r>
              <a:rPr lang="en-US" sz="2400" dirty="0"/>
              <a:t> of the final self-attention is an embedding (same size as input) representing the context of the next token</a:t>
            </a:r>
            <a:endParaRPr lang="en-US" sz="2400" dirty="0">
              <a:solidFill>
                <a:srgbClr val="C00000"/>
              </a:solidFill>
            </a:endParaRPr>
          </a:p>
          <a:p>
            <a:r>
              <a:rPr lang="en-US" sz="2400" dirty="0"/>
              <a:t>A </a:t>
            </a:r>
            <a:r>
              <a:rPr lang="en-US" sz="2400" dirty="0">
                <a:solidFill>
                  <a:srgbClr val="C00000"/>
                </a:solidFill>
              </a:rPr>
              <a:t>linear fully connected layer </a:t>
            </a:r>
            <a:r>
              <a:rPr lang="en-US" sz="2400" dirty="0"/>
              <a:t>produces a vector of </a:t>
            </a:r>
            <a:r>
              <a:rPr lang="en-US" sz="2400" dirty="0">
                <a:solidFill>
                  <a:srgbClr val="C00000"/>
                </a:solidFill>
              </a:rPr>
              <a:t>size</a:t>
            </a:r>
            <a:r>
              <a:rPr lang="en-US" sz="2400" dirty="0"/>
              <a:t> equal to the </a:t>
            </a:r>
            <a:r>
              <a:rPr lang="en-US" sz="2400" dirty="0">
                <a:solidFill>
                  <a:srgbClr val="C00000"/>
                </a:solidFill>
              </a:rPr>
              <a:t>vocabulary</a:t>
            </a:r>
            <a:r>
              <a:rPr lang="en-US" sz="2400" dirty="0"/>
              <a:t> (e.g., 50k), one value per token in the vocabulary, called </a:t>
            </a:r>
            <a:r>
              <a:rPr lang="en-US" sz="2400" dirty="0">
                <a:solidFill>
                  <a:srgbClr val="C00000"/>
                </a:solidFill>
              </a:rPr>
              <a:t>logits</a:t>
            </a:r>
            <a:r>
              <a:rPr lang="en-US" sz="2400" dirty="0"/>
              <a:t> (logits=</a:t>
            </a:r>
            <a:r>
              <a:rPr lang="en-US" sz="2400" dirty="0" err="1"/>
              <a:t>XW+b</a:t>
            </a:r>
            <a:r>
              <a:rPr lang="en-US" sz="2400" dirty="0"/>
              <a:t>)</a:t>
            </a:r>
          </a:p>
          <a:p>
            <a:r>
              <a:rPr lang="en-US" sz="2400" dirty="0"/>
              <a:t>The linear layer </a:t>
            </a:r>
            <a:r>
              <a:rPr lang="en-US" sz="2400" dirty="0">
                <a:solidFill>
                  <a:srgbClr val="C00000"/>
                </a:solidFill>
              </a:rPr>
              <a:t>learns</a:t>
            </a:r>
            <a:r>
              <a:rPr lang="en-US" sz="2400" dirty="0"/>
              <a:t> (during training) to assign </a:t>
            </a:r>
            <a:r>
              <a:rPr lang="en-US" sz="2400" dirty="0">
                <a:solidFill>
                  <a:srgbClr val="C00000"/>
                </a:solidFill>
              </a:rPr>
              <a:t>biggest value </a:t>
            </a:r>
            <a:r>
              <a:rPr lang="en-US" sz="2400" dirty="0"/>
              <a:t>to the </a:t>
            </a:r>
            <a:r>
              <a:rPr lang="en-US" sz="2400" dirty="0">
                <a:solidFill>
                  <a:srgbClr val="C00000"/>
                </a:solidFill>
              </a:rPr>
              <a:t>most probable </a:t>
            </a:r>
            <a:r>
              <a:rPr lang="en-US" sz="2400" dirty="0"/>
              <a:t>tokens based on the contextual information of each output of the final attention block.</a:t>
            </a:r>
          </a:p>
          <a:p>
            <a:r>
              <a:rPr lang="en-US" sz="2400" dirty="0"/>
              <a:t>The numbers in </a:t>
            </a:r>
            <a:r>
              <a:rPr lang="en-US" sz="2400" dirty="0">
                <a:solidFill>
                  <a:srgbClr val="C00000"/>
                </a:solidFill>
              </a:rPr>
              <a:t>logits</a:t>
            </a:r>
            <a:r>
              <a:rPr lang="en-US" sz="2400" dirty="0"/>
              <a:t> are not normalized. A </a:t>
            </a:r>
            <a:r>
              <a:rPr lang="en-US" sz="2400" dirty="0" err="1">
                <a:solidFill>
                  <a:srgbClr val="C00000"/>
                </a:solidFill>
              </a:rPr>
              <a:t>softmax</a:t>
            </a:r>
            <a:r>
              <a:rPr lang="en-US" sz="2400" dirty="0"/>
              <a:t> is used to convert them to the </a:t>
            </a:r>
            <a:r>
              <a:rPr lang="en-US" sz="2400" dirty="0">
                <a:solidFill>
                  <a:srgbClr val="C00000"/>
                </a:solidFill>
              </a:rPr>
              <a:t>probabilities </a:t>
            </a:r>
            <a:r>
              <a:rPr lang="en-US" sz="2400" dirty="0"/>
              <a:t>(add to 1) </a:t>
            </a:r>
          </a:p>
        </p:txBody>
      </p:sp>
      <p:pic>
        <p:nvPicPr>
          <p:cNvPr id="5" name="Picture 4">
            <a:extLst>
              <a:ext uri="{FF2B5EF4-FFF2-40B4-BE49-F238E27FC236}">
                <a16:creationId xmlns:a16="http://schemas.microsoft.com/office/drawing/2014/main" id="{76F69C16-67B8-384F-A1A3-A76DD72F04C2}"/>
              </a:ext>
            </a:extLst>
          </p:cNvPr>
          <p:cNvPicPr>
            <a:picLocks noChangeAspect="1"/>
          </p:cNvPicPr>
          <p:nvPr/>
        </p:nvPicPr>
        <p:blipFill>
          <a:blip r:embed="rId2"/>
          <a:stretch>
            <a:fillRect/>
          </a:stretch>
        </p:blipFill>
        <p:spPr>
          <a:xfrm>
            <a:off x="9462515" y="5060593"/>
            <a:ext cx="2372635" cy="1432282"/>
          </a:xfrm>
          <a:prstGeom prst="rect">
            <a:avLst/>
          </a:prstGeom>
        </p:spPr>
      </p:pic>
      <p:pic>
        <p:nvPicPr>
          <p:cNvPr id="6" name="Picture 5" descr="A diagram of a software algorithm&#10;&#10;Description automatically generated">
            <a:extLst>
              <a:ext uri="{FF2B5EF4-FFF2-40B4-BE49-F238E27FC236}">
                <a16:creationId xmlns:a16="http://schemas.microsoft.com/office/drawing/2014/main" id="{58A4D1D0-BBD9-58F5-932A-63E754F727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62515" y="1206325"/>
            <a:ext cx="2713368" cy="3434644"/>
          </a:xfrm>
          <a:prstGeom prst="rect">
            <a:avLst/>
          </a:prstGeom>
        </p:spPr>
      </p:pic>
    </p:spTree>
    <p:extLst>
      <p:ext uri="{BB962C8B-B14F-4D97-AF65-F5344CB8AC3E}">
        <p14:creationId xmlns:p14="http://schemas.microsoft.com/office/powerpoint/2010/main" val="3446367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3"/>
          <p:cNvPicPr/>
          <p:nvPr/>
        </p:nvPicPr>
        <p:blipFill>
          <a:blip r:embed="rId3" cstate="print"/>
          <a:stretch>
            <a:fillRect/>
          </a:stretch>
        </p:blipFill>
        <p:spPr>
          <a:xfrm>
            <a:off x="1592494" y="1128154"/>
            <a:ext cx="9063026" cy="5729845"/>
          </a:xfrm>
          <a:prstGeom prst="rect">
            <a:avLst/>
          </a:prstGeom>
        </p:spPr>
      </p:pic>
      <p:sp>
        <p:nvSpPr>
          <p:cNvPr id="2" name="object 2"/>
          <p:cNvSpPr txBox="1">
            <a:spLocks noGrp="1"/>
          </p:cNvSpPr>
          <p:nvPr>
            <p:ph type="title"/>
          </p:nvPr>
        </p:nvSpPr>
        <p:spPr>
          <a:xfrm>
            <a:off x="493160" y="280615"/>
            <a:ext cx="11290345" cy="847540"/>
          </a:xfrm>
          <a:prstGeom prst="rect">
            <a:avLst/>
          </a:prstGeom>
        </p:spPr>
        <p:txBody>
          <a:bodyPr vert="horz" wrap="square" lIns="0" tIns="235839" rIns="0" bIns="0" numCol="1" rtlCol="0" anchor="ctr" anchorCtr="0" compatLnSpc="1">
            <a:prstTxWarp prst="textNoShape">
              <a:avLst/>
            </a:prstTxWarp>
            <a:spAutoFit/>
          </a:bodyPr>
          <a:lstStyle/>
          <a:p>
            <a:pPr marL="9525" algn="ctr">
              <a:spcBef>
                <a:spcPts val="75"/>
              </a:spcBef>
            </a:pPr>
            <a:r>
              <a:rPr spc="-56" dirty="0"/>
              <a:t>Transformer</a:t>
            </a:r>
            <a:r>
              <a:rPr spc="-131" dirty="0"/>
              <a:t> </a:t>
            </a:r>
            <a:r>
              <a:rPr spc="-8" dirty="0"/>
              <a:t>Model</a:t>
            </a:r>
            <a:r>
              <a:rPr spc="-127" dirty="0"/>
              <a:t> </a:t>
            </a:r>
            <a:r>
              <a:rPr lang="en-US" spc="-127" dirty="0"/>
              <a:t> - Full </a:t>
            </a:r>
            <a:r>
              <a:rPr spc="-15" dirty="0"/>
              <a:t>Architecture</a:t>
            </a:r>
          </a:p>
        </p:txBody>
      </p:sp>
    </p:spTree>
    <p:extLst>
      <p:ext uri="{BB962C8B-B14F-4D97-AF65-F5344CB8AC3E}">
        <p14:creationId xmlns:p14="http://schemas.microsoft.com/office/powerpoint/2010/main" val="10322628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4639672-0EF6-3B11-917A-F02CD069A56F}"/>
              </a:ext>
            </a:extLst>
          </p:cNvPr>
          <p:cNvPicPr>
            <a:picLocks noChangeAspect="1"/>
          </p:cNvPicPr>
          <p:nvPr/>
        </p:nvPicPr>
        <p:blipFill>
          <a:blip r:embed="rId2"/>
          <a:stretch>
            <a:fillRect/>
          </a:stretch>
        </p:blipFill>
        <p:spPr>
          <a:xfrm>
            <a:off x="8958040" y="1201081"/>
            <a:ext cx="3132311" cy="3099924"/>
          </a:xfrm>
          <a:prstGeom prst="rect">
            <a:avLst/>
          </a:prstGeom>
        </p:spPr>
      </p:pic>
      <p:sp>
        <p:nvSpPr>
          <p:cNvPr id="2" name="Title 1">
            <a:extLst>
              <a:ext uri="{FF2B5EF4-FFF2-40B4-BE49-F238E27FC236}">
                <a16:creationId xmlns:a16="http://schemas.microsoft.com/office/drawing/2014/main" id="{2AB66BAE-90BC-A989-9AC9-C2106BAE07C8}"/>
              </a:ext>
            </a:extLst>
          </p:cNvPr>
          <p:cNvSpPr>
            <a:spLocks noGrp="1"/>
          </p:cNvSpPr>
          <p:nvPr>
            <p:ph type="title"/>
          </p:nvPr>
        </p:nvSpPr>
        <p:spPr>
          <a:xfrm>
            <a:off x="770562" y="428540"/>
            <a:ext cx="8021939" cy="461665"/>
          </a:xfrm>
        </p:spPr>
        <p:txBody>
          <a:bodyPr/>
          <a:lstStyle/>
          <a:p>
            <a:r>
              <a:rPr lang="en-US" sz="4000" dirty="0"/>
              <a:t>Text Generation</a:t>
            </a:r>
          </a:p>
        </p:txBody>
      </p:sp>
      <p:sp>
        <p:nvSpPr>
          <p:cNvPr id="3" name="Text Placeholder 2">
            <a:extLst>
              <a:ext uri="{FF2B5EF4-FFF2-40B4-BE49-F238E27FC236}">
                <a16:creationId xmlns:a16="http://schemas.microsoft.com/office/drawing/2014/main" id="{BD001E78-C704-4D79-CE03-7AB491C754E7}"/>
              </a:ext>
            </a:extLst>
          </p:cNvPr>
          <p:cNvSpPr>
            <a:spLocks noGrp="1"/>
          </p:cNvSpPr>
          <p:nvPr>
            <p:ph type="body" idx="1"/>
          </p:nvPr>
        </p:nvSpPr>
        <p:spPr>
          <a:xfrm>
            <a:off x="770562" y="1420704"/>
            <a:ext cx="6606283" cy="1538883"/>
          </a:xfrm>
        </p:spPr>
        <p:txBody>
          <a:bodyPr/>
          <a:lstStyle/>
          <a:p>
            <a:pPr marL="342900" indent="-342900"/>
            <a:r>
              <a:rPr lang="en-US" sz="2600" dirty="0"/>
              <a:t>Decoder does </a:t>
            </a:r>
            <a:r>
              <a:rPr lang="en-US" sz="2600" dirty="0">
                <a:solidFill>
                  <a:srgbClr val="C00000"/>
                </a:solidFill>
              </a:rPr>
              <a:t>not directly </a:t>
            </a:r>
            <a:r>
              <a:rPr lang="en-US" sz="2600" dirty="0"/>
              <a:t>produce </a:t>
            </a:r>
            <a:r>
              <a:rPr lang="en-US" sz="2600" dirty="0">
                <a:solidFill>
                  <a:srgbClr val="C00000"/>
                </a:solidFill>
              </a:rPr>
              <a:t>tokens</a:t>
            </a:r>
            <a:r>
              <a:rPr lang="en-US" sz="2600" dirty="0"/>
              <a:t> </a:t>
            </a:r>
          </a:p>
          <a:p>
            <a:pPr marL="342900" indent="-342900"/>
            <a:r>
              <a:rPr lang="en-US" sz="2600" dirty="0"/>
              <a:t>Decoder calculate </a:t>
            </a:r>
            <a:r>
              <a:rPr lang="en-US" sz="2600" dirty="0">
                <a:solidFill>
                  <a:srgbClr val="C00000"/>
                </a:solidFill>
              </a:rPr>
              <a:t>probabilities</a:t>
            </a:r>
            <a:r>
              <a:rPr lang="en-US" sz="2600" dirty="0"/>
              <a:t> assigned to </a:t>
            </a:r>
            <a:r>
              <a:rPr lang="en-US" sz="2600" dirty="0">
                <a:solidFill>
                  <a:srgbClr val="C00000"/>
                </a:solidFill>
              </a:rPr>
              <a:t>every possible token </a:t>
            </a:r>
            <a:r>
              <a:rPr lang="en-US" sz="2600" dirty="0"/>
              <a:t>in their vocabulary. </a:t>
            </a:r>
          </a:p>
          <a:p>
            <a:pPr marL="342900" indent="-342900"/>
            <a:r>
              <a:rPr lang="en-US" sz="2600" dirty="0"/>
              <a:t>There should be a </a:t>
            </a:r>
            <a:r>
              <a:rPr lang="en-US" sz="2600" dirty="0">
                <a:solidFill>
                  <a:srgbClr val="C00000"/>
                </a:solidFill>
              </a:rPr>
              <a:t>decoding strategy </a:t>
            </a:r>
            <a:r>
              <a:rPr lang="en-US" sz="2600" dirty="0"/>
              <a:t>to choose </a:t>
            </a:r>
            <a:r>
              <a:rPr lang="en-US" sz="2600" dirty="0">
                <a:solidFill>
                  <a:srgbClr val="C00000"/>
                </a:solidFill>
              </a:rPr>
              <a:t>best choice</a:t>
            </a:r>
          </a:p>
          <a:p>
            <a:pPr marL="342900" indent="-342900"/>
            <a:endParaRPr lang="en-US" sz="2600" dirty="0"/>
          </a:p>
        </p:txBody>
      </p:sp>
      <p:pic>
        <p:nvPicPr>
          <p:cNvPr id="9" name="Picture 8">
            <a:extLst>
              <a:ext uri="{FF2B5EF4-FFF2-40B4-BE49-F238E27FC236}">
                <a16:creationId xmlns:a16="http://schemas.microsoft.com/office/drawing/2014/main" id="{B03DC7DA-095B-35BB-02A3-FBEB87B1C2C7}"/>
              </a:ext>
            </a:extLst>
          </p:cNvPr>
          <p:cNvPicPr>
            <a:picLocks noChangeAspect="1"/>
          </p:cNvPicPr>
          <p:nvPr/>
        </p:nvPicPr>
        <p:blipFill>
          <a:blip r:embed="rId3"/>
          <a:stretch>
            <a:fillRect/>
          </a:stretch>
        </p:blipFill>
        <p:spPr>
          <a:xfrm>
            <a:off x="359596" y="3705435"/>
            <a:ext cx="8110319" cy="2880300"/>
          </a:xfrm>
          <a:prstGeom prst="rect">
            <a:avLst/>
          </a:prstGeom>
        </p:spPr>
      </p:pic>
    </p:spTree>
    <p:extLst>
      <p:ext uri="{BB962C8B-B14F-4D97-AF65-F5344CB8AC3E}">
        <p14:creationId xmlns:p14="http://schemas.microsoft.com/office/powerpoint/2010/main" val="218226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10F78B6-AC47-33D0-EEC5-262760328985}"/>
              </a:ext>
            </a:extLst>
          </p:cNvPr>
          <p:cNvPicPr>
            <a:picLocks noChangeAspect="1"/>
          </p:cNvPicPr>
          <p:nvPr/>
        </p:nvPicPr>
        <p:blipFill>
          <a:blip r:embed="rId2"/>
          <a:stretch>
            <a:fillRect/>
          </a:stretch>
        </p:blipFill>
        <p:spPr>
          <a:xfrm>
            <a:off x="1227781" y="4617674"/>
            <a:ext cx="7720156" cy="1504669"/>
          </a:xfrm>
          <a:prstGeom prst="rect">
            <a:avLst/>
          </a:prstGeom>
        </p:spPr>
      </p:pic>
      <p:sp>
        <p:nvSpPr>
          <p:cNvPr id="2" name="object 2"/>
          <p:cNvSpPr txBox="1">
            <a:spLocks noGrp="1"/>
          </p:cNvSpPr>
          <p:nvPr>
            <p:ph type="title"/>
          </p:nvPr>
        </p:nvSpPr>
        <p:spPr>
          <a:xfrm>
            <a:off x="-383996" y="360895"/>
            <a:ext cx="10515600" cy="619016"/>
          </a:xfrm>
          <a:prstGeom prst="rect">
            <a:avLst/>
          </a:prstGeom>
        </p:spPr>
        <p:txBody>
          <a:bodyPr vert="horz" wrap="square" lIns="0" tIns="9525" rIns="0" bIns="0" numCol="1" rtlCol="0" anchor="ctr" anchorCtr="0" compatLnSpc="1">
            <a:prstTxWarp prst="textNoShape">
              <a:avLst/>
            </a:prstTxWarp>
            <a:spAutoFit/>
          </a:bodyPr>
          <a:lstStyle/>
          <a:p>
            <a:pPr marL="1353026">
              <a:spcBef>
                <a:spcPts val="75"/>
              </a:spcBef>
            </a:pPr>
            <a:r>
              <a:rPr lang="en-US" sz="4400" dirty="0"/>
              <a:t>Why Decoding Strategy?</a:t>
            </a:r>
            <a:endParaRPr spc="-45" dirty="0"/>
          </a:p>
        </p:txBody>
      </p:sp>
      <p:sp>
        <p:nvSpPr>
          <p:cNvPr id="7" name="TextBox 6">
            <a:extLst>
              <a:ext uri="{FF2B5EF4-FFF2-40B4-BE49-F238E27FC236}">
                <a16:creationId xmlns:a16="http://schemas.microsoft.com/office/drawing/2014/main" id="{F4BA07AB-E4C1-EEE3-BD50-E193207AD162}"/>
              </a:ext>
            </a:extLst>
          </p:cNvPr>
          <p:cNvSpPr txBox="1"/>
          <p:nvPr/>
        </p:nvSpPr>
        <p:spPr>
          <a:xfrm>
            <a:off x="8871735" y="4935361"/>
            <a:ext cx="2946115" cy="369332"/>
          </a:xfrm>
          <a:prstGeom prst="rect">
            <a:avLst/>
          </a:prstGeom>
          <a:noFill/>
        </p:spPr>
        <p:txBody>
          <a:bodyPr wrap="square">
            <a:spAutoFit/>
          </a:bodyPr>
          <a:lstStyle/>
          <a:p>
            <a:r>
              <a:rPr lang="en-US" dirty="0">
                <a:solidFill>
                  <a:schemeClr val="accent1">
                    <a:lumMod val="50000"/>
                  </a:schemeClr>
                </a:solidFill>
                <a:effectLst/>
              </a:rPr>
              <a:t>P</a:t>
            </a:r>
            <a:r>
              <a:rPr lang="en-US" dirty="0">
                <a:solidFill>
                  <a:schemeClr val="accent1">
                    <a:lumMod val="50000"/>
                  </a:schemeClr>
                </a:solidFill>
              </a:rPr>
              <a:t>(</a:t>
            </a:r>
            <a:r>
              <a:rPr lang="en-US" b="1" dirty="0">
                <a:solidFill>
                  <a:schemeClr val="accent1">
                    <a:lumMod val="50000"/>
                  </a:schemeClr>
                </a:solidFill>
              </a:rPr>
              <a:t>of</a:t>
            </a:r>
            <a:r>
              <a:rPr lang="en-US" dirty="0">
                <a:solidFill>
                  <a:schemeClr val="accent1">
                    <a:lumMod val="50000"/>
                  </a:schemeClr>
                </a:solidFill>
              </a:rPr>
              <a:t> ∣ I have a dream)=%17</a:t>
            </a:r>
          </a:p>
        </p:txBody>
      </p:sp>
      <p:sp>
        <p:nvSpPr>
          <p:cNvPr id="8" name="TextBox 7">
            <a:extLst>
              <a:ext uri="{FF2B5EF4-FFF2-40B4-BE49-F238E27FC236}">
                <a16:creationId xmlns:a16="http://schemas.microsoft.com/office/drawing/2014/main" id="{EA681036-C7D0-03D5-6ACB-679BA47DC156}"/>
              </a:ext>
            </a:extLst>
          </p:cNvPr>
          <p:cNvSpPr txBox="1"/>
          <p:nvPr/>
        </p:nvSpPr>
        <p:spPr>
          <a:xfrm>
            <a:off x="1014574" y="1434142"/>
            <a:ext cx="10515600" cy="3046988"/>
          </a:xfrm>
          <a:prstGeom prst="rect">
            <a:avLst/>
          </a:prstGeom>
          <a:noFill/>
        </p:spPr>
        <p:txBody>
          <a:bodyPr wrap="square">
            <a:spAutoFit/>
          </a:bodyPr>
          <a:lstStyle/>
          <a:p>
            <a:pPr marL="342900" indent="-342900">
              <a:buFont typeface="Arial" panose="020B0604020202020204" pitchFamily="34" charset="0"/>
              <a:buChar char="•"/>
            </a:pPr>
            <a:r>
              <a:rPr lang="en-US" sz="2400" dirty="0"/>
              <a:t>Decoding strategies are methods used to </a:t>
            </a:r>
            <a:r>
              <a:rPr lang="en-US" sz="2400" dirty="0">
                <a:solidFill>
                  <a:srgbClr val="C00000"/>
                </a:solidFill>
              </a:rPr>
              <a:t>generate</a:t>
            </a:r>
            <a:r>
              <a:rPr lang="en-US" sz="2400" dirty="0"/>
              <a:t> a </a:t>
            </a:r>
            <a:r>
              <a:rPr lang="en-US" sz="2400" dirty="0">
                <a:solidFill>
                  <a:srgbClr val="C00000"/>
                </a:solidFill>
              </a:rPr>
              <a:t>sequence of text </a:t>
            </a:r>
            <a:r>
              <a:rPr lang="en-US" sz="2400" dirty="0"/>
              <a:t>from a trained model.</a:t>
            </a:r>
          </a:p>
          <a:p>
            <a:pPr marL="285750" indent="-285750">
              <a:buFont typeface="Arial" panose="020B0604020202020204" pitchFamily="34" charset="0"/>
              <a:buChar char="•"/>
            </a:pPr>
            <a:r>
              <a:rPr lang="en-US" sz="2400" dirty="0"/>
              <a:t>Transformers predict the </a:t>
            </a:r>
            <a:r>
              <a:rPr lang="en-US" sz="2400" dirty="0">
                <a:solidFill>
                  <a:srgbClr val="C00000"/>
                </a:solidFill>
              </a:rPr>
              <a:t>next word </a:t>
            </a:r>
            <a:r>
              <a:rPr lang="en-US" sz="2400" dirty="0"/>
              <a:t>based on the </a:t>
            </a:r>
            <a:r>
              <a:rPr lang="en-US" sz="2400" dirty="0">
                <a:solidFill>
                  <a:srgbClr val="C00000"/>
                </a:solidFill>
              </a:rPr>
              <a:t>previous words</a:t>
            </a:r>
            <a:r>
              <a:rPr lang="en-US" sz="2400" dirty="0"/>
              <a:t>, but they don’t necessarily optimize for the </a:t>
            </a:r>
            <a:r>
              <a:rPr lang="en-US" sz="2400" dirty="0">
                <a:solidFill>
                  <a:srgbClr val="C00000"/>
                </a:solidFill>
              </a:rPr>
              <a:t>quality</a:t>
            </a:r>
            <a:r>
              <a:rPr lang="en-US" sz="2400" dirty="0"/>
              <a:t> of the </a:t>
            </a:r>
            <a:r>
              <a:rPr lang="en-US" sz="2400" dirty="0">
                <a:solidFill>
                  <a:srgbClr val="C00000"/>
                </a:solidFill>
              </a:rPr>
              <a:t>entire sentence or paragraph:</a:t>
            </a:r>
            <a:endParaRPr lang="en-US" sz="2400" dirty="0"/>
          </a:p>
          <a:p>
            <a:pPr marL="457200" indent="-457200">
              <a:buFont typeface="+mj-lt"/>
              <a:buAutoNum type="arabicPeriod"/>
            </a:pPr>
            <a:r>
              <a:rPr lang="en-US" sz="2400" dirty="0"/>
              <a:t>Text generation needs to consider </a:t>
            </a:r>
            <a:r>
              <a:rPr lang="en-US" sz="2400" dirty="0">
                <a:solidFill>
                  <a:srgbClr val="C00000"/>
                </a:solidFill>
              </a:rPr>
              <a:t>syntactic</a:t>
            </a:r>
            <a:r>
              <a:rPr lang="en-US" sz="2400" dirty="0"/>
              <a:t> and </a:t>
            </a:r>
            <a:r>
              <a:rPr lang="en-US" sz="2400" dirty="0">
                <a:solidFill>
                  <a:srgbClr val="C00000"/>
                </a:solidFill>
              </a:rPr>
              <a:t>semantic</a:t>
            </a:r>
            <a:r>
              <a:rPr lang="en-US" sz="2400" dirty="0"/>
              <a:t> structure (</a:t>
            </a:r>
            <a:r>
              <a:rPr lang="en-US" sz="2400" dirty="0">
                <a:solidFill>
                  <a:srgbClr val="C00000"/>
                </a:solidFill>
              </a:rPr>
              <a:t>coherence</a:t>
            </a:r>
            <a:r>
              <a:rPr lang="en-US" sz="2400" dirty="0"/>
              <a:t>)</a:t>
            </a:r>
          </a:p>
          <a:p>
            <a:pPr marL="457200" indent="-457200">
              <a:buFont typeface="+mj-lt"/>
              <a:buAutoNum type="arabicPeriod"/>
            </a:pPr>
            <a:r>
              <a:rPr lang="en-US" sz="2400" dirty="0"/>
              <a:t>Also, different tasks need different levels of </a:t>
            </a:r>
            <a:r>
              <a:rPr lang="en-US" sz="2400" dirty="0">
                <a:solidFill>
                  <a:srgbClr val="C00000"/>
                </a:solidFill>
              </a:rPr>
              <a:t>creativity</a:t>
            </a:r>
            <a:r>
              <a:rPr lang="en-US" sz="2400" dirty="0"/>
              <a:t> in the output (e.g., translation needs accuracy, story writing needs creativity)</a:t>
            </a:r>
          </a:p>
          <a:p>
            <a:pPr marL="285750"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1040083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31129-81EA-0F80-1CC2-7F037E7CBBAC}"/>
              </a:ext>
            </a:extLst>
          </p:cNvPr>
          <p:cNvSpPr>
            <a:spLocks noGrp="1"/>
          </p:cNvSpPr>
          <p:nvPr>
            <p:ph type="title"/>
          </p:nvPr>
        </p:nvSpPr>
        <p:spPr>
          <a:xfrm>
            <a:off x="835211" y="724718"/>
            <a:ext cx="7633265" cy="461665"/>
          </a:xfrm>
        </p:spPr>
        <p:txBody>
          <a:bodyPr/>
          <a:lstStyle/>
          <a:p>
            <a:r>
              <a:rPr lang="en-US" sz="4000" dirty="0"/>
              <a:t>Decoding Strategy - Greedy Search</a:t>
            </a:r>
          </a:p>
        </p:txBody>
      </p:sp>
      <p:sp>
        <p:nvSpPr>
          <p:cNvPr id="3" name="Text Placeholder 2">
            <a:extLst>
              <a:ext uri="{FF2B5EF4-FFF2-40B4-BE49-F238E27FC236}">
                <a16:creationId xmlns:a16="http://schemas.microsoft.com/office/drawing/2014/main" id="{66DF5847-CBC8-D524-C8C0-3FF6D529A9F4}"/>
              </a:ext>
            </a:extLst>
          </p:cNvPr>
          <p:cNvSpPr>
            <a:spLocks noGrp="1"/>
          </p:cNvSpPr>
          <p:nvPr>
            <p:ph type="body" idx="1"/>
          </p:nvPr>
        </p:nvSpPr>
        <p:spPr>
          <a:xfrm>
            <a:off x="955497" y="1568004"/>
            <a:ext cx="10818687" cy="4812247"/>
          </a:xfrm>
        </p:spPr>
        <p:txBody>
          <a:bodyPr/>
          <a:lstStyle/>
          <a:p>
            <a:pPr marL="0" indent="0">
              <a:buNone/>
            </a:pPr>
            <a:r>
              <a:rPr lang="en-US" sz="2600" dirty="0"/>
              <a:t>Greedy approach select the best choice at each step:</a:t>
            </a:r>
          </a:p>
          <a:p>
            <a:r>
              <a:rPr lang="en-US" sz="2600" dirty="0"/>
              <a:t>Takes the </a:t>
            </a:r>
            <a:r>
              <a:rPr lang="en-US" sz="2600" dirty="0">
                <a:solidFill>
                  <a:srgbClr val="C00000"/>
                </a:solidFill>
              </a:rPr>
              <a:t>most probable </a:t>
            </a:r>
            <a:r>
              <a:rPr lang="en-US" sz="2600" dirty="0"/>
              <a:t>token at </a:t>
            </a:r>
            <a:r>
              <a:rPr lang="en-US" sz="2600" dirty="0">
                <a:solidFill>
                  <a:srgbClr val="C00000"/>
                </a:solidFill>
              </a:rPr>
              <a:t>each step</a:t>
            </a:r>
            <a:endParaRPr lang="en-US" sz="2600" dirty="0"/>
          </a:p>
          <a:p>
            <a:pPr marL="0" indent="0">
              <a:buNone/>
            </a:pPr>
            <a:r>
              <a:rPr lang="en-US" sz="2400" b="1" dirty="0"/>
              <a:t>Example</a:t>
            </a:r>
            <a:r>
              <a:rPr lang="en-US" sz="2400" dirty="0"/>
              <a:t>:</a:t>
            </a:r>
          </a:p>
          <a:p>
            <a:pPr marL="0" indent="0">
              <a:buNone/>
            </a:pPr>
            <a:r>
              <a:rPr lang="en-US" sz="2400" b="1" dirty="0"/>
              <a:t>Step 1</a:t>
            </a:r>
            <a:r>
              <a:rPr lang="en-US" sz="2400" dirty="0"/>
              <a:t>: Input: “I have a dream” → Most likely token: ” of”</a:t>
            </a:r>
          </a:p>
          <a:p>
            <a:pPr marL="0" indent="0">
              <a:buNone/>
            </a:pPr>
            <a:r>
              <a:rPr lang="en-US" sz="2400" b="1" dirty="0"/>
              <a:t>Step 2</a:t>
            </a:r>
            <a:r>
              <a:rPr lang="en-US" sz="2400" dirty="0"/>
              <a:t>: Input: “I have a dream of” → Most likely token: ” being”</a:t>
            </a:r>
          </a:p>
          <a:p>
            <a:pPr marL="0" indent="0">
              <a:buNone/>
            </a:pPr>
            <a:r>
              <a:rPr lang="en-US" sz="2400" b="1" dirty="0"/>
              <a:t>Step 3</a:t>
            </a:r>
            <a:r>
              <a:rPr lang="en-US" sz="2400" dirty="0"/>
              <a:t>: Input: “I have a dream of being” → Most likely token: ” a”</a:t>
            </a:r>
          </a:p>
          <a:p>
            <a:pPr marL="0" indent="0">
              <a:buNone/>
            </a:pPr>
            <a:r>
              <a:rPr lang="en-US" sz="2400" b="1" dirty="0"/>
              <a:t>Step 4</a:t>
            </a:r>
            <a:r>
              <a:rPr lang="en-US" sz="2400" dirty="0"/>
              <a:t>: Input: “I have a dream of being a” → Most likely token: ” doctor”</a:t>
            </a:r>
          </a:p>
          <a:p>
            <a:pPr marL="0" indent="0">
              <a:buNone/>
            </a:pPr>
            <a:r>
              <a:rPr lang="en-US" sz="2400" b="1" dirty="0"/>
              <a:t>Step 5</a:t>
            </a:r>
            <a:r>
              <a:rPr lang="en-US" sz="2400" dirty="0"/>
              <a:t>: Input: “I have a dream of being a doctor” → Most likely token: “.”</a:t>
            </a:r>
          </a:p>
          <a:p>
            <a:endParaRPr lang="en-US" sz="2400" dirty="0"/>
          </a:p>
          <a:p>
            <a:pPr marL="0" indent="0">
              <a:buNone/>
            </a:pPr>
            <a:br>
              <a:rPr lang="en-US" sz="2400" dirty="0"/>
            </a:br>
            <a:endParaRPr lang="en-US" sz="2400" dirty="0"/>
          </a:p>
        </p:txBody>
      </p:sp>
      <p:pic>
        <p:nvPicPr>
          <p:cNvPr id="4" name="Picture 3">
            <a:extLst>
              <a:ext uri="{FF2B5EF4-FFF2-40B4-BE49-F238E27FC236}">
                <a16:creationId xmlns:a16="http://schemas.microsoft.com/office/drawing/2014/main" id="{39EB3306-9D36-97E1-D616-255F2D27E3F2}"/>
              </a:ext>
            </a:extLst>
          </p:cNvPr>
          <p:cNvPicPr>
            <a:picLocks noChangeAspect="1"/>
          </p:cNvPicPr>
          <p:nvPr/>
        </p:nvPicPr>
        <p:blipFill>
          <a:blip r:embed="rId2"/>
          <a:stretch>
            <a:fillRect/>
          </a:stretch>
        </p:blipFill>
        <p:spPr>
          <a:xfrm>
            <a:off x="10631635" y="1926794"/>
            <a:ext cx="604868" cy="2857647"/>
          </a:xfrm>
          <a:prstGeom prst="rect">
            <a:avLst/>
          </a:prstGeom>
        </p:spPr>
      </p:pic>
      <p:sp>
        <p:nvSpPr>
          <p:cNvPr id="6" name="TextBox 5">
            <a:extLst>
              <a:ext uri="{FF2B5EF4-FFF2-40B4-BE49-F238E27FC236}">
                <a16:creationId xmlns:a16="http://schemas.microsoft.com/office/drawing/2014/main" id="{079512FF-9F17-68A9-B656-8E44EF0E2B42}"/>
              </a:ext>
            </a:extLst>
          </p:cNvPr>
          <p:cNvSpPr txBox="1"/>
          <p:nvPr/>
        </p:nvSpPr>
        <p:spPr>
          <a:xfrm>
            <a:off x="955497" y="5533117"/>
            <a:ext cx="8948791" cy="1200329"/>
          </a:xfrm>
          <a:prstGeom prst="rect">
            <a:avLst/>
          </a:prstGeom>
          <a:noFill/>
        </p:spPr>
        <p:txBody>
          <a:bodyPr wrap="square">
            <a:spAutoFit/>
          </a:bodyPr>
          <a:lstStyle/>
          <a:p>
            <a:r>
              <a:rPr lang="en-US" sz="2400" b="1" dirty="0"/>
              <a:t>Problems</a:t>
            </a:r>
            <a:r>
              <a:rPr lang="en-US" sz="2400" dirty="0"/>
              <a:t>:</a:t>
            </a:r>
          </a:p>
          <a:p>
            <a:r>
              <a:rPr lang="en-US" sz="2400" dirty="0"/>
              <a:t>It </a:t>
            </a:r>
            <a:r>
              <a:rPr lang="en-US" sz="2400" dirty="0">
                <a:solidFill>
                  <a:srgbClr val="C00000"/>
                </a:solidFill>
              </a:rPr>
              <a:t>doesn’t consider the overall </a:t>
            </a:r>
            <a:r>
              <a:rPr lang="en-US" sz="2400" dirty="0"/>
              <a:t>sequence</a:t>
            </a:r>
          </a:p>
          <a:p>
            <a:r>
              <a:rPr lang="en-US" sz="2400" dirty="0"/>
              <a:t>It's </a:t>
            </a:r>
            <a:r>
              <a:rPr lang="en-US" sz="2400" dirty="0">
                <a:solidFill>
                  <a:srgbClr val="C00000"/>
                </a:solidFill>
              </a:rPr>
              <a:t>fast</a:t>
            </a:r>
            <a:r>
              <a:rPr lang="en-US" sz="2400" dirty="0"/>
              <a:t>, but it is </a:t>
            </a:r>
            <a:r>
              <a:rPr lang="en-US" sz="2400" dirty="0">
                <a:solidFill>
                  <a:srgbClr val="C00000"/>
                </a:solidFill>
              </a:rPr>
              <a:t>short-sighted</a:t>
            </a:r>
            <a:r>
              <a:rPr lang="en-US" sz="2400" dirty="0"/>
              <a:t> (doesn’t guarantee optimal)</a:t>
            </a:r>
          </a:p>
        </p:txBody>
      </p:sp>
    </p:spTree>
    <p:extLst>
      <p:ext uri="{BB962C8B-B14F-4D97-AF65-F5344CB8AC3E}">
        <p14:creationId xmlns:p14="http://schemas.microsoft.com/office/powerpoint/2010/main" val="23403584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beam search">
            <a:extLst>
              <a:ext uri="{FF2B5EF4-FFF2-40B4-BE49-F238E27FC236}">
                <a16:creationId xmlns:a16="http://schemas.microsoft.com/office/drawing/2014/main" id="{5F1943AE-D6F0-CAB2-F91D-4F3C2B3DF8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9429" y="3133227"/>
            <a:ext cx="4433687" cy="365779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C52BE38-E161-A45B-E194-32D9DC9A75BA}"/>
              </a:ext>
            </a:extLst>
          </p:cNvPr>
          <p:cNvSpPr>
            <a:spLocks noGrp="1"/>
          </p:cNvSpPr>
          <p:nvPr>
            <p:ph type="title"/>
          </p:nvPr>
        </p:nvSpPr>
        <p:spPr>
          <a:xfrm>
            <a:off x="990120" y="357011"/>
            <a:ext cx="8182525" cy="923330"/>
          </a:xfrm>
        </p:spPr>
        <p:txBody>
          <a:bodyPr/>
          <a:lstStyle/>
          <a:p>
            <a:r>
              <a:rPr lang="en-US" sz="4000" dirty="0"/>
              <a:t>Decoding Strategy - Beam Search</a:t>
            </a:r>
            <a:endParaRPr lang="en-US" dirty="0"/>
          </a:p>
        </p:txBody>
      </p:sp>
      <p:sp>
        <p:nvSpPr>
          <p:cNvPr id="3" name="Text Placeholder 2">
            <a:extLst>
              <a:ext uri="{FF2B5EF4-FFF2-40B4-BE49-F238E27FC236}">
                <a16:creationId xmlns:a16="http://schemas.microsoft.com/office/drawing/2014/main" id="{EA765685-2EE4-1684-8999-824C1166AF93}"/>
              </a:ext>
            </a:extLst>
          </p:cNvPr>
          <p:cNvSpPr>
            <a:spLocks noGrp="1"/>
          </p:cNvSpPr>
          <p:nvPr>
            <p:ph type="body" idx="1"/>
          </p:nvPr>
        </p:nvSpPr>
        <p:spPr>
          <a:xfrm>
            <a:off x="977945" y="1582341"/>
            <a:ext cx="10742968" cy="1846659"/>
          </a:xfrm>
        </p:spPr>
        <p:txBody>
          <a:bodyPr/>
          <a:lstStyle/>
          <a:p>
            <a:pPr marL="0" indent="0">
              <a:buNone/>
            </a:pPr>
            <a:r>
              <a:rPr lang="en-US" sz="2600" dirty="0"/>
              <a:t>Beam search select the </a:t>
            </a:r>
            <a:r>
              <a:rPr lang="en-US" sz="2600" dirty="0">
                <a:solidFill>
                  <a:srgbClr val="C00000"/>
                </a:solidFill>
              </a:rPr>
              <a:t>best sequence </a:t>
            </a:r>
            <a:r>
              <a:rPr lang="en-US" sz="2600" dirty="0"/>
              <a:t>of words (rather than individual tokens)</a:t>
            </a:r>
          </a:p>
          <a:p>
            <a:pPr marL="342900" indent="-342900"/>
            <a:r>
              <a:rPr lang="en-US" sz="2600" dirty="0"/>
              <a:t>Considering the </a:t>
            </a:r>
            <a:r>
              <a:rPr lang="en-US" sz="2600" dirty="0">
                <a:solidFill>
                  <a:srgbClr val="C00000"/>
                </a:solidFill>
              </a:rPr>
              <a:t>N </a:t>
            </a:r>
            <a:r>
              <a:rPr lang="en-US" sz="2600" dirty="0"/>
              <a:t>(Beam Width) </a:t>
            </a:r>
            <a:r>
              <a:rPr lang="en-US" sz="2600" dirty="0">
                <a:solidFill>
                  <a:srgbClr val="C00000"/>
                </a:solidFill>
              </a:rPr>
              <a:t>most likely tokens</a:t>
            </a:r>
            <a:r>
              <a:rPr lang="en-US" sz="2600" dirty="0"/>
              <a:t> at each step</a:t>
            </a:r>
          </a:p>
          <a:p>
            <a:pPr marL="342900" indent="-342900"/>
            <a:r>
              <a:rPr lang="en-US" sz="2600" dirty="0"/>
              <a:t>Creates a tree of </a:t>
            </a:r>
            <a:r>
              <a:rPr lang="en-US" sz="2600" dirty="0">
                <a:solidFill>
                  <a:srgbClr val="C00000"/>
                </a:solidFill>
              </a:rPr>
              <a:t>all paths </a:t>
            </a:r>
            <a:r>
              <a:rPr lang="en-US" sz="2600" dirty="0"/>
              <a:t>using these most probable tokens</a:t>
            </a:r>
          </a:p>
          <a:p>
            <a:pPr marL="342900" indent="-342900"/>
            <a:r>
              <a:rPr lang="en-US" sz="2600" dirty="0"/>
              <a:t>Selects the </a:t>
            </a:r>
            <a:r>
              <a:rPr lang="en-US" sz="2600" dirty="0">
                <a:solidFill>
                  <a:srgbClr val="C00000"/>
                </a:solidFill>
              </a:rPr>
              <a:t>best path </a:t>
            </a:r>
            <a:r>
              <a:rPr lang="en-US" sz="2600" dirty="0"/>
              <a:t>in the tree</a:t>
            </a:r>
            <a:br>
              <a:rPr lang="en-US" sz="2600" dirty="0"/>
            </a:br>
            <a:br>
              <a:rPr lang="en-US" sz="2600" dirty="0"/>
            </a:br>
            <a:endParaRPr lang="en-US" sz="2600" dirty="0"/>
          </a:p>
        </p:txBody>
      </p:sp>
      <p:sp>
        <p:nvSpPr>
          <p:cNvPr id="5" name="TextBox 4">
            <a:extLst>
              <a:ext uri="{FF2B5EF4-FFF2-40B4-BE49-F238E27FC236}">
                <a16:creationId xmlns:a16="http://schemas.microsoft.com/office/drawing/2014/main" id="{5C0622C8-C292-E52E-C2C6-448436D0F0AC}"/>
              </a:ext>
            </a:extLst>
          </p:cNvPr>
          <p:cNvSpPr txBox="1"/>
          <p:nvPr/>
        </p:nvSpPr>
        <p:spPr>
          <a:xfrm>
            <a:off x="7107148" y="6131657"/>
            <a:ext cx="1954658" cy="369332"/>
          </a:xfrm>
          <a:prstGeom prst="rect">
            <a:avLst/>
          </a:prstGeom>
          <a:noFill/>
        </p:spPr>
        <p:txBody>
          <a:bodyPr wrap="square">
            <a:spAutoFit/>
          </a:bodyPr>
          <a:lstStyle/>
          <a:p>
            <a:r>
              <a:rPr lang="en-US" b="0" i="0" dirty="0">
                <a:solidFill>
                  <a:schemeClr val="accent1">
                    <a:lumMod val="50000"/>
                  </a:schemeClr>
                </a:solidFill>
                <a:effectLst/>
                <a:latin typeface="IBM Plex Mono" panose="020B0509050203000203" pitchFamily="49" charset="0"/>
              </a:rPr>
              <a:t>Beam Width=3</a:t>
            </a:r>
            <a:endParaRPr lang="en-US" dirty="0">
              <a:solidFill>
                <a:schemeClr val="accent1">
                  <a:lumMod val="50000"/>
                </a:schemeClr>
              </a:solidFill>
            </a:endParaRPr>
          </a:p>
        </p:txBody>
      </p:sp>
      <p:sp>
        <p:nvSpPr>
          <p:cNvPr id="7" name="TextBox 6">
            <a:extLst>
              <a:ext uri="{FF2B5EF4-FFF2-40B4-BE49-F238E27FC236}">
                <a16:creationId xmlns:a16="http://schemas.microsoft.com/office/drawing/2014/main" id="{9B303794-4A64-0E78-1374-1C3811C6C147}"/>
              </a:ext>
            </a:extLst>
          </p:cNvPr>
          <p:cNvSpPr txBox="1"/>
          <p:nvPr/>
        </p:nvSpPr>
        <p:spPr>
          <a:xfrm>
            <a:off x="1151322" y="4192665"/>
            <a:ext cx="5036906" cy="1938992"/>
          </a:xfrm>
          <a:prstGeom prst="rect">
            <a:avLst/>
          </a:prstGeom>
          <a:noFill/>
        </p:spPr>
        <p:txBody>
          <a:bodyPr wrap="square">
            <a:spAutoFit/>
          </a:bodyPr>
          <a:lstStyle/>
          <a:p>
            <a:r>
              <a:rPr lang="en-US" sz="2000" dirty="0">
                <a:solidFill>
                  <a:srgbClr val="C00000"/>
                </a:solidFill>
              </a:rPr>
              <a:t>Higher</a:t>
            </a:r>
            <a:r>
              <a:rPr lang="en-US" sz="2000" dirty="0"/>
              <a:t> Beam Width </a:t>
            </a:r>
            <a:r>
              <a:rPr lang="en-US" sz="2000" dirty="0">
                <a:sym typeface="Wingdings" panose="05000000000000000000" pitchFamily="2" charset="2"/>
              </a:rPr>
              <a:t> </a:t>
            </a:r>
            <a:r>
              <a:rPr lang="en-US" sz="2000" dirty="0"/>
              <a:t>More exploration, better </a:t>
            </a:r>
            <a:r>
              <a:rPr lang="en-US" sz="2000" dirty="0">
                <a:solidFill>
                  <a:srgbClr val="C00000"/>
                </a:solidFill>
              </a:rPr>
              <a:t>accuracy</a:t>
            </a:r>
            <a:r>
              <a:rPr lang="en-US" sz="2000" dirty="0"/>
              <a:t>, but </a:t>
            </a:r>
            <a:r>
              <a:rPr lang="en-US" sz="2000" dirty="0">
                <a:solidFill>
                  <a:srgbClr val="C00000"/>
                </a:solidFill>
              </a:rPr>
              <a:t>slower</a:t>
            </a:r>
            <a:r>
              <a:rPr lang="en-US" sz="2000" dirty="0"/>
              <a:t> inference.</a:t>
            </a:r>
          </a:p>
          <a:p>
            <a:endParaRPr lang="en-US" sz="2000" dirty="0"/>
          </a:p>
          <a:p>
            <a:endParaRPr lang="en-US" sz="2000" dirty="0"/>
          </a:p>
          <a:p>
            <a:r>
              <a:rPr lang="en-US" sz="2000" dirty="0">
                <a:solidFill>
                  <a:srgbClr val="C00000"/>
                </a:solidFill>
              </a:rPr>
              <a:t>Lower</a:t>
            </a:r>
            <a:r>
              <a:rPr lang="en-US" sz="2000" dirty="0"/>
              <a:t> Beam Width → </a:t>
            </a:r>
            <a:r>
              <a:rPr lang="en-US" sz="2000" dirty="0">
                <a:solidFill>
                  <a:srgbClr val="C00000"/>
                </a:solidFill>
              </a:rPr>
              <a:t>Faster</a:t>
            </a:r>
            <a:r>
              <a:rPr lang="en-US" sz="2000" dirty="0"/>
              <a:t> decoding but may </a:t>
            </a:r>
            <a:r>
              <a:rPr lang="en-US" sz="2000" dirty="0">
                <a:solidFill>
                  <a:srgbClr val="C00000"/>
                </a:solidFill>
              </a:rPr>
              <a:t>miss</a:t>
            </a:r>
            <a:r>
              <a:rPr lang="en-US" sz="2000" dirty="0"/>
              <a:t> the best sequence.</a:t>
            </a:r>
          </a:p>
        </p:txBody>
      </p:sp>
    </p:spTree>
    <p:extLst>
      <p:ext uri="{BB962C8B-B14F-4D97-AF65-F5344CB8AC3E}">
        <p14:creationId xmlns:p14="http://schemas.microsoft.com/office/powerpoint/2010/main" val="38376831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766C01D-8A3A-669E-116C-71EC79398F4B}"/>
              </a:ext>
            </a:extLst>
          </p:cNvPr>
          <p:cNvPicPr>
            <a:picLocks noChangeAspect="1"/>
          </p:cNvPicPr>
          <p:nvPr/>
        </p:nvPicPr>
        <p:blipFill>
          <a:blip r:embed="rId2"/>
          <a:stretch>
            <a:fillRect/>
          </a:stretch>
        </p:blipFill>
        <p:spPr>
          <a:xfrm>
            <a:off x="584344" y="3790158"/>
            <a:ext cx="5717059" cy="2954087"/>
          </a:xfrm>
          <a:prstGeom prst="rect">
            <a:avLst/>
          </a:prstGeom>
        </p:spPr>
      </p:pic>
      <p:sp>
        <p:nvSpPr>
          <p:cNvPr id="2" name="Title 1">
            <a:extLst>
              <a:ext uri="{FF2B5EF4-FFF2-40B4-BE49-F238E27FC236}">
                <a16:creationId xmlns:a16="http://schemas.microsoft.com/office/drawing/2014/main" id="{730EF99E-30DC-A2C3-FD8A-526E9840720B}"/>
              </a:ext>
            </a:extLst>
          </p:cNvPr>
          <p:cNvSpPr>
            <a:spLocks noGrp="1"/>
          </p:cNvSpPr>
          <p:nvPr>
            <p:ph type="title"/>
          </p:nvPr>
        </p:nvSpPr>
        <p:spPr>
          <a:xfrm>
            <a:off x="575353" y="265235"/>
            <a:ext cx="10515600" cy="1325563"/>
          </a:xfrm>
        </p:spPr>
        <p:txBody>
          <a:bodyPr/>
          <a:lstStyle/>
          <a:p>
            <a:r>
              <a:rPr lang="en-US" sz="4400" dirty="0"/>
              <a:t>Beam Search – Tree Structure</a:t>
            </a:r>
            <a:endParaRPr lang="en-US" dirty="0"/>
          </a:p>
        </p:txBody>
      </p:sp>
      <p:sp>
        <p:nvSpPr>
          <p:cNvPr id="3" name="Content Placeholder 2">
            <a:extLst>
              <a:ext uri="{FF2B5EF4-FFF2-40B4-BE49-F238E27FC236}">
                <a16:creationId xmlns:a16="http://schemas.microsoft.com/office/drawing/2014/main" id="{6799F9D0-1D46-2A6E-F000-466483D7CD8E}"/>
              </a:ext>
            </a:extLst>
          </p:cNvPr>
          <p:cNvSpPr>
            <a:spLocks noGrp="1"/>
          </p:cNvSpPr>
          <p:nvPr>
            <p:ph idx="1"/>
          </p:nvPr>
        </p:nvSpPr>
        <p:spPr>
          <a:xfrm>
            <a:off x="584344" y="1590798"/>
            <a:ext cx="11616647" cy="4351338"/>
          </a:xfrm>
        </p:spPr>
        <p:txBody>
          <a:bodyPr/>
          <a:lstStyle/>
          <a:p>
            <a:r>
              <a:rPr lang="en-US" sz="2600" dirty="0"/>
              <a:t>Identify </a:t>
            </a:r>
            <a:r>
              <a:rPr lang="en-US" sz="2600" dirty="0">
                <a:solidFill>
                  <a:srgbClr val="C00000"/>
                </a:solidFill>
              </a:rPr>
              <a:t>N</a:t>
            </a:r>
            <a:r>
              <a:rPr lang="en-US" sz="2600" dirty="0"/>
              <a:t> </a:t>
            </a:r>
            <a:r>
              <a:rPr lang="en-US" sz="2600" dirty="0">
                <a:solidFill>
                  <a:srgbClr val="C00000"/>
                </a:solidFill>
              </a:rPr>
              <a:t>tokens </a:t>
            </a:r>
            <a:r>
              <a:rPr lang="en-US" sz="2400" dirty="0"/>
              <a:t>(beam width) </a:t>
            </a:r>
            <a:r>
              <a:rPr lang="en-US" sz="2600" dirty="0"/>
              <a:t>with the </a:t>
            </a:r>
            <a:r>
              <a:rPr lang="en-US" sz="2600" dirty="0">
                <a:solidFill>
                  <a:srgbClr val="C00000"/>
                </a:solidFill>
              </a:rPr>
              <a:t>highest probabilities</a:t>
            </a:r>
            <a:r>
              <a:rPr lang="en-US" sz="2600" dirty="0"/>
              <a:t> (scores)</a:t>
            </a:r>
            <a:r>
              <a:rPr lang="en-US" sz="2600" dirty="0">
                <a:solidFill>
                  <a:srgbClr val="C00000"/>
                </a:solidFill>
              </a:rPr>
              <a:t> </a:t>
            </a:r>
            <a:r>
              <a:rPr lang="en-US" sz="2600" dirty="0"/>
              <a:t> </a:t>
            </a:r>
          </a:p>
          <a:p>
            <a:r>
              <a:rPr lang="en-US" sz="2600" dirty="0"/>
              <a:t>For each of N tokens, identify </a:t>
            </a:r>
            <a:r>
              <a:rPr lang="en-US" sz="2600" dirty="0">
                <a:solidFill>
                  <a:srgbClr val="C00000"/>
                </a:solidFill>
              </a:rPr>
              <a:t>next</a:t>
            </a:r>
            <a:r>
              <a:rPr lang="en-US" sz="2600" dirty="0"/>
              <a:t> </a:t>
            </a:r>
            <a:r>
              <a:rPr lang="en-US" sz="2600" dirty="0">
                <a:solidFill>
                  <a:srgbClr val="C00000"/>
                </a:solidFill>
              </a:rPr>
              <a:t>N</a:t>
            </a:r>
            <a:r>
              <a:rPr lang="en-US" sz="2600" dirty="0"/>
              <a:t> </a:t>
            </a:r>
            <a:r>
              <a:rPr lang="en-US" sz="2600" dirty="0">
                <a:solidFill>
                  <a:srgbClr val="C00000"/>
                </a:solidFill>
              </a:rPr>
              <a:t>tokens </a:t>
            </a:r>
            <a:r>
              <a:rPr lang="en-US" sz="2600" dirty="0"/>
              <a:t>with the </a:t>
            </a:r>
            <a:r>
              <a:rPr lang="en-US" sz="2600" dirty="0">
                <a:solidFill>
                  <a:srgbClr val="C00000"/>
                </a:solidFill>
              </a:rPr>
              <a:t>highest probabilities</a:t>
            </a:r>
            <a:r>
              <a:rPr lang="en-US" sz="2600" dirty="0"/>
              <a:t>  </a:t>
            </a:r>
          </a:p>
          <a:p>
            <a:r>
              <a:rPr lang="en-US" sz="2600" dirty="0"/>
              <a:t>The process generates a </a:t>
            </a:r>
            <a:r>
              <a:rPr lang="en-US" sz="2600" dirty="0">
                <a:solidFill>
                  <a:srgbClr val="C00000"/>
                </a:solidFill>
              </a:rPr>
              <a:t>tree structure </a:t>
            </a:r>
            <a:r>
              <a:rPr lang="en-US" sz="2600" dirty="0"/>
              <a:t>using possible </a:t>
            </a:r>
            <a:r>
              <a:rPr lang="en-US" sz="2600" dirty="0">
                <a:solidFill>
                  <a:srgbClr val="C00000"/>
                </a:solidFill>
              </a:rPr>
              <a:t>tokens</a:t>
            </a:r>
            <a:r>
              <a:rPr lang="en-US" sz="2600" dirty="0"/>
              <a:t> and their </a:t>
            </a:r>
            <a:r>
              <a:rPr lang="en-US" sz="2600" dirty="0">
                <a:solidFill>
                  <a:srgbClr val="C00000"/>
                </a:solidFill>
              </a:rPr>
              <a:t>probabilities</a:t>
            </a:r>
            <a:r>
              <a:rPr lang="en-US" sz="2600" dirty="0"/>
              <a:t> </a:t>
            </a:r>
          </a:p>
          <a:p>
            <a:endParaRPr lang="en-US" sz="2600" dirty="0"/>
          </a:p>
          <a:p>
            <a:endParaRPr lang="en-US" sz="2600" dirty="0"/>
          </a:p>
        </p:txBody>
      </p:sp>
      <p:pic>
        <p:nvPicPr>
          <p:cNvPr id="8" name="Picture 7">
            <a:extLst>
              <a:ext uri="{FF2B5EF4-FFF2-40B4-BE49-F238E27FC236}">
                <a16:creationId xmlns:a16="http://schemas.microsoft.com/office/drawing/2014/main" id="{D44E3D95-D9E0-6A15-72DC-E0776699B74F}"/>
              </a:ext>
            </a:extLst>
          </p:cNvPr>
          <p:cNvPicPr>
            <a:picLocks noChangeAspect="1"/>
          </p:cNvPicPr>
          <p:nvPr/>
        </p:nvPicPr>
        <p:blipFill>
          <a:blip r:embed="rId3"/>
          <a:stretch>
            <a:fillRect/>
          </a:stretch>
        </p:blipFill>
        <p:spPr>
          <a:xfrm>
            <a:off x="7284179" y="3604391"/>
            <a:ext cx="3500873" cy="2799976"/>
          </a:xfrm>
          <a:prstGeom prst="rect">
            <a:avLst/>
          </a:prstGeom>
        </p:spPr>
      </p:pic>
      <p:sp>
        <p:nvSpPr>
          <p:cNvPr id="6" name="TextBox 5">
            <a:extLst>
              <a:ext uri="{FF2B5EF4-FFF2-40B4-BE49-F238E27FC236}">
                <a16:creationId xmlns:a16="http://schemas.microsoft.com/office/drawing/2014/main" id="{03656EA9-3FF7-847E-8917-6AE35618007A}"/>
              </a:ext>
            </a:extLst>
          </p:cNvPr>
          <p:cNvSpPr txBox="1"/>
          <p:nvPr/>
        </p:nvSpPr>
        <p:spPr>
          <a:xfrm>
            <a:off x="695418" y="3255070"/>
            <a:ext cx="6102848" cy="646331"/>
          </a:xfrm>
          <a:prstGeom prst="rect">
            <a:avLst/>
          </a:prstGeom>
          <a:noFill/>
        </p:spPr>
        <p:txBody>
          <a:bodyPr wrap="square">
            <a:spAutoFit/>
          </a:bodyPr>
          <a:lstStyle/>
          <a:p>
            <a:r>
              <a:rPr lang="en-US" sz="1800" b="1" dirty="0"/>
              <a:t>Example</a:t>
            </a:r>
            <a:r>
              <a:rPr lang="en-US" sz="1800" dirty="0"/>
              <a:t>: Beam Width=</a:t>
            </a:r>
            <a:r>
              <a:rPr lang="en-US" sz="1800" dirty="0">
                <a:solidFill>
                  <a:srgbClr val="C00000"/>
                </a:solidFill>
              </a:rPr>
              <a:t>3</a:t>
            </a:r>
          </a:p>
          <a:p>
            <a:r>
              <a:rPr lang="en-US" sz="1800" dirty="0"/>
              <a:t> </a:t>
            </a:r>
            <a:endParaRPr lang="en-US" dirty="0"/>
          </a:p>
        </p:txBody>
      </p:sp>
      <p:sp>
        <p:nvSpPr>
          <p:cNvPr id="7" name="Rectangle: Rounded Corners 6">
            <a:extLst>
              <a:ext uri="{FF2B5EF4-FFF2-40B4-BE49-F238E27FC236}">
                <a16:creationId xmlns:a16="http://schemas.microsoft.com/office/drawing/2014/main" id="{2EE58B91-0C65-A3AE-C49D-08E26CFC1BCE}"/>
              </a:ext>
            </a:extLst>
          </p:cNvPr>
          <p:cNvSpPr/>
          <p:nvPr/>
        </p:nvSpPr>
        <p:spPr>
          <a:xfrm>
            <a:off x="1284270" y="3901401"/>
            <a:ext cx="2321959" cy="2139803"/>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675022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B88652-E63D-C215-6ED3-510DDF23E34B}"/>
              </a:ext>
            </a:extLst>
          </p:cNvPr>
          <p:cNvPicPr>
            <a:picLocks noChangeAspect="1"/>
          </p:cNvPicPr>
          <p:nvPr/>
        </p:nvPicPr>
        <p:blipFill>
          <a:blip r:embed="rId2"/>
          <a:stretch>
            <a:fillRect/>
          </a:stretch>
        </p:blipFill>
        <p:spPr>
          <a:xfrm>
            <a:off x="6232114" y="2482827"/>
            <a:ext cx="5121686" cy="4220802"/>
          </a:xfrm>
          <a:prstGeom prst="rect">
            <a:avLst/>
          </a:prstGeom>
        </p:spPr>
      </p:pic>
      <p:sp>
        <p:nvSpPr>
          <p:cNvPr id="2" name="Title 1">
            <a:extLst>
              <a:ext uri="{FF2B5EF4-FFF2-40B4-BE49-F238E27FC236}">
                <a16:creationId xmlns:a16="http://schemas.microsoft.com/office/drawing/2014/main" id="{597B4531-DBD5-3355-3B12-994AED3EB8AB}"/>
              </a:ext>
            </a:extLst>
          </p:cNvPr>
          <p:cNvSpPr>
            <a:spLocks noGrp="1"/>
          </p:cNvSpPr>
          <p:nvPr>
            <p:ph type="title"/>
          </p:nvPr>
        </p:nvSpPr>
        <p:spPr/>
        <p:txBody>
          <a:bodyPr/>
          <a:lstStyle/>
          <a:p>
            <a:r>
              <a:rPr lang="en-US" sz="4400" dirty="0"/>
              <a:t>Beam Search – Finalize Tree Structure</a:t>
            </a:r>
            <a:endParaRPr lang="en-US" dirty="0"/>
          </a:p>
        </p:txBody>
      </p:sp>
      <p:sp>
        <p:nvSpPr>
          <p:cNvPr id="3" name="Content Placeholder 2">
            <a:extLst>
              <a:ext uri="{FF2B5EF4-FFF2-40B4-BE49-F238E27FC236}">
                <a16:creationId xmlns:a16="http://schemas.microsoft.com/office/drawing/2014/main" id="{0A7E73C1-AB02-FFE1-93E8-269A18474D41}"/>
              </a:ext>
            </a:extLst>
          </p:cNvPr>
          <p:cNvSpPr>
            <a:spLocks noGrp="1"/>
          </p:cNvSpPr>
          <p:nvPr>
            <p:ph idx="1"/>
          </p:nvPr>
        </p:nvSpPr>
        <p:spPr>
          <a:xfrm>
            <a:off x="886704" y="1690688"/>
            <a:ext cx="10515600" cy="4351338"/>
          </a:xfrm>
        </p:spPr>
        <p:txBody>
          <a:bodyPr/>
          <a:lstStyle/>
          <a:p>
            <a:pPr marL="0" indent="0">
              <a:buNone/>
            </a:pPr>
            <a:r>
              <a:rPr lang="en-US" sz="2600" dirty="0"/>
              <a:t>Beam search might stop when a certain percentage of beams reach the </a:t>
            </a:r>
            <a:r>
              <a:rPr lang="en-US" sz="2600" dirty="0">
                <a:solidFill>
                  <a:srgbClr val="C00000"/>
                </a:solidFill>
              </a:rPr>
              <a:t>end token </a:t>
            </a:r>
            <a:r>
              <a:rPr lang="en-US" sz="2600" dirty="0"/>
              <a:t>or after a </a:t>
            </a:r>
            <a:r>
              <a:rPr lang="en-US" sz="2600" dirty="0">
                <a:solidFill>
                  <a:srgbClr val="C00000"/>
                </a:solidFill>
              </a:rPr>
              <a:t>fixed number </a:t>
            </a:r>
            <a:r>
              <a:rPr lang="en-US" sz="2600" dirty="0"/>
              <a:t>of steps.</a:t>
            </a:r>
          </a:p>
        </p:txBody>
      </p:sp>
      <p:pic>
        <p:nvPicPr>
          <p:cNvPr id="5" name="Picture 4">
            <a:extLst>
              <a:ext uri="{FF2B5EF4-FFF2-40B4-BE49-F238E27FC236}">
                <a16:creationId xmlns:a16="http://schemas.microsoft.com/office/drawing/2014/main" id="{85C989DA-EAD3-96B8-AEB6-6FD6CCD2A782}"/>
              </a:ext>
            </a:extLst>
          </p:cNvPr>
          <p:cNvPicPr>
            <a:picLocks noChangeAspect="1"/>
          </p:cNvPicPr>
          <p:nvPr/>
        </p:nvPicPr>
        <p:blipFill>
          <a:blip r:embed="rId3"/>
          <a:stretch>
            <a:fillRect/>
          </a:stretch>
        </p:blipFill>
        <p:spPr>
          <a:xfrm>
            <a:off x="2636328" y="2937084"/>
            <a:ext cx="3595786" cy="3897081"/>
          </a:xfrm>
          <a:prstGeom prst="rect">
            <a:avLst/>
          </a:prstGeom>
        </p:spPr>
      </p:pic>
      <p:sp>
        <p:nvSpPr>
          <p:cNvPr id="4" name="TextBox 3">
            <a:extLst>
              <a:ext uri="{FF2B5EF4-FFF2-40B4-BE49-F238E27FC236}">
                <a16:creationId xmlns:a16="http://schemas.microsoft.com/office/drawing/2014/main" id="{6EE66BB7-3D2A-AC77-E38E-0C43438BC00F}"/>
              </a:ext>
            </a:extLst>
          </p:cNvPr>
          <p:cNvSpPr txBox="1"/>
          <p:nvPr/>
        </p:nvSpPr>
        <p:spPr>
          <a:xfrm>
            <a:off x="4571353" y="2632870"/>
            <a:ext cx="1954658" cy="338554"/>
          </a:xfrm>
          <a:prstGeom prst="rect">
            <a:avLst/>
          </a:prstGeom>
          <a:noFill/>
        </p:spPr>
        <p:txBody>
          <a:bodyPr wrap="square">
            <a:spAutoFit/>
          </a:bodyPr>
          <a:lstStyle/>
          <a:p>
            <a:r>
              <a:rPr lang="en-US" sz="1600" b="0" i="0" dirty="0">
                <a:solidFill>
                  <a:schemeClr val="accent1">
                    <a:lumMod val="50000"/>
                  </a:schemeClr>
                </a:solidFill>
                <a:effectLst/>
                <a:latin typeface="IBM Plex Mono" panose="020B0509050203000203" pitchFamily="49" charset="0"/>
              </a:rPr>
              <a:t>Beam Width=3</a:t>
            </a:r>
            <a:endParaRPr lang="en-US" sz="1600" dirty="0">
              <a:solidFill>
                <a:schemeClr val="accent1">
                  <a:lumMod val="50000"/>
                </a:schemeClr>
              </a:solidFill>
            </a:endParaRPr>
          </a:p>
        </p:txBody>
      </p:sp>
      <p:sp>
        <p:nvSpPr>
          <p:cNvPr id="8" name="TextBox 7">
            <a:extLst>
              <a:ext uri="{FF2B5EF4-FFF2-40B4-BE49-F238E27FC236}">
                <a16:creationId xmlns:a16="http://schemas.microsoft.com/office/drawing/2014/main" id="{5D42FDE0-0188-E8CC-45BA-AAF31CF3C70B}"/>
              </a:ext>
            </a:extLst>
          </p:cNvPr>
          <p:cNvSpPr txBox="1"/>
          <p:nvPr/>
        </p:nvSpPr>
        <p:spPr>
          <a:xfrm>
            <a:off x="7288139" y="6334297"/>
            <a:ext cx="2544229" cy="369332"/>
          </a:xfrm>
          <a:prstGeom prst="rect">
            <a:avLst/>
          </a:prstGeom>
          <a:noFill/>
        </p:spPr>
        <p:txBody>
          <a:bodyPr wrap="square">
            <a:spAutoFit/>
          </a:bodyPr>
          <a:lstStyle/>
          <a:p>
            <a:r>
              <a:rPr lang="en-US" dirty="0">
                <a:solidFill>
                  <a:srgbClr val="C00000"/>
                </a:solidFill>
              </a:rPr>
              <a:t>Maximum Length = 3</a:t>
            </a:r>
          </a:p>
        </p:txBody>
      </p:sp>
      <p:pic>
        <p:nvPicPr>
          <p:cNvPr id="11" name="Picture 10">
            <a:extLst>
              <a:ext uri="{FF2B5EF4-FFF2-40B4-BE49-F238E27FC236}">
                <a16:creationId xmlns:a16="http://schemas.microsoft.com/office/drawing/2014/main" id="{49A08F4B-0E79-A63F-8AD1-35EDA80258E0}"/>
              </a:ext>
            </a:extLst>
          </p:cNvPr>
          <p:cNvPicPr>
            <a:picLocks noChangeAspect="1"/>
          </p:cNvPicPr>
          <p:nvPr/>
        </p:nvPicPr>
        <p:blipFill>
          <a:blip r:embed="rId4"/>
          <a:stretch>
            <a:fillRect/>
          </a:stretch>
        </p:blipFill>
        <p:spPr>
          <a:xfrm>
            <a:off x="292299" y="3308279"/>
            <a:ext cx="2060145" cy="2555947"/>
          </a:xfrm>
          <a:prstGeom prst="rect">
            <a:avLst/>
          </a:prstGeom>
        </p:spPr>
      </p:pic>
    </p:spTree>
    <p:extLst>
      <p:ext uri="{BB962C8B-B14F-4D97-AF65-F5344CB8AC3E}">
        <p14:creationId xmlns:p14="http://schemas.microsoft.com/office/powerpoint/2010/main" val="2305099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1D7702-70BA-0227-EF21-C0BE764BABF7}"/>
              </a:ext>
            </a:extLst>
          </p:cNvPr>
          <p:cNvPicPr>
            <a:picLocks noChangeAspect="1"/>
          </p:cNvPicPr>
          <p:nvPr/>
        </p:nvPicPr>
        <p:blipFill>
          <a:blip r:embed="rId2"/>
          <a:stretch>
            <a:fillRect/>
          </a:stretch>
        </p:blipFill>
        <p:spPr>
          <a:xfrm>
            <a:off x="6311758" y="1860326"/>
            <a:ext cx="5447034" cy="4488923"/>
          </a:xfrm>
          <a:prstGeom prst="rect">
            <a:avLst/>
          </a:prstGeom>
        </p:spPr>
      </p:pic>
      <p:sp>
        <p:nvSpPr>
          <p:cNvPr id="2" name="Title 1">
            <a:extLst>
              <a:ext uri="{FF2B5EF4-FFF2-40B4-BE49-F238E27FC236}">
                <a16:creationId xmlns:a16="http://schemas.microsoft.com/office/drawing/2014/main" id="{C5526CA7-482C-8A09-6758-618124169D58}"/>
              </a:ext>
            </a:extLst>
          </p:cNvPr>
          <p:cNvSpPr>
            <a:spLocks noGrp="1"/>
          </p:cNvSpPr>
          <p:nvPr>
            <p:ph type="title"/>
          </p:nvPr>
        </p:nvSpPr>
        <p:spPr/>
        <p:txBody>
          <a:bodyPr/>
          <a:lstStyle/>
          <a:p>
            <a:r>
              <a:rPr lang="en-US" sz="4400" dirty="0"/>
              <a:t>Beam Search - Best Sequence </a:t>
            </a:r>
            <a:endParaRPr lang="en-US" dirty="0"/>
          </a:p>
        </p:txBody>
      </p:sp>
      <p:sp>
        <p:nvSpPr>
          <p:cNvPr id="10" name="TextBox 9">
            <a:extLst>
              <a:ext uri="{FF2B5EF4-FFF2-40B4-BE49-F238E27FC236}">
                <a16:creationId xmlns:a16="http://schemas.microsoft.com/office/drawing/2014/main" id="{4CF36302-498B-FAF9-D41C-919BB9B26A0C}"/>
              </a:ext>
            </a:extLst>
          </p:cNvPr>
          <p:cNvSpPr txBox="1"/>
          <p:nvPr/>
        </p:nvSpPr>
        <p:spPr>
          <a:xfrm>
            <a:off x="922104" y="5292546"/>
            <a:ext cx="7533527" cy="830997"/>
          </a:xfrm>
          <a:prstGeom prst="rect">
            <a:avLst/>
          </a:prstGeom>
          <a:noFill/>
        </p:spPr>
        <p:txBody>
          <a:bodyPr wrap="square">
            <a:spAutoFit/>
          </a:bodyPr>
          <a:lstStyle/>
          <a:p>
            <a:r>
              <a:rPr lang="en-US" sz="2400" b="0" i="0" dirty="0">
                <a:solidFill>
                  <a:srgbClr val="111827"/>
                </a:solidFill>
                <a:effectLst/>
                <a:latin typeface="Charter"/>
              </a:rPr>
              <a:t>Sequence </a:t>
            </a:r>
            <a:r>
              <a:rPr lang="en-US" sz="2400" b="0" dirty="0">
                <a:solidFill>
                  <a:srgbClr val="111827"/>
                </a:solidFill>
                <a:effectLst/>
                <a:latin typeface="KaTeX_Main"/>
              </a:rPr>
              <a:t>("</a:t>
            </a:r>
            <a:r>
              <a:rPr lang="en-US" sz="2400" b="0" dirty="0" err="1">
                <a:solidFill>
                  <a:srgbClr val="111827"/>
                </a:solidFill>
                <a:effectLst/>
                <a:latin typeface="KaTeX_Main"/>
              </a:rPr>
              <a:t>The","dog","has</a:t>
            </a:r>
            <a:r>
              <a:rPr lang="en-US" sz="2400" b="0" dirty="0">
                <a:solidFill>
                  <a:srgbClr val="111827"/>
                </a:solidFill>
                <a:effectLst/>
                <a:latin typeface="KaTeX_Main"/>
              </a:rPr>
              <a:t>")</a:t>
            </a:r>
            <a:r>
              <a:rPr lang="en-US" sz="2400" b="0" i="0" dirty="0">
                <a:solidFill>
                  <a:srgbClr val="111827"/>
                </a:solidFill>
                <a:effectLst/>
                <a:latin typeface="Charter"/>
              </a:rPr>
              <a:t>, with </a:t>
            </a:r>
            <a:r>
              <a:rPr lang="en-US" sz="2400" b="0" dirty="0">
                <a:solidFill>
                  <a:srgbClr val="111827"/>
                </a:solidFill>
                <a:effectLst/>
                <a:latin typeface="KaTeX_Main"/>
              </a:rPr>
              <a:t>0.36</a:t>
            </a:r>
            <a:r>
              <a:rPr lang="en-US" sz="2400" b="0" i="0" dirty="0">
                <a:solidFill>
                  <a:srgbClr val="111827"/>
                </a:solidFill>
                <a:effectLst/>
                <a:latin typeface="Charter"/>
              </a:rPr>
              <a:t> has the highest probability</a:t>
            </a:r>
            <a:endParaRPr lang="en-US" sz="2400" dirty="0"/>
          </a:p>
        </p:txBody>
      </p:sp>
      <p:sp>
        <p:nvSpPr>
          <p:cNvPr id="18" name="TextBox 17">
            <a:extLst>
              <a:ext uri="{FF2B5EF4-FFF2-40B4-BE49-F238E27FC236}">
                <a16:creationId xmlns:a16="http://schemas.microsoft.com/office/drawing/2014/main" id="{B1A4B1EE-FC2B-4ED2-CB19-957A63FB19CC}"/>
              </a:ext>
            </a:extLst>
          </p:cNvPr>
          <p:cNvSpPr txBox="1"/>
          <p:nvPr/>
        </p:nvSpPr>
        <p:spPr>
          <a:xfrm>
            <a:off x="922104" y="1767006"/>
            <a:ext cx="7944494" cy="892552"/>
          </a:xfrm>
          <a:prstGeom prst="rect">
            <a:avLst/>
          </a:prstGeom>
          <a:noFill/>
        </p:spPr>
        <p:txBody>
          <a:bodyPr wrap="square">
            <a:spAutoFit/>
          </a:bodyPr>
          <a:lstStyle/>
          <a:p>
            <a:r>
              <a:rPr lang="en-US" sz="2600" dirty="0"/>
              <a:t>Identify the </a:t>
            </a:r>
            <a:r>
              <a:rPr lang="en-US" sz="2600" dirty="0">
                <a:solidFill>
                  <a:srgbClr val="C00000"/>
                </a:solidFill>
              </a:rPr>
              <a:t>path </a:t>
            </a:r>
            <a:r>
              <a:rPr lang="en-US" sz="2600" dirty="0"/>
              <a:t>with the </a:t>
            </a:r>
            <a:r>
              <a:rPr lang="en-US" sz="2600" dirty="0">
                <a:solidFill>
                  <a:srgbClr val="C00000"/>
                </a:solidFill>
              </a:rPr>
              <a:t>highest sequence score </a:t>
            </a:r>
            <a:r>
              <a:rPr lang="en-US" sz="2600" dirty="0"/>
              <a:t>(a sequence with the </a:t>
            </a:r>
            <a:r>
              <a:rPr lang="en-US" sz="2600" dirty="0">
                <a:solidFill>
                  <a:srgbClr val="C00000"/>
                </a:solidFill>
              </a:rPr>
              <a:t>maximum probability</a:t>
            </a:r>
            <a:r>
              <a:rPr lang="en-US" sz="2600" dirty="0"/>
              <a:t>)   </a:t>
            </a:r>
          </a:p>
        </p:txBody>
      </p:sp>
      <p:sp>
        <p:nvSpPr>
          <p:cNvPr id="5" name="TextBox 4">
            <a:extLst>
              <a:ext uri="{FF2B5EF4-FFF2-40B4-BE49-F238E27FC236}">
                <a16:creationId xmlns:a16="http://schemas.microsoft.com/office/drawing/2014/main" id="{476A6B7C-F0A5-F35D-5374-69843A109820}"/>
              </a:ext>
            </a:extLst>
          </p:cNvPr>
          <p:cNvSpPr txBox="1"/>
          <p:nvPr/>
        </p:nvSpPr>
        <p:spPr>
          <a:xfrm>
            <a:off x="922104" y="2991735"/>
            <a:ext cx="6097712" cy="1477328"/>
          </a:xfrm>
          <a:prstGeom prst="rect">
            <a:avLst/>
          </a:prstGeom>
          <a:noFill/>
        </p:spPr>
        <p:txBody>
          <a:bodyPr wrap="square">
            <a:spAutoFit/>
          </a:bodyPr>
          <a:lstStyle/>
          <a:p>
            <a:r>
              <a:rPr lang="en-US" sz="1800" b="0" dirty="0">
                <a:solidFill>
                  <a:srgbClr val="111827"/>
                </a:solidFill>
                <a:effectLst/>
                <a:latin typeface="KaTeX_Main"/>
              </a:rPr>
              <a:t>p("</a:t>
            </a:r>
            <a:r>
              <a:rPr lang="en-US" sz="1800" b="0" dirty="0" err="1">
                <a:solidFill>
                  <a:srgbClr val="111827"/>
                </a:solidFill>
                <a:effectLst/>
                <a:latin typeface="KaTeX_Main"/>
              </a:rPr>
              <a:t>The","dog",“and</a:t>
            </a:r>
            <a:r>
              <a:rPr lang="en-US" sz="1800" b="0" dirty="0">
                <a:solidFill>
                  <a:srgbClr val="111827"/>
                </a:solidFill>
                <a:effectLst/>
                <a:latin typeface="KaTeX_Main"/>
              </a:rPr>
              <a:t>")</a:t>
            </a:r>
            <a:r>
              <a:rPr lang="en-US" dirty="0">
                <a:solidFill>
                  <a:srgbClr val="111827"/>
                </a:solidFill>
                <a:latin typeface="Charter"/>
              </a:rPr>
              <a:t>= 1 * </a:t>
            </a:r>
            <a:r>
              <a:rPr lang="en-US" sz="1800" b="0" i="0" dirty="0">
                <a:solidFill>
                  <a:srgbClr val="111827"/>
                </a:solidFill>
                <a:effectLst/>
                <a:latin typeface="Charter"/>
              </a:rPr>
              <a:t>0.4 * 0.05 = </a:t>
            </a:r>
            <a:r>
              <a:rPr lang="en-US" sz="1800" b="0" dirty="0">
                <a:solidFill>
                  <a:srgbClr val="111827"/>
                </a:solidFill>
                <a:effectLst/>
                <a:latin typeface="KaTeX_Main"/>
              </a:rPr>
              <a:t>0.02</a:t>
            </a:r>
          </a:p>
          <a:p>
            <a:r>
              <a:rPr lang="en-US" sz="1800" b="0" dirty="0">
                <a:solidFill>
                  <a:srgbClr val="111827"/>
                </a:solidFill>
                <a:effectLst/>
                <a:latin typeface="KaTeX_Main"/>
              </a:rPr>
              <a:t>p("</a:t>
            </a:r>
            <a:r>
              <a:rPr lang="en-US" sz="1800" b="0" dirty="0" err="1">
                <a:solidFill>
                  <a:srgbClr val="111827"/>
                </a:solidFill>
                <a:effectLst/>
                <a:latin typeface="KaTeX_Main"/>
              </a:rPr>
              <a:t>The","dog",“runs</a:t>
            </a:r>
            <a:r>
              <a:rPr lang="en-US" sz="1800" b="0" dirty="0">
                <a:solidFill>
                  <a:srgbClr val="111827"/>
                </a:solidFill>
                <a:effectLst/>
                <a:latin typeface="KaTeX_Main"/>
              </a:rPr>
              <a:t>")</a:t>
            </a:r>
            <a:r>
              <a:rPr lang="en-US" dirty="0">
                <a:solidFill>
                  <a:srgbClr val="111827"/>
                </a:solidFill>
                <a:latin typeface="Charter"/>
              </a:rPr>
              <a:t>= 1 * </a:t>
            </a:r>
            <a:r>
              <a:rPr lang="en-US" sz="1800" b="0" i="0" dirty="0">
                <a:solidFill>
                  <a:srgbClr val="111827"/>
                </a:solidFill>
                <a:effectLst/>
                <a:latin typeface="Charter"/>
              </a:rPr>
              <a:t>0.4 * 0.05 = </a:t>
            </a:r>
            <a:r>
              <a:rPr lang="en-US" sz="1800" b="0" dirty="0">
                <a:solidFill>
                  <a:srgbClr val="111827"/>
                </a:solidFill>
                <a:effectLst/>
                <a:latin typeface="KaTeX_Main"/>
              </a:rPr>
              <a:t>0. 02</a:t>
            </a:r>
          </a:p>
          <a:p>
            <a:r>
              <a:rPr lang="en-US" sz="1800" b="0" dirty="0">
                <a:solidFill>
                  <a:srgbClr val="111827"/>
                </a:solidFill>
                <a:effectLst/>
                <a:latin typeface="KaTeX_Main"/>
              </a:rPr>
              <a:t>p("</a:t>
            </a:r>
            <a:r>
              <a:rPr lang="en-US" sz="1800" b="0" dirty="0" err="1">
                <a:solidFill>
                  <a:srgbClr val="111827"/>
                </a:solidFill>
                <a:effectLst/>
                <a:latin typeface="KaTeX_Main"/>
              </a:rPr>
              <a:t>The","dog","has</a:t>
            </a:r>
            <a:r>
              <a:rPr lang="en-US" sz="1800" b="0" dirty="0">
                <a:solidFill>
                  <a:srgbClr val="111827"/>
                </a:solidFill>
                <a:effectLst/>
                <a:latin typeface="KaTeX_Main"/>
              </a:rPr>
              <a:t>")</a:t>
            </a:r>
            <a:r>
              <a:rPr lang="en-US" dirty="0">
                <a:solidFill>
                  <a:srgbClr val="111827"/>
                </a:solidFill>
                <a:latin typeface="Charter"/>
              </a:rPr>
              <a:t>= 1 * </a:t>
            </a:r>
            <a:r>
              <a:rPr lang="en-US" sz="1800" b="0" i="0" dirty="0">
                <a:solidFill>
                  <a:srgbClr val="111827"/>
                </a:solidFill>
                <a:effectLst/>
                <a:latin typeface="Charter"/>
              </a:rPr>
              <a:t>0.4 * 0.9 = </a:t>
            </a:r>
            <a:r>
              <a:rPr lang="en-US" sz="1800" b="0" dirty="0">
                <a:solidFill>
                  <a:srgbClr val="111827"/>
                </a:solidFill>
                <a:effectLst/>
                <a:highlight>
                  <a:srgbClr val="FFFF00"/>
                </a:highlight>
                <a:latin typeface="KaTeX_Main"/>
              </a:rPr>
              <a:t>0.36</a:t>
            </a:r>
          </a:p>
          <a:p>
            <a:r>
              <a:rPr lang="en-US" sz="1800" b="0" dirty="0">
                <a:solidFill>
                  <a:srgbClr val="111827"/>
                </a:solidFill>
                <a:effectLst/>
                <a:latin typeface="KaTeX_Main"/>
              </a:rPr>
              <a:t>p("</a:t>
            </a:r>
            <a:r>
              <a:rPr lang="en-US" sz="1800" b="0" dirty="0" err="1">
                <a:solidFill>
                  <a:srgbClr val="111827"/>
                </a:solidFill>
                <a:effectLst/>
                <a:latin typeface="KaTeX_Main"/>
              </a:rPr>
              <a:t>The",“nice",“woman</a:t>
            </a:r>
            <a:r>
              <a:rPr lang="en-US" sz="1800" b="0" dirty="0">
                <a:solidFill>
                  <a:srgbClr val="111827"/>
                </a:solidFill>
                <a:effectLst/>
                <a:latin typeface="KaTeX_Main"/>
              </a:rPr>
              <a:t>")</a:t>
            </a:r>
            <a:r>
              <a:rPr lang="en-US" dirty="0">
                <a:solidFill>
                  <a:srgbClr val="111827"/>
                </a:solidFill>
                <a:latin typeface="Charter"/>
              </a:rPr>
              <a:t>= 1 * </a:t>
            </a:r>
            <a:r>
              <a:rPr lang="en-US" sz="1800" b="0" i="0" dirty="0">
                <a:solidFill>
                  <a:srgbClr val="111827"/>
                </a:solidFill>
                <a:effectLst/>
                <a:latin typeface="Charter"/>
              </a:rPr>
              <a:t>0.5 * 0.4 = </a:t>
            </a:r>
            <a:r>
              <a:rPr lang="en-US" sz="1800" b="0" dirty="0">
                <a:solidFill>
                  <a:srgbClr val="111827"/>
                </a:solidFill>
                <a:effectLst/>
                <a:latin typeface="KaTeX_Main"/>
              </a:rPr>
              <a:t>0.20 </a:t>
            </a:r>
            <a:endParaRPr lang="en-US" dirty="0">
              <a:solidFill>
                <a:srgbClr val="111827"/>
              </a:solidFill>
              <a:latin typeface="KaTeX_Main"/>
            </a:endParaRPr>
          </a:p>
          <a:p>
            <a:r>
              <a:rPr lang="en-US" sz="1800" b="0" i="0" dirty="0">
                <a:solidFill>
                  <a:srgbClr val="111827"/>
                </a:solidFill>
                <a:effectLst/>
                <a:latin typeface="KaTeX_Main"/>
              </a:rPr>
              <a:t>…</a:t>
            </a:r>
            <a:r>
              <a:rPr lang="en-US" sz="1800" b="0" i="0" dirty="0">
                <a:solidFill>
                  <a:srgbClr val="111827"/>
                </a:solidFill>
                <a:effectLst/>
                <a:latin typeface="Charter"/>
              </a:rPr>
              <a:t>  </a:t>
            </a:r>
            <a:endParaRPr lang="en-US" dirty="0"/>
          </a:p>
        </p:txBody>
      </p:sp>
    </p:spTree>
    <p:extLst>
      <p:ext uri="{BB962C8B-B14F-4D97-AF65-F5344CB8AC3E}">
        <p14:creationId xmlns:p14="http://schemas.microsoft.com/office/powerpoint/2010/main" val="9217115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8FB7F-1580-4EEB-E699-A2D4ACFBBC5E}"/>
              </a:ext>
            </a:extLst>
          </p:cNvPr>
          <p:cNvSpPr>
            <a:spLocks noGrp="1"/>
          </p:cNvSpPr>
          <p:nvPr>
            <p:ph type="title"/>
          </p:nvPr>
        </p:nvSpPr>
        <p:spPr>
          <a:xfrm>
            <a:off x="838200" y="153573"/>
            <a:ext cx="10515600" cy="1325563"/>
          </a:xfrm>
        </p:spPr>
        <p:txBody>
          <a:bodyPr/>
          <a:lstStyle/>
          <a:p>
            <a:r>
              <a:rPr lang="en-US" dirty="0"/>
              <a:t>Beam Search - Steps</a:t>
            </a:r>
          </a:p>
        </p:txBody>
      </p:sp>
      <p:sp>
        <p:nvSpPr>
          <p:cNvPr id="4" name="Rectangle 1">
            <a:extLst>
              <a:ext uri="{FF2B5EF4-FFF2-40B4-BE49-F238E27FC236}">
                <a16:creationId xmlns:a16="http://schemas.microsoft.com/office/drawing/2014/main" id="{BAB92DCC-940A-3EEE-FF2F-7493843BF8BA}"/>
              </a:ext>
            </a:extLst>
          </p:cNvPr>
          <p:cNvSpPr>
            <a:spLocks noGrp="1" noChangeArrowheads="1"/>
          </p:cNvSpPr>
          <p:nvPr>
            <p:ph idx="1"/>
          </p:nvPr>
        </p:nvSpPr>
        <p:spPr bwMode="auto">
          <a:xfrm>
            <a:off x="972621" y="1546180"/>
            <a:ext cx="1121937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i="0" u="none" strike="noStrike" cap="none" normalizeH="0" baseline="0" dirty="0">
                <a:ln>
                  <a:noFill/>
                </a:ln>
                <a:solidFill>
                  <a:schemeClr val="tx1"/>
                </a:solidFill>
                <a:effectLst/>
              </a:rPr>
              <a:t>Start with the </a:t>
            </a:r>
            <a:r>
              <a:rPr kumimoji="0" lang="en-US" altLang="en-US" sz="2400" i="0" u="none" strike="noStrike" cap="none" normalizeH="0" baseline="0" dirty="0">
                <a:ln>
                  <a:noFill/>
                </a:ln>
                <a:solidFill>
                  <a:srgbClr val="C00000"/>
                </a:solidFill>
                <a:effectLst/>
              </a:rPr>
              <a:t>start token </a:t>
            </a:r>
            <a:r>
              <a:rPr kumimoji="0" lang="en-US" altLang="en-US" sz="2400" i="0" u="none" strike="noStrike" cap="none" normalizeH="0" baseline="0" dirty="0">
                <a:ln>
                  <a:noFill/>
                </a:ln>
                <a:solidFill>
                  <a:schemeClr val="tx1"/>
                </a:solidFill>
                <a:effectLst/>
              </a:rPr>
              <a:t>(&lt;BOS&gt;).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i="0" u="none" strike="noStrike" cap="none" normalizeH="0" baseline="0" dirty="0">
                <a:ln>
                  <a:noFill/>
                </a:ln>
                <a:solidFill>
                  <a:schemeClr val="tx1"/>
                </a:solidFill>
                <a:effectLst/>
              </a:rPr>
              <a:t>Get </a:t>
            </a:r>
            <a:r>
              <a:rPr kumimoji="0" lang="en-US" altLang="en-US" sz="2400" i="0" u="none" strike="noStrike" cap="none" normalizeH="0" baseline="0" dirty="0">
                <a:ln>
                  <a:noFill/>
                </a:ln>
                <a:solidFill>
                  <a:srgbClr val="C00000"/>
                </a:solidFill>
                <a:effectLst/>
              </a:rPr>
              <a:t>probabilities</a:t>
            </a:r>
            <a:r>
              <a:rPr kumimoji="0" lang="en-US" altLang="en-US" sz="2400" i="0" u="none" strike="noStrike" cap="none" normalizeH="0" baseline="0" dirty="0">
                <a:ln>
                  <a:noFill/>
                </a:ln>
                <a:solidFill>
                  <a:schemeClr val="tx1"/>
                </a:solidFill>
                <a:effectLst/>
              </a:rPr>
              <a:t> for all tokens from the decoder.</a:t>
            </a:r>
          </a:p>
          <a:p>
            <a:pPr marL="457200" lvl="0" indent="-457200" eaLnBrk="0" hangingPunct="0">
              <a:lnSpc>
                <a:spcPct val="100000"/>
              </a:lnSpc>
              <a:spcBef>
                <a:spcPct val="0"/>
              </a:spcBef>
              <a:buFont typeface="+mj-lt"/>
              <a:buAutoNum type="arabicPeriod"/>
            </a:pPr>
            <a:r>
              <a:rPr kumimoji="0" lang="en-US" altLang="en-US" sz="2400" i="0" u="none" strike="noStrike" cap="none" normalizeH="0" baseline="0" dirty="0">
                <a:ln>
                  <a:noFill/>
                </a:ln>
                <a:solidFill>
                  <a:schemeClr val="tx1"/>
                </a:solidFill>
                <a:effectLst/>
              </a:rPr>
              <a:t>Pick the </a:t>
            </a:r>
            <a:r>
              <a:rPr kumimoji="0" lang="en-US" altLang="en-US" sz="2400" i="0" u="none" strike="noStrike" cap="none" normalizeH="0" baseline="0" dirty="0">
                <a:ln>
                  <a:noFill/>
                </a:ln>
                <a:solidFill>
                  <a:srgbClr val="C00000"/>
                </a:solidFill>
                <a:effectLst/>
              </a:rPr>
              <a:t>top-k</a:t>
            </a:r>
            <a:r>
              <a:rPr kumimoji="0" lang="en-US" altLang="en-US" sz="2400" i="0" u="none" strike="noStrike" cap="none" normalizeH="0" baseline="0" dirty="0">
                <a:ln>
                  <a:noFill/>
                </a:ln>
                <a:solidFill>
                  <a:schemeClr val="tx1"/>
                </a:solidFill>
                <a:effectLst/>
              </a:rPr>
              <a:t> </a:t>
            </a:r>
            <a:r>
              <a:rPr lang="en-US" altLang="en-US" sz="2400" dirty="0"/>
              <a:t>(beam width) </a:t>
            </a:r>
            <a:r>
              <a:rPr kumimoji="0" lang="en-US" altLang="en-US" sz="2400" i="0" u="none" strike="noStrike" cap="none" normalizeH="0" baseline="0" dirty="0">
                <a:ln>
                  <a:noFill/>
                </a:ln>
                <a:solidFill>
                  <a:schemeClr val="tx1"/>
                </a:solidFill>
                <a:effectLst/>
              </a:rPr>
              <a:t>tokens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i="0" u="none" strike="noStrike" cap="none" normalizeH="0" baseline="0" dirty="0">
                <a:ln>
                  <a:noFill/>
                </a:ln>
                <a:solidFill>
                  <a:schemeClr val="tx1"/>
                </a:solidFill>
                <a:effectLst/>
              </a:rPr>
              <a:t>For each of these tokens: </a:t>
            </a:r>
          </a:p>
          <a:p>
            <a:pPr marL="461963" indent="165100" eaLnBrk="0" hangingPunct="0">
              <a:lnSpc>
                <a:spcPct val="100000"/>
              </a:lnSpc>
              <a:spcBef>
                <a:spcPct val="0"/>
              </a:spcBef>
            </a:pPr>
            <a:r>
              <a:rPr kumimoji="0" lang="en-US" altLang="en-US" sz="2400" i="0" u="none" strike="noStrike" cap="none" normalizeH="0" baseline="0" dirty="0">
                <a:ln>
                  <a:noFill/>
                </a:ln>
                <a:solidFill>
                  <a:schemeClr val="tx1"/>
                </a:solidFill>
                <a:effectLst/>
              </a:rPr>
              <a:t>Feed the </a:t>
            </a:r>
            <a:r>
              <a:rPr kumimoji="0" lang="en-US" altLang="en-US" sz="2400" i="0" u="none" strike="noStrike" cap="none" normalizeH="0" baseline="0" dirty="0">
                <a:ln>
                  <a:noFill/>
                </a:ln>
                <a:solidFill>
                  <a:srgbClr val="C00000"/>
                </a:solidFill>
                <a:effectLst/>
              </a:rPr>
              <a:t>whole sequences </a:t>
            </a:r>
            <a:r>
              <a:rPr kumimoji="0" lang="en-US" altLang="en-US" sz="2400" i="0" u="none" strike="noStrike" cap="none" normalizeH="0" baseline="0" dirty="0">
                <a:ln>
                  <a:noFill/>
                </a:ln>
                <a:solidFill>
                  <a:schemeClr val="tx1"/>
                </a:solidFill>
                <a:effectLst/>
              </a:rPr>
              <a:t>into the decoder to get the next step’s probabilities</a:t>
            </a:r>
          </a:p>
          <a:p>
            <a:pPr marL="461963" indent="165100" eaLnBrk="0" hangingPunct="0">
              <a:lnSpc>
                <a:spcPct val="100000"/>
              </a:lnSpc>
              <a:spcBef>
                <a:spcPct val="0"/>
              </a:spcBef>
            </a:pPr>
            <a:r>
              <a:rPr lang="en-US" altLang="en-US" sz="2400" dirty="0"/>
              <a:t>Pick the </a:t>
            </a:r>
            <a:r>
              <a:rPr lang="en-US" altLang="en-US" sz="2400" dirty="0">
                <a:solidFill>
                  <a:srgbClr val="C00000"/>
                </a:solidFill>
              </a:rPr>
              <a:t>top-k </a:t>
            </a:r>
          </a:p>
          <a:p>
            <a:pPr marL="461963" indent="165100" eaLnBrk="0" hangingPunct="0">
              <a:lnSpc>
                <a:spcPct val="100000"/>
              </a:lnSpc>
              <a:spcBef>
                <a:spcPct val="0"/>
              </a:spcBef>
            </a:pPr>
            <a:r>
              <a:rPr kumimoji="0" lang="en-US" altLang="en-US" sz="2400" i="0" u="none" strike="noStrike" cap="none" normalizeH="0" baseline="0" dirty="0">
                <a:ln>
                  <a:noFill/>
                </a:ln>
                <a:solidFill>
                  <a:srgbClr val="C00000"/>
                </a:solidFill>
                <a:effectLst/>
              </a:rPr>
              <a:t>Expand</a:t>
            </a:r>
            <a:r>
              <a:rPr kumimoji="0" lang="en-US" altLang="en-US" sz="2400" i="0" u="none" strike="noStrike" cap="none" normalizeH="0" baseline="0" dirty="0">
                <a:ln>
                  <a:noFill/>
                </a:ln>
                <a:solidFill>
                  <a:schemeClr val="tx1"/>
                </a:solidFill>
                <a:effectLst/>
              </a:rPr>
              <a:t> the beam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startAt="5"/>
              <a:tabLst/>
            </a:pPr>
            <a:r>
              <a:rPr kumimoji="0" lang="en-US" altLang="en-US" sz="2400" i="0" u="none" strike="noStrike" cap="none" normalizeH="0" baseline="0" dirty="0">
                <a:ln>
                  <a:noFill/>
                </a:ln>
                <a:solidFill>
                  <a:srgbClr val="C00000"/>
                </a:solidFill>
                <a:effectLst/>
              </a:rPr>
              <a:t>Repeat</a:t>
            </a:r>
            <a:r>
              <a:rPr kumimoji="0" lang="en-US" altLang="en-US" sz="2400" i="0" u="none" strike="noStrike" cap="none" normalizeH="0" baseline="0" dirty="0">
                <a:ln>
                  <a:noFill/>
                </a:ln>
                <a:solidFill>
                  <a:schemeClr val="tx1"/>
                </a:solidFill>
                <a:effectLst/>
              </a:rPr>
              <a:t> until end-of-sequence token &lt;EOS&gt; or length limit.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startAt="5"/>
              <a:tabLst/>
            </a:pPr>
            <a:r>
              <a:rPr lang="en-US" altLang="en-US" sz="2400" dirty="0"/>
              <a:t>Pick the </a:t>
            </a:r>
            <a:r>
              <a:rPr lang="en-US" altLang="en-US" sz="2400" dirty="0">
                <a:solidFill>
                  <a:srgbClr val="C00000"/>
                </a:solidFill>
              </a:rPr>
              <a:t>best overall score</a:t>
            </a:r>
            <a:endParaRPr kumimoji="0" lang="en-US" altLang="en-US" sz="2400" i="0" u="none" strike="noStrike" cap="none" normalizeH="0" baseline="0" dirty="0">
              <a:ln>
                <a:noFill/>
              </a:ln>
              <a:solidFill>
                <a:srgbClr val="C00000"/>
              </a:solidFill>
              <a:effectLst/>
            </a:endParaRPr>
          </a:p>
        </p:txBody>
      </p:sp>
      <p:sp>
        <p:nvSpPr>
          <p:cNvPr id="6" name="TextBox 5">
            <a:extLst>
              <a:ext uri="{FF2B5EF4-FFF2-40B4-BE49-F238E27FC236}">
                <a16:creationId xmlns:a16="http://schemas.microsoft.com/office/drawing/2014/main" id="{96BC6CA7-E182-F225-F3E0-949A6D9656EB}"/>
              </a:ext>
            </a:extLst>
          </p:cNvPr>
          <p:cNvSpPr txBox="1"/>
          <p:nvPr/>
        </p:nvSpPr>
        <p:spPr>
          <a:xfrm>
            <a:off x="972621" y="5401357"/>
            <a:ext cx="10841805" cy="1200329"/>
          </a:xfrm>
          <a:prstGeom prst="rect">
            <a:avLst/>
          </a:prstGeom>
          <a:noFill/>
        </p:spPr>
        <p:txBody>
          <a:bodyPr wrap="square">
            <a:spAutoFit/>
          </a:bodyPr>
          <a:lstStyle/>
          <a:p>
            <a:r>
              <a:rPr lang="en-US" sz="2400" b="1" dirty="0"/>
              <a:t>Problem</a:t>
            </a:r>
            <a:r>
              <a:rPr lang="en-US" sz="2400" dirty="0"/>
              <a:t> :</a:t>
            </a:r>
          </a:p>
          <a:p>
            <a:r>
              <a:rPr lang="en-US" sz="2400" dirty="0"/>
              <a:t>For </a:t>
            </a:r>
            <a:r>
              <a:rPr lang="en-US" sz="2400" dirty="0">
                <a:solidFill>
                  <a:srgbClr val="C00000"/>
                </a:solidFill>
              </a:rPr>
              <a:t>each step</a:t>
            </a:r>
            <a:r>
              <a:rPr lang="en-US" sz="2400" dirty="0"/>
              <a:t>, it keeps </a:t>
            </a:r>
            <a:r>
              <a:rPr lang="en-US" sz="2400" dirty="0">
                <a:solidFill>
                  <a:srgbClr val="C00000"/>
                </a:solidFill>
              </a:rPr>
              <a:t>multiple paths</a:t>
            </a:r>
            <a:r>
              <a:rPr lang="en-US" sz="2400" dirty="0"/>
              <a:t>, not just one like greedy decoding.</a:t>
            </a:r>
          </a:p>
          <a:p>
            <a:r>
              <a:rPr lang="en-US" sz="2400" dirty="0"/>
              <a:t>For each path, it must </a:t>
            </a:r>
            <a:r>
              <a:rPr lang="en-US" sz="2400" dirty="0">
                <a:solidFill>
                  <a:srgbClr val="C00000"/>
                </a:solidFill>
              </a:rPr>
              <a:t>run the decoder </a:t>
            </a:r>
            <a:r>
              <a:rPr lang="en-US" sz="2400" dirty="0"/>
              <a:t>(all layers) which is </a:t>
            </a:r>
            <a:r>
              <a:rPr lang="en-US" sz="2400" dirty="0">
                <a:solidFill>
                  <a:srgbClr val="C00000"/>
                </a:solidFill>
              </a:rPr>
              <a:t>computationally expensive</a:t>
            </a:r>
          </a:p>
        </p:txBody>
      </p:sp>
      <p:pic>
        <p:nvPicPr>
          <p:cNvPr id="2051" name="Picture 3" descr="Beam Search Algorithm | Baeldung on Computer Science">
            <a:extLst>
              <a:ext uri="{FF2B5EF4-FFF2-40B4-BE49-F238E27FC236}">
                <a16:creationId xmlns:a16="http://schemas.microsoft.com/office/drawing/2014/main" id="{4701A5BE-1D18-09C6-4306-CEC43B19D0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35408" y="3429000"/>
            <a:ext cx="2879018" cy="22190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11659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30B5659-E6D0-5583-ECFD-59FA7688C27C}"/>
              </a:ext>
            </a:extLst>
          </p:cNvPr>
          <p:cNvPicPr>
            <a:picLocks noChangeAspect="1"/>
          </p:cNvPicPr>
          <p:nvPr/>
        </p:nvPicPr>
        <p:blipFill>
          <a:blip r:embed="rId2"/>
          <a:stretch>
            <a:fillRect/>
          </a:stretch>
        </p:blipFill>
        <p:spPr>
          <a:xfrm>
            <a:off x="7469312" y="3415531"/>
            <a:ext cx="4294617" cy="2896370"/>
          </a:xfrm>
          <a:prstGeom prst="rect">
            <a:avLst/>
          </a:prstGeom>
        </p:spPr>
      </p:pic>
      <p:sp>
        <p:nvSpPr>
          <p:cNvPr id="2" name="Title 1">
            <a:extLst>
              <a:ext uri="{FF2B5EF4-FFF2-40B4-BE49-F238E27FC236}">
                <a16:creationId xmlns:a16="http://schemas.microsoft.com/office/drawing/2014/main" id="{F4AE0B13-54D5-5525-BF52-C455558D9AB0}"/>
              </a:ext>
            </a:extLst>
          </p:cNvPr>
          <p:cNvSpPr>
            <a:spLocks noGrp="1"/>
          </p:cNvSpPr>
          <p:nvPr>
            <p:ph type="title"/>
          </p:nvPr>
        </p:nvSpPr>
        <p:spPr/>
        <p:txBody>
          <a:bodyPr/>
          <a:lstStyle/>
          <a:p>
            <a:r>
              <a:rPr lang="en-US" sz="4400" dirty="0"/>
              <a:t>Beam Search - Pruning</a:t>
            </a:r>
            <a:endParaRPr lang="en-US" dirty="0"/>
          </a:p>
        </p:txBody>
      </p:sp>
      <p:sp>
        <p:nvSpPr>
          <p:cNvPr id="3" name="Content Placeholder 2">
            <a:extLst>
              <a:ext uri="{FF2B5EF4-FFF2-40B4-BE49-F238E27FC236}">
                <a16:creationId xmlns:a16="http://schemas.microsoft.com/office/drawing/2014/main" id="{1D38A717-B69E-E3EF-C92F-D8AB98C89E50}"/>
              </a:ext>
            </a:extLst>
          </p:cNvPr>
          <p:cNvSpPr>
            <a:spLocks noGrp="1"/>
          </p:cNvSpPr>
          <p:nvPr>
            <p:ph idx="1"/>
          </p:nvPr>
        </p:nvSpPr>
        <p:spPr>
          <a:xfrm>
            <a:off x="838200" y="1825625"/>
            <a:ext cx="7185917" cy="4351338"/>
          </a:xfrm>
        </p:spPr>
        <p:txBody>
          <a:bodyPr/>
          <a:lstStyle/>
          <a:p>
            <a:r>
              <a:rPr lang="en-US" sz="2600" dirty="0"/>
              <a:t>Typically, a beam width of </a:t>
            </a:r>
            <a:r>
              <a:rPr lang="en-US" sz="2600" dirty="0">
                <a:solidFill>
                  <a:srgbClr val="C00000"/>
                </a:solidFill>
              </a:rPr>
              <a:t>4 to 6</a:t>
            </a:r>
            <a:r>
              <a:rPr lang="en-US" sz="2600" dirty="0"/>
              <a:t> is used in beam search</a:t>
            </a:r>
          </a:p>
          <a:p>
            <a:r>
              <a:rPr lang="en-US" sz="2600" dirty="0"/>
              <a:t>By branching out, </a:t>
            </a:r>
            <a:r>
              <a:rPr lang="en-US" sz="2600" dirty="0">
                <a:solidFill>
                  <a:srgbClr val="C00000"/>
                </a:solidFill>
              </a:rPr>
              <a:t>number of branches </a:t>
            </a:r>
            <a:r>
              <a:rPr lang="en-US" sz="2600" dirty="0"/>
              <a:t>will be </a:t>
            </a:r>
            <a:r>
              <a:rPr lang="en-US" sz="2600" dirty="0" err="1">
                <a:solidFill>
                  <a:srgbClr val="C00000"/>
                </a:solidFill>
              </a:rPr>
              <a:t>beam-width^n</a:t>
            </a:r>
            <a:r>
              <a:rPr lang="en-US" sz="2600" dirty="0"/>
              <a:t> for n steps (beam-with of 4 after 10 steps is 1,048,576 paths).</a:t>
            </a:r>
          </a:p>
          <a:p>
            <a:r>
              <a:rPr lang="en-US" sz="2600" dirty="0">
                <a:solidFill>
                  <a:srgbClr val="C00000"/>
                </a:solidFill>
              </a:rPr>
              <a:t>Pruning</a:t>
            </a:r>
            <a:r>
              <a:rPr lang="en-US" sz="2600" dirty="0"/>
              <a:t> involves discarding sequences that have low scores, which are </a:t>
            </a:r>
            <a:r>
              <a:rPr lang="en-US" sz="2600" dirty="0">
                <a:solidFill>
                  <a:srgbClr val="C00000"/>
                </a:solidFill>
              </a:rPr>
              <a:t>unlikely</a:t>
            </a:r>
            <a:r>
              <a:rPr lang="en-US" sz="2600" dirty="0"/>
              <a:t> to lead to optimal solutions.</a:t>
            </a:r>
          </a:p>
          <a:p>
            <a:r>
              <a:rPr lang="en-US" sz="2600" dirty="0"/>
              <a:t>Pruning aggressively might discard some sequences that could lead to a good final output, but </a:t>
            </a:r>
            <a:r>
              <a:rPr lang="en-US" sz="2600" dirty="0">
                <a:solidFill>
                  <a:srgbClr val="C00000"/>
                </a:solidFill>
              </a:rPr>
              <a:t>careful threshold </a:t>
            </a:r>
            <a:r>
              <a:rPr lang="en-US" sz="2600" dirty="0"/>
              <a:t>tuning can mitigate this.</a:t>
            </a:r>
          </a:p>
        </p:txBody>
      </p:sp>
      <p:sp>
        <p:nvSpPr>
          <p:cNvPr id="11" name="TextBox 10">
            <a:extLst>
              <a:ext uri="{FF2B5EF4-FFF2-40B4-BE49-F238E27FC236}">
                <a16:creationId xmlns:a16="http://schemas.microsoft.com/office/drawing/2014/main" id="{EE24FB67-8AE4-DD31-BA5B-2D18A8B277C5}"/>
              </a:ext>
            </a:extLst>
          </p:cNvPr>
          <p:cNvSpPr txBox="1"/>
          <p:nvPr/>
        </p:nvSpPr>
        <p:spPr>
          <a:xfrm>
            <a:off x="8289532" y="2758687"/>
            <a:ext cx="3474397" cy="369332"/>
          </a:xfrm>
          <a:prstGeom prst="rect">
            <a:avLst/>
          </a:prstGeom>
          <a:noFill/>
        </p:spPr>
        <p:txBody>
          <a:bodyPr wrap="square">
            <a:spAutoFit/>
          </a:bodyPr>
          <a:lstStyle/>
          <a:p>
            <a:r>
              <a:rPr lang="en-US" dirty="0">
                <a:solidFill>
                  <a:srgbClr val="C00000"/>
                </a:solidFill>
              </a:rPr>
              <a:t>e.g., (Path-Score/Best-Score) &gt; 0.3 </a:t>
            </a:r>
            <a:endParaRPr lang="en-US" dirty="0"/>
          </a:p>
        </p:txBody>
      </p:sp>
    </p:spTree>
    <p:extLst>
      <p:ext uri="{BB962C8B-B14F-4D97-AF65-F5344CB8AC3E}">
        <p14:creationId xmlns:p14="http://schemas.microsoft.com/office/powerpoint/2010/main" val="5272844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0A9A0-DF84-A94A-EE5E-B36316BF894E}"/>
              </a:ext>
            </a:extLst>
          </p:cNvPr>
          <p:cNvSpPr>
            <a:spLocks noGrp="1"/>
          </p:cNvSpPr>
          <p:nvPr>
            <p:ph type="title"/>
          </p:nvPr>
        </p:nvSpPr>
        <p:spPr/>
        <p:txBody>
          <a:bodyPr/>
          <a:lstStyle/>
          <a:p>
            <a:r>
              <a:rPr lang="en-US" dirty="0"/>
              <a:t>Greedy vs Beam </a:t>
            </a:r>
          </a:p>
        </p:txBody>
      </p:sp>
      <p:sp>
        <p:nvSpPr>
          <p:cNvPr id="3" name="Content Placeholder 2">
            <a:extLst>
              <a:ext uri="{FF2B5EF4-FFF2-40B4-BE49-F238E27FC236}">
                <a16:creationId xmlns:a16="http://schemas.microsoft.com/office/drawing/2014/main" id="{3C049B5F-2F1B-9E94-AD9C-55410CB10812}"/>
              </a:ext>
            </a:extLst>
          </p:cNvPr>
          <p:cNvSpPr>
            <a:spLocks noGrp="1"/>
          </p:cNvSpPr>
          <p:nvPr>
            <p:ph idx="1"/>
          </p:nvPr>
        </p:nvSpPr>
        <p:spPr>
          <a:xfrm>
            <a:off x="838199" y="1548222"/>
            <a:ext cx="10925711" cy="4351338"/>
          </a:xfrm>
        </p:spPr>
        <p:txBody>
          <a:bodyPr/>
          <a:lstStyle/>
          <a:p>
            <a:r>
              <a:rPr lang="en-US" sz="2600" dirty="0">
                <a:solidFill>
                  <a:srgbClr val="C00000"/>
                </a:solidFill>
              </a:rPr>
              <a:t>Greedy</a:t>
            </a:r>
            <a:r>
              <a:rPr lang="en-US" sz="2600" dirty="0"/>
              <a:t> search selects the highest-probability token at each step which is </a:t>
            </a:r>
            <a:r>
              <a:rPr lang="en-US" sz="2600" dirty="0">
                <a:solidFill>
                  <a:srgbClr val="C00000"/>
                </a:solidFill>
              </a:rPr>
              <a:t>fast</a:t>
            </a:r>
            <a:r>
              <a:rPr lang="en-US" sz="2600" dirty="0"/>
              <a:t> but can lead to </a:t>
            </a:r>
            <a:r>
              <a:rPr lang="en-US" sz="2600" dirty="0">
                <a:solidFill>
                  <a:srgbClr val="C00000"/>
                </a:solidFill>
              </a:rPr>
              <a:t>suboptimal</a:t>
            </a:r>
            <a:r>
              <a:rPr lang="en-US" sz="2600" dirty="0"/>
              <a:t> sequences. </a:t>
            </a:r>
          </a:p>
          <a:p>
            <a:r>
              <a:rPr lang="en-US" sz="2600" dirty="0">
                <a:solidFill>
                  <a:srgbClr val="C00000"/>
                </a:solidFill>
              </a:rPr>
              <a:t>Beam</a:t>
            </a:r>
            <a:r>
              <a:rPr lang="en-US" sz="2600" dirty="0"/>
              <a:t> search mitigates this by considering multiple candidates, increasing the chance of finding a </a:t>
            </a:r>
            <a:r>
              <a:rPr lang="en-US" sz="2600" dirty="0">
                <a:solidFill>
                  <a:srgbClr val="C00000"/>
                </a:solidFill>
              </a:rPr>
              <a:t>more optimal </a:t>
            </a:r>
            <a:r>
              <a:rPr lang="en-US" sz="2600" dirty="0"/>
              <a:t>sequence.</a:t>
            </a:r>
          </a:p>
        </p:txBody>
      </p:sp>
      <p:pic>
        <p:nvPicPr>
          <p:cNvPr id="6146" name="Picture 2" descr="greedy search">
            <a:extLst>
              <a:ext uri="{FF2B5EF4-FFF2-40B4-BE49-F238E27FC236}">
                <a16:creationId xmlns:a16="http://schemas.microsoft.com/office/drawing/2014/main" id="{B593ECF1-BF5B-91E5-2CB2-4F41FDE159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5979" y="3301936"/>
            <a:ext cx="3148635" cy="259762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8C7555F-6775-C8D4-0F85-12AB12BB98BC}"/>
              </a:ext>
            </a:extLst>
          </p:cNvPr>
          <p:cNvPicPr>
            <a:picLocks noChangeAspect="1"/>
          </p:cNvPicPr>
          <p:nvPr/>
        </p:nvPicPr>
        <p:blipFill>
          <a:blip r:embed="rId3"/>
          <a:stretch>
            <a:fillRect/>
          </a:stretch>
        </p:blipFill>
        <p:spPr>
          <a:xfrm>
            <a:off x="2120322" y="3301936"/>
            <a:ext cx="3148635" cy="2594803"/>
          </a:xfrm>
          <a:prstGeom prst="rect">
            <a:avLst/>
          </a:prstGeom>
        </p:spPr>
      </p:pic>
      <p:sp>
        <p:nvSpPr>
          <p:cNvPr id="6" name="TextBox 5">
            <a:extLst>
              <a:ext uri="{FF2B5EF4-FFF2-40B4-BE49-F238E27FC236}">
                <a16:creationId xmlns:a16="http://schemas.microsoft.com/office/drawing/2014/main" id="{F862CD77-2D88-1CCE-BA76-62B9F91EA410}"/>
              </a:ext>
            </a:extLst>
          </p:cNvPr>
          <p:cNvSpPr txBox="1"/>
          <p:nvPr/>
        </p:nvSpPr>
        <p:spPr>
          <a:xfrm>
            <a:off x="2120321" y="5345562"/>
            <a:ext cx="2540285" cy="369332"/>
          </a:xfrm>
          <a:prstGeom prst="rect">
            <a:avLst/>
          </a:prstGeom>
          <a:noFill/>
        </p:spPr>
        <p:txBody>
          <a:bodyPr wrap="square">
            <a:spAutoFit/>
          </a:bodyPr>
          <a:lstStyle/>
          <a:p>
            <a:r>
              <a:rPr lang="en-US" dirty="0">
                <a:solidFill>
                  <a:schemeClr val="accent5">
                    <a:lumMod val="50000"/>
                  </a:schemeClr>
                </a:solidFill>
              </a:rPr>
              <a:t>Result of Beam Search</a:t>
            </a:r>
          </a:p>
        </p:txBody>
      </p:sp>
      <p:sp>
        <p:nvSpPr>
          <p:cNvPr id="7" name="TextBox 6">
            <a:extLst>
              <a:ext uri="{FF2B5EF4-FFF2-40B4-BE49-F238E27FC236}">
                <a16:creationId xmlns:a16="http://schemas.microsoft.com/office/drawing/2014/main" id="{CC5A0948-5856-6763-6367-6E1B3B2F91B1}"/>
              </a:ext>
            </a:extLst>
          </p:cNvPr>
          <p:cNvSpPr txBox="1"/>
          <p:nvPr/>
        </p:nvSpPr>
        <p:spPr>
          <a:xfrm>
            <a:off x="7586180" y="5415771"/>
            <a:ext cx="2540285" cy="369332"/>
          </a:xfrm>
          <a:prstGeom prst="rect">
            <a:avLst/>
          </a:prstGeom>
          <a:noFill/>
        </p:spPr>
        <p:txBody>
          <a:bodyPr wrap="square">
            <a:spAutoFit/>
          </a:bodyPr>
          <a:lstStyle/>
          <a:p>
            <a:r>
              <a:rPr lang="en-US" dirty="0">
                <a:solidFill>
                  <a:schemeClr val="accent5">
                    <a:lumMod val="50000"/>
                  </a:schemeClr>
                </a:solidFill>
              </a:rPr>
              <a:t>Result of Greedy Search</a:t>
            </a:r>
          </a:p>
        </p:txBody>
      </p:sp>
      <p:sp>
        <p:nvSpPr>
          <p:cNvPr id="8" name="TextBox 7">
            <a:extLst>
              <a:ext uri="{FF2B5EF4-FFF2-40B4-BE49-F238E27FC236}">
                <a16:creationId xmlns:a16="http://schemas.microsoft.com/office/drawing/2014/main" id="{BEE31ED9-81E7-B4B9-FD7F-1CEB3CFBAB57}"/>
              </a:ext>
            </a:extLst>
          </p:cNvPr>
          <p:cNvSpPr txBox="1"/>
          <p:nvPr/>
        </p:nvSpPr>
        <p:spPr>
          <a:xfrm>
            <a:off x="7537023" y="3301936"/>
            <a:ext cx="2638601" cy="369332"/>
          </a:xfrm>
          <a:prstGeom prst="rect">
            <a:avLst/>
          </a:prstGeom>
          <a:noFill/>
        </p:spPr>
        <p:txBody>
          <a:bodyPr wrap="square">
            <a:spAutoFit/>
          </a:bodyPr>
          <a:lstStyle/>
          <a:p>
            <a:r>
              <a:rPr lang="en-US" sz="1800" dirty="0">
                <a:solidFill>
                  <a:srgbClr val="C00000"/>
                </a:solidFill>
              </a:rPr>
              <a:t>P = 0.2</a:t>
            </a:r>
            <a:endParaRPr lang="en-US" dirty="0"/>
          </a:p>
        </p:txBody>
      </p:sp>
      <p:sp>
        <p:nvSpPr>
          <p:cNvPr id="9" name="TextBox 8">
            <a:extLst>
              <a:ext uri="{FF2B5EF4-FFF2-40B4-BE49-F238E27FC236}">
                <a16:creationId xmlns:a16="http://schemas.microsoft.com/office/drawing/2014/main" id="{3DB8FFA7-B95A-667D-3906-490E177BCB99}"/>
              </a:ext>
            </a:extLst>
          </p:cNvPr>
          <p:cNvSpPr txBox="1"/>
          <p:nvPr/>
        </p:nvSpPr>
        <p:spPr>
          <a:xfrm>
            <a:off x="2210954" y="3301936"/>
            <a:ext cx="2638601" cy="369332"/>
          </a:xfrm>
          <a:prstGeom prst="rect">
            <a:avLst/>
          </a:prstGeom>
          <a:noFill/>
        </p:spPr>
        <p:txBody>
          <a:bodyPr wrap="square">
            <a:spAutoFit/>
          </a:bodyPr>
          <a:lstStyle/>
          <a:p>
            <a:r>
              <a:rPr lang="en-US" sz="1800" dirty="0">
                <a:solidFill>
                  <a:srgbClr val="C00000"/>
                </a:solidFill>
              </a:rPr>
              <a:t>P = 0.36</a:t>
            </a:r>
            <a:endParaRPr lang="en-US" dirty="0"/>
          </a:p>
        </p:txBody>
      </p:sp>
      <p:sp>
        <p:nvSpPr>
          <p:cNvPr id="10" name="TextBox 9">
            <a:extLst>
              <a:ext uri="{FF2B5EF4-FFF2-40B4-BE49-F238E27FC236}">
                <a16:creationId xmlns:a16="http://schemas.microsoft.com/office/drawing/2014/main" id="{F077FC21-C3A3-C433-B59C-714747ED2221}"/>
              </a:ext>
            </a:extLst>
          </p:cNvPr>
          <p:cNvSpPr txBox="1"/>
          <p:nvPr/>
        </p:nvSpPr>
        <p:spPr>
          <a:xfrm>
            <a:off x="805691" y="5937993"/>
            <a:ext cx="11140612" cy="830997"/>
          </a:xfrm>
          <a:prstGeom prst="rect">
            <a:avLst/>
          </a:prstGeom>
          <a:noFill/>
        </p:spPr>
        <p:txBody>
          <a:bodyPr wrap="square">
            <a:spAutoFit/>
          </a:bodyPr>
          <a:lstStyle/>
          <a:p>
            <a:pPr marL="0" indent="0">
              <a:buNone/>
            </a:pPr>
            <a:r>
              <a:rPr lang="en-US" sz="2400" b="1" dirty="0"/>
              <a:t>Problem</a:t>
            </a:r>
            <a:r>
              <a:rPr lang="en-US" sz="2400" dirty="0"/>
              <a:t>: Both Greedy and Beam searches focus on selecting the sequence with the </a:t>
            </a:r>
            <a:r>
              <a:rPr lang="en-US" sz="2400" dirty="0">
                <a:solidFill>
                  <a:srgbClr val="C00000"/>
                </a:solidFill>
              </a:rPr>
              <a:t>highest probability</a:t>
            </a:r>
            <a:r>
              <a:rPr lang="en-US" sz="2400" dirty="0"/>
              <a:t>, which often leads to </a:t>
            </a:r>
            <a:r>
              <a:rPr lang="en-US" sz="2400" dirty="0">
                <a:solidFill>
                  <a:srgbClr val="C00000"/>
                </a:solidFill>
              </a:rPr>
              <a:t>less diverse </a:t>
            </a:r>
            <a:r>
              <a:rPr lang="en-US" sz="2400" dirty="0"/>
              <a:t>outputs (no creativity)</a:t>
            </a:r>
          </a:p>
        </p:txBody>
      </p:sp>
    </p:spTree>
    <p:extLst>
      <p:ext uri="{BB962C8B-B14F-4D97-AF65-F5344CB8AC3E}">
        <p14:creationId xmlns:p14="http://schemas.microsoft.com/office/powerpoint/2010/main" val="31758487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a bar graph&#10;&#10;Description automatically generated">
            <a:extLst>
              <a:ext uri="{FF2B5EF4-FFF2-40B4-BE49-F238E27FC236}">
                <a16:creationId xmlns:a16="http://schemas.microsoft.com/office/drawing/2014/main" id="{B39ADA58-D1D4-29E3-544E-A3A51E2C5D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0008" y="2775500"/>
            <a:ext cx="3977740" cy="2642407"/>
          </a:xfrm>
          <a:prstGeom prst="rect">
            <a:avLst/>
          </a:prstGeom>
        </p:spPr>
      </p:pic>
      <p:sp>
        <p:nvSpPr>
          <p:cNvPr id="2" name="Title 1">
            <a:extLst>
              <a:ext uri="{FF2B5EF4-FFF2-40B4-BE49-F238E27FC236}">
                <a16:creationId xmlns:a16="http://schemas.microsoft.com/office/drawing/2014/main" id="{9469BB88-6ED8-AA69-20D7-04D2A5E93BAB}"/>
              </a:ext>
            </a:extLst>
          </p:cNvPr>
          <p:cNvSpPr>
            <a:spLocks noGrp="1"/>
          </p:cNvSpPr>
          <p:nvPr>
            <p:ph type="title"/>
          </p:nvPr>
        </p:nvSpPr>
        <p:spPr>
          <a:xfrm>
            <a:off x="842482" y="346737"/>
            <a:ext cx="8073310" cy="461665"/>
          </a:xfrm>
        </p:spPr>
        <p:txBody>
          <a:bodyPr/>
          <a:lstStyle/>
          <a:p>
            <a:r>
              <a:rPr lang="en-US" sz="4000" dirty="0"/>
              <a:t>Decoding Strategy - Top-k Sampling</a:t>
            </a:r>
          </a:p>
        </p:txBody>
      </p:sp>
      <p:sp>
        <p:nvSpPr>
          <p:cNvPr id="3" name="Text Placeholder 2">
            <a:extLst>
              <a:ext uri="{FF2B5EF4-FFF2-40B4-BE49-F238E27FC236}">
                <a16:creationId xmlns:a16="http://schemas.microsoft.com/office/drawing/2014/main" id="{AF833063-BCC2-3431-DE7B-856E762C979D}"/>
              </a:ext>
            </a:extLst>
          </p:cNvPr>
          <p:cNvSpPr>
            <a:spLocks noGrp="1"/>
          </p:cNvSpPr>
          <p:nvPr>
            <p:ph type="body" idx="1"/>
          </p:nvPr>
        </p:nvSpPr>
        <p:spPr>
          <a:xfrm>
            <a:off x="688369" y="1121596"/>
            <a:ext cx="11381983" cy="2769989"/>
          </a:xfrm>
        </p:spPr>
        <p:txBody>
          <a:bodyPr/>
          <a:lstStyle/>
          <a:p>
            <a:r>
              <a:rPr lang="en-US" sz="2400" dirty="0"/>
              <a:t>Select a token </a:t>
            </a:r>
            <a:r>
              <a:rPr lang="en-US" sz="2400" dirty="0">
                <a:solidFill>
                  <a:srgbClr val="C00000"/>
                </a:solidFill>
              </a:rPr>
              <a:t>randomly</a:t>
            </a:r>
            <a:r>
              <a:rPr lang="en-US" sz="2400" dirty="0"/>
              <a:t> from the </a:t>
            </a:r>
            <a:r>
              <a:rPr lang="en-US" sz="2400" dirty="0">
                <a:solidFill>
                  <a:srgbClr val="C00000"/>
                </a:solidFill>
              </a:rPr>
              <a:t>k most likely </a:t>
            </a:r>
            <a:r>
              <a:rPr lang="en-US" sz="2400" dirty="0"/>
              <a:t>options </a:t>
            </a:r>
            <a:r>
              <a:rPr lang="en-US" sz="2400" dirty="0">
                <a:solidFill>
                  <a:srgbClr val="C00000"/>
                </a:solidFill>
              </a:rPr>
              <a:t>proportional</a:t>
            </a:r>
            <a:r>
              <a:rPr lang="en-US" sz="2400" dirty="0"/>
              <a:t> to probabilities</a:t>
            </a:r>
          </a:p>
          <a:p>
            <a:r>
              <a:rPr lang="en-US" sz="2400" dirty="0"/>
              <a:t>This approach ensures that we prioritize the </a:t>
            </a:r>
            <a:r>
              <a:rPr lang="en-US" sz="2400" dirty="0">
                <a:solidFill>
                  <a:srgbClr val="C00000"/>
                </a:solidFill>
              </a:rPr>
              <a:t>most probable tokens </a:t>
            </a:r>
            <a:r>
              <a:rPr lang="en-US" sz="2400" dirty="0"/>
              <a:t>while introducing an element of </a:t>
            </a:r>
            <a:r>
              <a:rPr lang="en-US" sz="2400" dirty="0">
                <a:solidFill>
                  <a:srgbClr val="C00000"/>
                </a:solidFill>
              </a:rPr>
              <a:t>randomness</a:t>
            </a:r>
            <a:r>
              <a:rPr lang="en-US" sz="2400" dirty="0"/>
              <a:t> in the selection process.</a:t>
            </a:r>
          </a:p>
          <a:p>
            <a:r>
              <a:rPr lang="en-US" sz="2400" dirty="0"/>
              <a:t>Randomness allows for more diversity and </a:t>
            </a:r>
            <a:r>
              <a:rPr lang="en-US" sz="2400" dirty="0">
                <a:solidFill>
                  <a:srgbClr val="C00000"/>
                </a:solidFill>
              </a:rPr>
              <a:t>creativity </a:t>
            </a:r>
            <a:r>
              <a:rPr lang="en-US" sz="2400" dirty="0"/>
              <a:t>and </a:t>
            </a:r>
            <a:r>
              <a:rPr lang="en-US" sz="2400" dirty="0">
                <a:solidFill>
                  <a:srgbClr val="C00000"/>
                </a:solidFill>
              </a:rPr>
              <a:t>avoids</a:t>
            </a:r>
            <a:r>
              <a:rPr lang="en-US" sz="2400" dirty="0"/>
              <a:t> </a:t>
            </a:r>
            <a:r>
              <a:rPr lang="en-US" sz="2400" dirty="0">
                <a:solidFill>
                  <a:srgbClr val="C00000"/>
                </a:solidFill>
              </a:rPr>
              <a:t>repetitive </a:t>
            </a:r>
            <a:r>
              <a:rPr lang="en-US" sz="2400" dirty="0"/>
              <a:t>results</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dirty="0"/>
              <a:t>Example:</a:t>
            </a:r>
          </a:p>
          <a:p>
            <a:pPr marL="0" indent="0">
              <a:buNone/>
            </a:pPr>
            <a:r>
              <a:rPr lang="en-US" sz="2400" dirty="0">
                <a:highlight>
                  <a:srgbClr val="FFFF00"/>
                </a:highlight>
              </a:rPr>
              <a:t>P(park)=35%</a:t>
            </a:r>
            <a:r>
              <a:rPr lang="en-US" sz="2400" dirty="0">
                <a:effectLst/>
                <a:highlight>
                  <a:srgbClr val="FFFF00"/>
                </a:highlight>
              </a:rPr>
              <a:t>,</a:t>
            </a:r>
            <a:r>
              <a:rPr lang="en-US" sz="2400" dirty="0">
                <a:highlight>
                  <a:srgbClr val="FFFF00"/>
                </a:highlight>
              </a:rPr>
              <a:t> P(store)=30%, P(grocery)=10% and P(beach)=5%</a:t>
            </a:r>
            <a:r>
              <a:rPr lang="en-US" sz="2400" dirty="0"/>
              <a:t>, P(restaurant)=4 %, …</a:t>
            </a:r>
          </a:p>
          <a:p>
            <a:pPr marL="0" indent="0">
              <a:buNone/>
            </a:pPr>
            <a:r>
              <a:rPr lang="en-US" sz="2400" dirty="0"/>
              <a:t>In top-4 sampling, “restaurant” is disregarded, and the remaining will be </a:t>
            </a:r>
            <a:r>
              <a:rPr lang="en-US" sz="2400" dirty="0">
                <a:solidFill>
                  <a:srgbClr val="C00000"/>
                </a:solidFill>
              </a:rPr>
              <a:t>normalized</a:t>
            </a:r>
            <a:r>
              <a:rPr lang="en-US" sz="2400" dirty="0"/>
              <a:t>: </a:t>
            </a:r>
          </a:p>
          <a:p>
            <a:pPr marL="0" indent="0">
              <a:buNone/>
            </a:pPr>
            <a:r>
              <a:rPr lang="en-US" sz="2400" dirty="0"/>
              <a:t>park 35/80 = 44% of the time, store 30/80=37% of the time, etc. </a:t>
            </a:r>
          </a:p>
        </p:txBody>
      </p:sp>
      <p:sp>
        <p:nvSpPr>
          <p:cNvPr id="7" name="TextBox 6">
            <a:extLst>
              <a:ext uri="{FF2B5EF4-FFF2-40B4-BE49-F238E27FC236}">
                <a16:creationId xmlns:a16="http://schemas.microsoft.com/office/drawing/2014/main" id="{42F81D00-CC28-3CC7-747F-AB8E373931FD}"/>
              </a:ext>
            </a:extLst>
          </p:cNvPr>
          <p:cNvSpPr txBox="1"/>
          <p:nvPr/>
        </p:nvSpPr>
        <p:spPr>
          <a:xfrm>
            <a:off x="1452293" y="3721208"/>
            <a:ext cx="6477715" cy="646331"/>
          </a:xfrm>
          <a:prstGeom prst="rect">
            <a:avLst/>
          </a:prstGeom>
          <a:noFill/>
        </p:spPr>
        <p:txBody>
          <a:bodyPr wrap="square">
            <a:spAutoFit/>
          </a:bodyPr>
          <a:lstStyle/>
          <a:p>
            <a:r>
              <a:rPr lang="en-US" dirty="0">
                <a:solidFill>
                  <a:srgbClr val="C00000"/>
                </a:solidFill>
              </a:rPr>
              <a:t>Higher</a:t>
            </a:r>
            <a:r>
              <a:rPr lang="en-US" dirty="0"/>
              <a:t> k → More </a:t>
            </a:r>
            <a:r>
              <a:rPr lang="en-US" dirty="0">
                <a:solidFill>
                  <a:srgbClr val="C00000"/>
                </a:solidFill>
              </a:rPr>
              <a:t>diversity</a:t>
            </a:r>
            <a:r>
              <a:rPr lang="en-US" dirty="0"/>
              <a:t> (includes more words to choose from).</a:t>
            </a:r>
          </a:p>
          <a:p>
            <a:r>
              <a:rPr lang="en-US" dirty="0">
                <a:solidFill>
                  <a:srgbClr val="C00000"/>
                </a:solidFill>
              </a:rPr>
              <a:t>Lower</a:t>
            </a:r>
            <a:r>
              <a:rPr lang="en-US" dirty="0"/>
              <a:t> k → More deterministic (closer to </a:t>
            </a:r>
            <a:r>
              <a:rPr lang="en-US" dirty="0">
                <a:solidFill>
                  <a:srgbClr val="C00000"/>
                </a:solidFill>
              </a:rPr>
              <a:t>greedy</a:t>
            </a:r>
            <a:r>
              <a:rPr lang="en-US" dirty="0"/>
              <a:t> decoding).</a:t>
            </a:r>
          </a:p>
        </p:txBody>
      </p:sp>
    </p:spTree>
    <p:extLst>
      <p:ext uri="{BB962C8B-B14F-4D97-AF65-F5344CB8AC3E}">
        <p14:creationId xmlns:p14="http://schemas.microsoft.com/office/powerpoint/2010/main" val="1173178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921F9-FED3-D2A2-615B-3421257D0F68}"/>
              </a:ext>
            </a:extLst>
          </p:cNvPr>
          <p:cNvSpPr>
            <a:spLocks noGrp="1"/>
          </p:cNvSpPr>
          <p:nvPr>
            <p:ph type="title"/>
          </p:nvPr>
        </p:nvSpPr>
        <p:spPr>
          <a:xfrm>
            <a:off x="750013" y="304801"/>
            <a:ext cx="10397448" cy="461665"/>
          </a:xfrm>
        </p:spPr>
        <p:txBody>
          <a:bodyPr/>
          <a:lstStyle/>
          <a:p>
            <a:r>
              <a:rPr lang="en-US" sz="4400" dirty="0"/>
              <a:t>Decoding Strategy - </a:t>
            </a:r>
            <a:r>
              <a:rPr lang="en-US" dirty="0"/>
              <a:t>Nucleus Sampling</a:t>
            </a:r>
          </a:p>
        </p:txBody>
      </p:sp>
      <p:sp>
        <p:nvSpPr>
          <p:cNvPr id="3" name="Text Placeholder 2">
            <a:extLst>
              <a:ext uri="{FF2B5EF4-FFF2-40B4-BE49-F238E27FC236}">
                <a16:creationId xmlns:a16="http://schemas.microsoft.com/office/drawing/2014/main" id="{4F085E98-6899-86A3-15F7-46433BC79C63}"/>
              </a:ext>
            </a:extLst>
          </p:cNvPr>
          <p:cNvSpPr>
            <a:spLocks noGrp="1"/>
          </p:cNvSpPr>
          <p:nvPr>
            <p:ph type="body" idx="1"/>
          </p:nvPr>
        </p:nvSpPr>
        <p:spPr>
          <a:xfrm>
            <a:off x="565079" y="1295400"/>
            <a:ext cx="11311847" cy="4616648"/>
          </a:xfrm>
        </p:spPr>
        <p:txBody>
          <a:bodyPr/>
          <a:lstStyle/>
          <a:p>
            <a:r>
              <a:rPr lang="en-US" sz="2600" dirty="0"/>
              <a:t>Nucleus sampling( top-p sampling), picks </a:t>
            </a:r>
            <a:r>
              <a:rPr lang="en-US" sz="2600" dirty="0">
                <a:solidFill>
                  <a:srgbClr val="C00000"/>
                </a:solidFill>
              </a:rPr>
              <a:t>top probable tokens </a:t>
            </a:r>
            <a:r>
              <a:rPr lang="en-US" sz="2600" dirty="0"/>
              <a:t>until the total probability surpasses the </a:t>
            </a:r>
            <a:r>
              <a:rPr lang="en-US" sz="2600" dirty="0">
                <a:solidFill>
                  <a:srgbClr val="C00000"/>
                </a:solidFill>
              </a:rPr>
              <a:t>threshold</a:t>
            </a:r>
            <a:r>
              <a:rPr lang="en-US" sz="2600" dirty="0"/>
              <a:t> p. </a:t>
            </a:r>
          </a:p>
          <a:p>
            <a:pPr marL="342900" indent="-342900"/>
            <a:r>
              <a:rPr lang="en-US" sz="2600" dirty="0"/>
              <a:t>Unlike top-k sampling, the </a:t>
            </a:r>
            <a:r>
              <a:rPr lang="en-US" sz="2600" dirty="0">
                <a:solidFill>
                  <a:srgbClr val="C00000"/>
                </a:solidFill>
              </a:rPr>
              <a:t>number of tokens </a:t>
            </a:r>
            <a:r>
              <a:rPr lang="en-US" sz="2600" dirty="0"/>
              <a:t>included in the nucleus can </a:t>
            </a:r>
            <a:r>
              <a:rPr lang="en-US" sz="2600" dirty="0">
                <a:solidFill>
                  <a:srgbClr val="C00000"/>
                </a:solidFill>
              </a:rPr>
              <a:t>vary</a:t>
            </a:r>
            <a:r>
              <a:rPr lang="en-US" sz="2600" dirty="0"/>
              <a:t> from step to step. </a:t>
            </a:r>
          </a:p>
          <a:p>
            <a:pPr marL="342900" indent="-342900"/>
            <a:r>
              <a:rPr lang="en-US" sz="2600" dirty="0"/>
              <a:t>Better than top-k in selecting </a:t>
            </a:r>
            <a:r>
              <a:rPr lang="en-US" sz="2600" dirty="0">
                <a:solidFill>
                  <a:srgbClr val="C00000"/>
                </a:solidFill>
              </a:rPr>
              <a:t>important tokens</a:t>
            </a:r>
          </a:p>
          <a:p>
            <a:endParaRPr lang="en-US" sz="2600" dirty="0"/>
          </a:p>
        </p:txBody>
      </p:sp>
      <p:pic>
        <p:nvPicPr>
          <p:cNvPr id="6" name="Picture 5" descr="A graph of a bar graph&#10;&#10;Description automatically generated">
            <a:extLst>
              <a:ext uri="{FF2B5EF4-FFF2-40B4-BE49-F238E27FC236}">
                <a16:creationId xmlns:a16="http://schemas.microsoft.com/office/drawing/2014/main" id="{DDD5D9AB-F9C3-C1AC-EB6C-43398A698E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5276" y="3938319"/>
            <a:ext cx="4201307" cy="2919681"/>
          </a:xfrm>
          <a:prstGeom prst="rect">
            <a:avLst/>
          </a:prstGeom>
        </p:spPr>
      </p:pic>
    </p:spTree>
    <p:extLst>
      <p:ext uri="{BB962C8B-B14F-4D97-AF65-F5344CB8AC3E}">
        <p14:creationId xmlns:p14="http://schemas.microsoft.com/office/powerpoint/2010/main" val="358669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aph of mathematical equations&#10;&#10;Description automatically generated with medium confidence">
            <a:extLst>
              <a:ext uri="{FF2B5EF4-FFF2-40B4-BE49-F238E27FC236}">
                <a16:creationId xmlns:a16="http://schemas.microsoft.com/office/drawing/2014/main" id="{44929337-79B8-EF20-7E9C-6C4793F95B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8225" y="3429000"/>
            <a:ext cx="7558549" cy="3290638"/>
          </a:xfrm>
          <a:prstGeom prst="rect">
            <a:avLst/>
          </a:prstGeom>
        </p:spPr>
      </p:pic>
      <p:sp>
        <p:nvSpPr>
          <p:cNvPr id="2" name="Title 1">
            <a:extLst>
              <a:ext uri="{FF2B5EF4-FFF2-40B4-BE49-F238E27FC236}">
                <a16:creationId xmlns:a16="http://schemas.microsoft.com/office/drawing/2014/main" id="{C3291623-EC01-374F-DDDB-8273E0C3C105}"/>
              </a:ext>
            </a:extLst>
          </p:cNvPr>
          <p:cNvSpPr>
            <a:spLocks noGrp="1"/>
          </p:cNvSpPr>
          <p:nvPr>
            <p:ph type="title"/>
          </p:nvPr>
        </p:nvSpPr>
        <p:spPr>
          <a:xfrm>
            <a:off x="937952" y="295368"/>
            <a:ext cx="7433309" cy="461665"/>
          </a:xfrm>
        </p:spPr>
        <p:txBody>
          <a:bodyPr/>
          <a:lstStyle/>
          <a:p>
            <a:r>
              <a:rPr lang="en-US" dirty="0"/>
              <a:t>Nucleus - Example</a:t>
            </a:r>
          </a:p>
        </p:txBody>
      </p:sp>
      <p:sp>
        <p:nvSpPr>
          <p:cNvPr id="3" name="Text Placeholder 2">
            <a:extLst>
              <a:ext uri="{FF2B5EF4-FFF2-40B4-BE49-F238E27FC236}">
                <a16:creationId xmlns:a16="http://schemas.microsoft.com/office/drawing/2014/main" id="{8C9954C7-E299-7B70-8084-DBCB92C3D3DF}"/>
              </a:ext>
            </a:extLst>
          </p:cNvPr>
          <p:cNvSpPr>
            <a:spLocks noGrp="1"/>
          </p:cNvSpPr>
          <p:nvPr>
            <p:ph type="body" idx="1"/>
          </p:nvPr>
        </p:nvSpPr>
        <p:spPr>
          <a:xfrm>
            <a:off x="838199" y="1058229"/>
            <a:ext cx="10617485" cy="1846659"/>
          </a:xfrm>
        </p:spPr>
        <p:txBody>
          <a:bodyPr/>
          <a:lstStyle/>
          <a:p>
            <a:r>
              <a:rPr lang="en-US" sz="2600" dirty="0"/>
              <a:t>Set the value of p to </a:t>
            </a:r>
            <a:r>
              <a:rPr lang="en-US" sz="2600" dirty="0">
                <a:solidFill>
                  <a:srgbClr val="C00000"/>
                </a:solidFill>
              </a:rPr>
              <a:t>0.92</a:t>
            </a:r>
          </a:p>
          <a:p>
            <a:r>
              <a:rPr lang="en-US" sz="2600" dirty="0"/>
              <a:t>Include a </a:t>
            </a:r>
            <a:r>
              <a:rPr lang="en-US" sz="2600" dirty="0">
                <a:solidFill>
                  <a:srgbClr val="C00000"/>
                </a:solidFill>
              </a:rPr>
              <a:t>minimum</a:t>
            </a:r>
            <a:r>
              <a:rPr lang="en-US" sz="2600" dirty="0"/>
              <a:t> number of tokens satisfies the </a:t>
            </a:r>
            <a:r>
              <a:rPr lang="en-US" sz="2600" dirty="0">
                <a:solidFill>
                  <a:srgbClr val="C00000"/>
                </a:solidFill>
              </a:rPr>
              <a:t>threshold</a:t>
            </a:r>
            <a:r>
              <a:rPr lang="en-US" sz="2600" dirty="0"/>
              <a:t> (p)</a:t>
            </a:r>
          </a:p>
          <a:p>
            <a:endParaRPr lang="en-US" dirty="0"/>
          </a:p>
          <a:p>
            <a:pPr marL="0" indent="0">
              <a:buNone/>
            </a:pPr>
            <a:r>
              <a:rPr lang="en-US" sz="2400" dirty="0"/>
              <a:t>In the first example, </a:t>
            </a:r>
            <a:r>
              <a:rPr lang="en-US" sz="2400" dirty="0">
                <a:solidFill>
                  <a:srgbClr val="C00000"/>
                </a:solidFill>
              </a:rPr>
              <a:t>top 9</a:t>
            </a:r>
            <a:r>
              <a:rPr lang="en-US" sz="2400" dirty="0"/>
              <a:t> most likely words are selected to satisfy the threshold, whereas it only has to pick the </a:t>
            </a:r>
            <a:r>
              <a:rPr lang="en-US" sz="2400" dirty="0">
                <a:solidFill>
                  <a:srgbClr val="C00000"/>
                </a:solidFill>
              </a:rPr>
              <a:t>top 3</a:t>
            </a:r>
            <a:r>
              <a:rPr lang="en-US" sz="2400" dirty="0"/>
              <a:t> words in the second example to exceed 92%.</a:t>
            </a:r>
          </a:p>
        </p:txBody>
      </p:sp>
    </p:spTree>
    <p:extLst>
      <p:ext uri="{BB962C8B-B14F-4D97-AF65-F5344CB8AC3E}">
        <p14:creationId xmlns:p14="http://schemas.microsoft.com/office/powerpoint/2010/main" val="20853869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D46FA-5F68-EC35-CE1D-ACF6B99AF3FC}"/>
              </a:ext>
            </a:extLst>
          </p:cNvPr>
          <p:cNvSpPr>
            <a:spLocks noGrp="1"/>
          </p:cNvSpPr>
          <p:nvPr>
            <p:ph type="title"/>
          </p:nvPr>
        </p:nvSpPr>
        <p:spPr>
          <a:xfrm>
            <a:off x="770562" y="357012"/>
            <a:ext cx="8402083" cy="461665"/>
          </a:xfrm>
        </p:spPr>
        <p:txBody>
          <a:bodyPr/>
          <a:lstStyle/>
          <a:p>
            <a:r>
              <a:rPr lang="en-US" sz="4000" dirty="0"/>
              <a:t>Temperature</a:t>
            </a:r>
          </a:p>
        </p:txBody>
      </p:sp>
      <p:sp>
        <p:nvSpPr>
          <p:cNvPr id="3" name="Text Placeholder 2">
            <a:extLst>
              <a:ext uri="{FF2B5EF4-FFF2-40B4-BE49-F238E27FC236}">
                <a16:creationId xmlns:a16="http://schemas.microsoft.com/office/drawing/2014/main" id="{1FACD787-9995-157A-AAF7-27BF061DEC12}"/>
              </a:ext>
            </a:extLst>
          </p:cNvPr>
          <p:cNvSpPr>
            <a:spLocks noGrp="1"/>
          </p:cNvSpPr>
          <p:nvPr>
            <p:ph type="body" idx="1"/>
          </p:nvPr>
        </p:nvSpPr>
        <p:spPr>
          <a:xfrm>
            <a:off x="770562" y="1371601"/>
            <a:ext cx="11215827" cy="2769989"/>
          </a:xfrm>
        </p:spPr>
        <p:txBody>
          <a:bodyPr/>
          <a:lstStyle/>
          <a:p>
            <a:pPr marL="342900" indent="-342900"/>
            <a:r>
              <a:rPr lang="en-US" sz="2600" dirty="0"/>
              <a:t>Another way of introducing </a:t>
            </a:r>
            <a:r>
              <a:rPr lang="en-US" sz="2600" dirty="0">
                <a:solidFill>
                  <a:srgbClr val="C00000"/>
                </a:solidFill>
              </a:rPr>
              <a:t>randomness</a:t>
            </a:r>
            <a:r>
              <a:rPr lang="en-US" sz="2600" dirty="0"/>
              <a:t> is the concept of temperature </a:t>
            </a:r>
          </a:p>
          <a:p>
            <a:pPr marL="342900" indent="-342900"/>
            <a:r>
              <a:rPr lang="en-US" sz="2600" dirty="0"/>
              <a:t>The temperature is a parameter that affects the </a:t>
            </a:r>
            <a:r>
              <a:rPr lang="en-US" sz="2600" dirty="0">
                <a:solidFill>
                  <a:srgbClr val="C00000"/>
                </a:solidFill>
              </a:rPr>
              <a:t>probabilities</a:t>
            </a:r>
            <a:r>
              <a:rPr lang="en-US" sz="2600" dirty="0"/>
              <a:t> generated by the </a:t>
            </a:r>
            <a:r>
              <a:rPr lang="en-US" sz="2600" dirty="0" err="1">
                <a:solidFill>
                  <a:srgbClr val="C00000"/>
                </a:solidFill>
              </a:rPr>
              <a:t>softmax</a:t>
            </a:r>
            <a:r>
              <a:rPr lang="en-US" sz="2600" dirty="0"/>
              <a:t> function </a:t>
            </a:r>
          </a:p>
          <a:p>
            <a:pPr marL="342900" indent="-342900"/>
            <a:r>
              <a:rPr lang="en-US" sz="2600" dirty="0"/>
              <a:t>Temperature scaling </a:t>
            </a:r>
            <a:r>
              <a:rPr lang="en-US" sz="2600" dirty="0">
                <a:solidFill>
                  <a:srgbClr val="C00000"/>
                </a:solidFill>
              </a:rPr>
              <a:t>doesn't change </a:t>
            </a:r>
            <a:r>
              <a:rPr lang="en-US" sz="2600" dirty="0"/>
              <a:t>the relative </a:t>
            </a:r>
            <a:r>
              <a:rPr lang="en-US" sz="2600" dirty="0">
                <a:solidFill>
                  <a:srgbClr val="C00000"/>
                </a:solidFill>
              </a:rPr>
              <a:t>order</a:t>
            </a:r>
            <a:r>
              <a:rPr lang="en-US" sz="2600" dirty="0"/>
              <a:t> of token probabilities but </a:t>
            </a:r>
            <a:r>
              <a:rPr lang="en-US" sz="2600" dirty="0">
                <a:solidFill>
                  <a:srgbClr val="C00000"/>
                </a:solidFill>
              </a:rPr>
              <a:t>sharpens</a:t>
            </a:r>
            <a:r>
              <a:rPr lang="en-US" sz="2600" dirty="0"/>
              <a:t> or </a:t>
            </a:r>
            <a:r>
              <a:rPr lang="en-US" sz="2600" dirty="0">
                <a:solidFill>
                  <a:srgbClr val="C00000"/>
                </a:solidFill>
              </a:rPr>
              <a:t>flattens</a:t>
            </a:r>
            <a:r>
              <a:rPr lang="en-US" sz="2600" dirty="0"/>
              <a:t> the probability distribution</a:t>
            </a:r>
          </a:p>
          <a:p>
            <a:endParaRPr lang="en-US" sz="2600" dirty="0"/>
          </a:p>
        </p:txBody>
      </p:sp>
      <p:pic>
        <p:nvPicPr>
          <p:cNvPr id="5" name="Picture 4">
            <a:extLst>
              <a:ext uri="{FF2B5EF4-FFF2-40B4-BE49-F238E27FC236}">
                <a16:creationId xmlns:a16="http://schemas.microsoft.com/office/drawing/2014/main" id="{6798F0EC-00AA-D8E2-43A5-CC63BC59F4E6}"/>
              </a:ext>
            </a:extLst>
          </p:cNvPr>
          <p:cNvPicPr>
            <a:picLocks noChangeAspect="1"/>
          </p:cNvPicPr>
          <p:nvPr/>
        </p:nvPicPr>
        <p:blipFill>
          <a:blip r:embed="rId2"/>
          <a:stretch>
            <a:fillRect/>
          </a:stretch>
        </p:blipFill>
        <p:spPr>
          <a:xfrm>
            <a:off x="8683828" y="3929178"/>
            <a:ext cx="3302561" cy="872749"/>
          </a:xfrm>
          <a:prstGeom prst="rect">
            <a:avLst/>
          </a:prstGeom>
        </p:spPr>
      </p:pic>
      <p:pic>
        <p:nvPicPr>
          <p:cNvPr id="8" name="Picture 7">
            <a:extLst>
              <a:ext uri="{FF2B5EF4-FFF2-40B4-BE49-F238E27FC236}">
                <a16:creationId xmlns:a16="http://schemas.microsoft.com/office/drawing/2014/main" id="{FE6F362D-336A-ABA8-0B49-360282F89AB9}"/>
              </a:ext>
            </a:extLst>
          </p:cNvPr>
          <p:cNvPicPr>
            <a:picLocks noChangeAspect="1"/>
          </p:cNvPicPr>
          <p:nvPr/>
        </p:nvPicPr>
        <p:blipFill>
          <a:blip r:embed="rId3"/>
          <a:stretch>
            <a:fillRect/>
          </a:stretch>
        </p:blipFill>
        <p:spPr>
          <a:xfrm>
            <a:off x="1866357" y="3652397"/>
            <a:ext cx="5683019" cy="3108569"/>
          </a:xfrm>
          <a:prstGeom prst="rect">
            <a:avLst/>
          </a:prstGeom>
        </p:spPr>
      </p:pic>
    </p:spTree>
    <p:extLst>
      <p:ext uri="{BB962C8B-B14F-4D97-AF65-F5344CB8AC3E}">
        <p14:creationId xmlns:p14="http://schemas.microsoft.com/office/powerpoint/2010/main" val="3450956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DC86B-437E-B020-6BC9-D1AE49BCF2F7}"/>
              </a:ext>
            </a:extLst>
          </p:cNvPr>
          <p:cNvSpPr>
            <a:spLocks noGrp="1"/>
          </p:cNvSpPr>
          <p:nvPr>
            <p:ph type="title"/>
          </p:nvPr>
        </p:nvSpPr>
        <p:spPr>
          <a:xfrm>
            <a:off x="708916" y="393141"/>
            <a:ext cx="8381536" cy="461665"/>
          </a:xfrm>
        </p:spPr>
        <p:txBody>
          <a:bodyPr/>
          <a:lstStyle/>
          <a:p>
            <a:r>
              <a:rPr lang="en-US" sz="4000" dirty="0"/>
              <a:t>Temperature Value</a:t>
            </a:r>
          </a:p>
        </p:txBody>
      </p:sp>
      <p:sp>
        <p:nvSpPr>
          <p:cNvPr id="3" name="Text Placeholder 2">
            <a:extLst>
              <a:ext uri="{FF2B5EF4-FFF2-40B4-BE49-F238E27FC236}">
                <a16:creationId xmlns:a16="http://schemas.microsoft.com/office/drawing/2014/main" id="{C2F14828-CA4A-5045-1B7E-AA04A2C5B5CE}"/>
              </a:ext>
            </a:extLst>
          </p:cNvPr>
          <p:cNvSpPr>
            <a:spLocks noGrp="1"/>
          </p:cNvSpPr>
          <p:nvPr>
            <p:ph type="body" idx="1"/>
          </p:nvPr>
        </p:nvSpPr>
        <p:spPr>
          <a:xfrm>
            <a:off x="708916" y="1170760"/>
            <a:ext cx="11291299" cy="2769989"/>
          </a:xfrm>
        </p:spPr>
        <p:txBody>
          <a:bodyPr/>
          <a:lstStyle/>
          <a:p>
            <a:pPr marL="257175" indent="-257175"/>
            <a:r>
              <a:rPr lang="en-US" sz="2400" dirty="0"/>
              <a:t>A temperature of </a:t>
            </a:r>
            <a:r>
              <a:rPr lang="en-US" sz="2400" dirty="0">
                <a:solidFill>
                  <a:srgbClr val="C00000"/>
                </a:solidFill>
              </a:rPr>
              <a:t>1.0 </a:t>
            </a:r>
            <a:r>
              <a:rPr lang="en-US" sz="2400" dirty="0"/>
              <a:t>is equivalent to a </a:t>
            </a:r>
            <a:r>
              <a:rPr lang="en-US" sz="2400" dirty="0">
                <a:solidFill>
                  <a:srgbClr val="C00000"/>
                </a:solidFill>
              </a:rPr>
              <a:t>default </a:t>
            </a:r>
            <a:r>
              <a:rPr lang="en-US" sz="2400" dirty="0" err="1">
                <a:solidFill>
                  <a:srgbClr val="C00000"/>
                </a:solidFill>
              </a:rPr>
              <a:t>softmax</a:t>
            </a:r>
            <a:r>
              <a:rPr lang="en-US" sz="2400" dirty="0">
                <a:solidFill>
                  <a:srgbClr val="C00000"/>
                </a:solidFill>
              </a:rPr>
              <a:t> </a:t>
            </a:r>
            <a:r>
              <a:rPr lang="en-US" sz="2400" dirty="0"/>
              <a:t>with no temperature</a:t>
            </a:r>
            <a:r>
              <a:rPr lang="en-US" sz="2400" dirty="0">
                <a:solidFill>
                  <a:srgbClr val="C00000"/>
                </a:solidFill>
              </a:rPr>
              <a:t> </a:t>
            </a:r>
          </a:p>
          <a:p>
            <a:pPr marL="257175" indent="-257175"/>
            <a:r>
              <a:rPr lang="en-US" sz="2400" dirty="0"/>
              <a:t>A </a:t>
            </a:r>
            <a:r>
              <a:rPr lang="en-US" sz="2400" dirty="0">
                <a:solidFill>
                  <a:srgbClr val="C00000"/>
                </a:solidFill>
              </a:rPr>
              <a:t>low temperature </a:t>
            </a:r>
            <a:r>
              <a:rPr lang="en-US" sz="2400" dirty="0"/>
              <a:t>(e.g., 0.1) sharpens the differences between probabilities (less chance for smaller probabilities and </a:t>
            </a:r>
            <a:r>
              <a:rPr lang="en-US" sz="2400" dirty="0">
                <a:solidFill>
                  <a:srgbClr val="C00000"/>
                </a:solidFill>
              </a:rPr>
              <a:t>less diversity</a:t>
            </a:r>
            <a:r>
              <a:rPr lang="en-US" sz="2400" dirty="0"/>
              <a:t>)</a:t>
            </a:r>
          </a:p>
          <a:p>
            <a:pPr marL="257175" indent="-257175"/>
            <a:r>
              <a:rPr lang="en-US" sz="2400" dirty="0"/>
              <a:t>A </a:t>
            </a:r>
            <a:r>
              <a:rPr lang="en-US" sz="2400" dirty="0">
                <a:solidFill>
                  <a:srgbClr val="C00000"/>
                </a:solidFill>
              </a:rPr>
              <a:t>high temperature </a:t>
            </a:r>
            <a:r>
              <a:rPr lang="en-US" sz="2400" dirty="0"/>
              <a:t>(e.g., 1.5) flattens out the differences between probabilities (more chance for smaller probabilities and </a:t>
            </a:r>
            <a:r>
              <a:rPr lang="en-US" sz="2400" dirty="0">
                <a:solidFill>
                  <a:srgbClr val="C00000"/>
                </a:solidFill>
              </a:rPr>
              <a:t>more diversity</a:t>
            </a:r>
            <a:r>
              <a:rPr lang="en-US" sz="2400" dirty="0"/>
              <a:t>)</a:t>
            </a:r>
          </a:p>
          <a:p>
            <a:pPr marL="257175" indent="-257175"/>
            <a:r>
              <a:rPr lang="en-US" sz="2400" dirty="0"/>
              <a:t>By adjusting the temperature, we can influence the extent to which the model produces more </a:t>
            </a:r>
            <a:r>
              <a:rPr lang="en-US" sz="2400" dirty="0">
                <a:solidFill>
                  <a:srgbClr val="C00000"/>
                </a:solidFill>
              </a:rPr>
              <a:t>creative </a:t>
            </a:r>
            <a:r>
              <a:rPr lang="en-US" sz="2400" dirty="0"/>
              <a:t>(diverse) or </a:t>
            </a:r>
            <a:r>
              <a:rPr lang="en-US" sz="2400" dirty="0">
                <a:solidFill>
                  <a:srgbClr val="C00000"/>
                </a:solidFill>
              </a:rPr>
              <a:t>predictable</a:t>
            </a:r>
            <a:r>
              <a:rPr lang="en-US" sz="2400" dirty="0"/>
              <a:t> responses.</a:t>
            </a:r>
          </a:p>
        </p:txBody>
      </p:sp>
      <p:pic>
        <p:nvPicPr>
          <p:cNvPr id="5" name="Picture 4">
            <a:extLst>
              <a:ext uri="{FF2B5EF4-FFF2-40B4-BE49-F238E27FC236}">
                <a16:creationId xmlns:a16="http://schemas.microsoft.com/office/drawing/2014/main" id="{3C171879-4D66-59B0-E492-4FFAF102EE60}"/>
              </a:ext>
            </a:extLst>
          </p:cNvPr>
          <p:cNvPicPr>
            <a:picLocks noChangeAspect="1"/>
          </p:cNvPicPr>
          <p:nvPr/>
        </p:nvPicPr>
        <p:blipFill>
          <a:blip r:embed="rId2"/>
          <a:stretch>
            <a:fillRect/>
          </a:stretch>
        </p:blipFill>
        <p:spPr>
          <a:xfrm>
            <a:off x="8293411" y="5130445"/>
            <a:ext cx="3302561" cy="872749"/>
          </a:xfrm>
          <a:prstGeom prst="rect">
            <a:avLst/>
          </a:prstGeom>
        </p:spPr>
      </p:pic>
      <p:pic>
        <p:nvPicPr>
          <p:cNvPr id="7" name="Picture 6" descr="A graph of different colored bars&#10;&#10;Description automatically generated">
            <a:extLst>
              <a:ext uri="{FF2B5EF4-FFF2-40B4-BE49-F238E27FC236}">
                <a16:creationId xmlns:a16="http://schemas.microsoft.com/office/drawing/2014/main" id="{8221FF95-36B9-B2B4-1A31-82DC378567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4961" y="4088013"/>
            <a:ext cx="5721190" cy="2769988"/>
          </a:xfrm>
          <a:prstGeom prst="rect">
            <a:avLst/>
          </a:prstGeom>
        </p:spPr>
      </p:pic>
    </p:spTree>
    <p:extLst>
      <p:ext uri="{BB962C8B-B14F-4D97-AF65-F5344CB8AC3E}">
        <p14:creationId xmlns:p14="http://schemas.microsoft.com/office/powerpoint/2010/main" val="21517370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different types of objects&#10;&#10;Description automatically generated">
            <a:extLst>
              <a:ext uri="{FF2B5EF4-FFF2-40B4-BE49-F238E27FC236}">
                <a16:creationId xmlns:a16="http://schemas.microsoft.com/office/drawing/2014/main" id="{744E66EB-096D-9026-9FAC-4C57B7CE22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6510" y="3346325"/>
            <a:ext cx="4012945" cy="3367838"/>
          </a:xfrm>
          <a:prstGeom prst="rect">
            <a:avLst/>
          </a:prstGeom>
        </p:spPr>
      </p:pic>
      <p:sp>
        <p:nvSpPr>
          <p:cNvPr id="2" name="Title 1">
            <a:extLst>
              <a:ext uri="{FF2B5EF4-FFF2-40B4-BE49-F238E27FC236}">
                <a16:creationId xmlns:a16="http://schemas.microsoft.com/office/drawing/2014/main" id="{34904DF7-069E-06F0-5EF2-B39835EFF829}"/>
              </a:ext>
            </a:extLst>
          </p:cNvPr>
          <p:cNvSpPr>
            <a:spLocks noGrp="1"/>
          </p:cNvSpPr>
          <p:nvPr>
            <p:ph type="title"/>
          </p:nvPr>
        </p:nvSpPr>
        <p:spPr>
          <a:xfrm>
            <a:off x="785335" y="443061"/>
            <a:ext cx="7433309" cy="461665"/>
          </a:xfrm>
        </p:spPr>
        <p:txBody>
          <a:bodyPr/>
          <a:lstStyle/>
          <a:p>
            <a:r>
              <a:rPr lang="en-US" sz="4000" dirty="0"/>
              <a:t>High Temperature - Impact</a:t>
            </a:r>
          </a:p>
        </p:txBody>
      </p:sp>
      <p:sp>
        <p:nvSpPr>
          <p:cNvPr id="3" name="Text Placeholder 2">
            <a:extLst>
              <a:ext uri="{FF2B5EF4-FFF2-40B4-BE49-F238E27FC236}">
                <a16:creationId xmlns:a16="http://schemas.microsoft.com/office/drawing/2014/main" id="{8148474D-5B6F-DC89-6A17-B8222A7ADDAD}"/>
              </a:ext>
            </a:extLst>
          </p:cNvPr>
          <p:cNvSpPr>
            <a:spLocks noGrp="1"/>
          </p:cNvSpPr>
          <p:nvPr>
            <p:ph type="body" idx="1"/>
          </p:nvPr>
        </p:nvSpPr>
        <p:spPr>
          <a:xfrm>
            <a:off x="785335" y="1435894"/>
            <a:ext cx="11040220" cy="1231106"/>
          </a:xfrm>
        </p:spPr>
        <p:txBody>
          <a:bodyPr/>
          <a:lstStyle/>
          <a:p>
            <a:r>
              <a:rPr lang="en-US" sz="2600" dirty="0"/>
              <a:t>At higher temperatures, we see more </a:t>
            </a:r>
            <a:r>
              <a:rPr lang="en-US" sz="2600" dirty="0">
                <a:solidFill>
                  <a:srgbClr val="C00000"/>
                </a:solidFill>
              </a:rPr>
              <a:t>hallucinations</a:t>
            </a:r>
            <a:r>
              <a:rPr lang="en-US" sz="2600" dirty="0"/>
              <a:t> and lower quality of responses on average, but also more </a:t>
            </a:r>
            <a:r>
              <a:rPr lang="en-US" sz="2600" dirty="0">
                <a:solidFill>
                  <a:srgbClr val="C00000"/>
                </a:solidFill>
              </a:rPr>
              <a:t>creative</a:t>
            </a:r>
            <a:r>
              <a:rPr lang="en-US" sz="2600" dirty="0"/>
              <a:t> and diverse responses</a:t>
            </a:r>
          </a:p>
          <a:p>
            <a:r>
              <a:rPr lang="en-US" sz="2600" u="sng" dirty="0"/>
              <a:t>Frequency and presence penalties </a:t>
            </a:r>
            <a:r>
              <a:rPr lang="en-US" sz="2600" dirty="0"/>
              <a:t>can also add </a:t>
            </a:r>
            <a:r>
              <a:rPr lang="en-US" sz="2600" dirty="0">
                <a:solidFill>
                  <a:srgbClr val="C00000"/>
                </a:solidFill>
              </a:rPr>
              <a:t>diversity</a:t>
            </a:r>
            <a:r>
              <a:rPr lang="en-US" sz="2600" dirty="0"/>
              <a:t> by </a:t>
            </a:r>
            <a:r>
              <a:rPr lang="en-US" sz="2600" dirty="0">
                <a:solidFill>
                  <a:srgbClr val="C00000"/>
                </a:solidFill>
              </a:rPr>
              <a:t>penalizing</a:t>
            </a:r>
            <a:r>
              <a:rPr lang="en-US" sz="2600" dirty="0"/>
              <a:t> the </a:t>
            </a:r>
            <a:r>
              <a:rPr lang="en-US" sz="2600" dirty="0">
                <a:solidFill>
                  <a:srgbClr val="C00000"/>
                </a:solidFill>
              </a:rPr>
              <a:t>reuse</a:t>
            </a:r>
            <a:r>
              <a:rPr lang="en-US" sz="2600" dirty="0"/>
              <a:t> of tokens that have already occurred in the text, while </a:t>
            </a:r>
            <a:r>
              <a:rPr lang="en-US" sz="2600" dirty="0">
                <a:solidFill>
                  <a:srgbClr val="C00000"/>
                </a:solidFill>
              </a:rPr>
              <a:t>reducing hallucinations</a:t>
            </a:r>
            <a:r>
              <a:rPr lang="en-US" sz="2600" dirty="0"/>
              <a:t> more effectively than temperature scaling</a:t>
            </a:r>
          </a:p>
        </p:txBody>
      </p:sp>
    </p:spTree>
    <p:extLst>
      <p:ext uri="{BB962C8B-B14F-4D97-AF65-F5344CB8AC3E}">
        <p14:creationId xmlns:p14="http://schemas.microsoft.com/office/powerpoint/2010/main" val="9085911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4A51-9B3C-EAF2-522D-5044A4E58CC7}"/>
              </a:ext>
            </a:extLst>
          </p:cNvPr>
          <p:cNvSpPr>
            <a:spLocks noGrp="1"/>
          </p:cNvSpPr>
          <p:nvPr>
            <p:ph type="title"/>
          </p:nvPr>
        </p:nvSpPr>
        <p:spPr/>
        <p:txBody>
          <a:bodyPr/>
          <a:lstStyle/>
          <a:p>
            <a:r>
              <a:rPr lang="en-US" dirty="0"/>
              <a:t>Temperature with Sampling Methods</a:t>
            </a:r>
          </a:p>
        </p:txBody>
      </p:sp>
      <p:sp>
        <p:nvSpPr>
          <p:cNvPr id="3" name="Content Placeholder 2">
            <a:extLst>
              <a:ext uri="{FF2B5EF4-FFF2-40B4-BE49-F238E27FC236}">
                <a16:creationId xmlns:a16="http://schemas.microsoft.com/office/drawing/2014/main" id="{FDDAFC73-1EEB-301D-BAAC-425812481F70}"/>
              </a:ext>
            </a:extLst>
          </p:cNvPr>
          <p:cNvSpPr>
            <a:spLocks noGrp="1"/>
          </p:cNvSpPr>
          <p:nvPr>
            <p:ph idx="1"/>
          </p:nvPr>
        </p:nvSpPr>
        <p:spPr>
          <a:xfrm>
            <a:off x="838199" y="1825625"/>
            <a:ext cx="10987355" cy="4351338"/>
          </a:xfrm>
        </p:spPr>
        <p:txBody>
          <a:bodyPr/>
          <a:lstStyle/>
          <a:p>
            <a:pPr marL="0" indent="0">
              <a:buNone/>
            </a:pPr>
            <a:r>
              <a:rPr lang="en-US" sz="2600" dirty="0"/>
              <a:t>Temperature is often used </a:t>
            </a:r>
            <a:r>
              <a:rPr lang="en-US" sz="2600" dirty="0">
                <a:solidFill>
                  <a:srgbClr val="C00000"/>
                </a:solidFill>
              </a:rPr>
              <a:t>together</a:t>
            </a:r>
            <a:r>
              <a:rPr lang="en-US" sz="2600" dirty="0"/>
              <a:t> with Top-K and Top-p in decoding strategies:</a:t>
            </a:r>
          </a:p>
          <a:p>
            <a:pPr marL="0" indent="0">
              <a:buNone/>
            </a:pPr>
            <a:r>
              <a:rPr lang="en-US" sz="2600" dirty="0"/>
              <a:t>1- Temperature is used to change </a:t>
            </a:r>
            <a:r>
              <a:rPr lang="en-US" sz="2600" dirty="0">
                <a:solidFill>
                  <a:srgbClr val="C00000"/>
                </a:solidFill>
              </a:rPr>
              <a:t>sharpness and flatness </a:t>
            </a:r>
            <a:r>
              <a:rPr lang="en-US" sz="2600" dirty="0"/>
              <a:t>of the probabilities (0-0.7 for deterministic, 0.7-1.2 balanced , 1.2-1.5 for creative) </a:t>
            </a:r>
          </a:p>
          <a:p>
            <a:pPr marL="0" indent="0">
              <a:buNone/>
            </a:pPr>
            <a:r>
              <a:rPr lang="en-US" sz="2600" dirty="0"/>
              <a:t>2- keep only the K most likely tokens and </a:t>
            </a:r>
            <a:r>
              <a:rPr lang="en-US" sz="2600" dirty="0">
                <a:solidFill>
                  <a:srgbClr val="C00000"/>
                </a:solidFill>
              </a:rPr>
              <a:t>discards the long tail </a:t>
            </a:r>
            <a:r>
              <a:rPr lang="en-US" sz="2600" dirty="0"/>
              <a:t>(1-20 for deterministic, 40-60 balanced, 60-100 for creative)</a:t>
            </a:r>
          </a:p>
          <a:p>
            <a:pPr marL="0" indent="0">
              <a:buNone/>
            </a:pPr>
            <a:r>
              <a:rPr lang="en-US" sz="2600" dirty="0"/>
              <a:t>3- Sample from the </a:t>
            </a:r>
            <a:r>
              <a:rPr lang="en-US" sz="2600" dirty="0">
                <a:solidFill>
                  <a:srgbClr val="C00000"/>
                </a:solidFill>
              </a:rPr>
              <a:t>most likely tokens </a:t>
            </a:r>
            <a:r>
              <a:rPr lang="en-US" sz="2600" dirty="0"/>
              <a:t>whose cumulative probability is bigger than p (0.8 – 0.9 for deterministic, 0.9 – 0.95 balanced, 0.95-0.97 for creative)</a:t>
            </a:r>
          </a:p>
          <a:p>
            <a:pPr marL="0" indent="0">
              <a:buNone/>
            </a:pPr>
            <a:endParaRPr lang="en-US" sz="2600" dirty="0"/>
          </a:p>
          <a:p>
            <a:pPr marL="0" indent="0">
              <a:buNone/>
            </a:pPr>
            <a:endParaRPr lang="en-US" sz="2600" dirty="0"/>
          </a:p>
          <a:p>
            <a:pPr marL="0" indent="0">
              <a:buNone/>
            </a:pPr>
            <a:endParaRPr lang="en-US" sz="2600" dirty="0"/>
          </a:p>
          <a:p>
            <a:pPr marL="0" indent="0">
              <a:buNone/>
            </a:pPr>
            <a:endParaRPr lang="en-US" sz="2600" dirty="0"/>
          </a:p>
          <a:p>
            <a:pPr marL="0" indent="0">
              <a:buNone/>
            </a:pPr>
            <a:endParaRPr lang="en-US" sz="2600" dirty="0"/>
          </a:p>
          <a:p>
            <a:pPr marL="0" indent="0">
              <a:buNone/>
            </a:pPr>
            <a:endParaRPr lang="en-US" sz="2600" dirty="0"/>
          </a:p>
        </p:txBody>
      </p:sp>
      <p:pic>
        <p:nvPicPr>
          <p:cNvPr id="5" name="Picture 4">
            <a:extLst>
              <a:ext uri="{FF2B5EF4-FFF2-40B4-BE49-F238E27FC236}">
                <a16:creationId xmlns:a16="http://schemas.microsoft.com/office/drawing/2014/main" id="{3F103A77-5A75-6DF0-14B3-E0369C3EF388}"/>
              </a:ext>
            </a:extLst>
          </p:cNvPr>
          <p:cNvPicPr>
            <a:picLocks noChangeAspect="1"/>
          </p:cNvPicPr>
          <p:nvPr/>
        </p:nvPicPr>
        <p:blipFill>
          <a:blip r:embed="rId2"/>
          <a:stretch>
            <a:fillRect/>
          </a:stretch>
        </p:blipFill>
        <p:spPr>
          <a:xfrm>
            <a:off x="3177517" y="4817327"/>
            <a:ext cx="5208201" cy="1921146"/>
          </a:xfrm>
          <a:prstGeom prst="rect">
            <a:avLst/>
          </a:prstGeom>
        </p:spPr>
      </p:pic>
    </p:spTree>
    <p:extLst>
      <p:ext uri="{BB962C8B-B14F-4D97-AF65-F5344CB8AC3E}">
        <p14:creationId xmlns:p14="http://schemas.microsoft.com/office/powerpoint/2010/main" val="37466451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9CA36-F4AA-97D8-1490-515546E29EA0}"/>
              </a:ext>
            </a:extLst>
          </p:cNvPr>
          <p:cNvSpPr>
            <a:spLocks noGrp="1"/>
          </p:cNvSpPr>
          <p:nvPr>
            <p:ph type="title"/>
          </p:nvPr>
        </p:nvSpPr>
        <p:spPr>
          <a:xfrm>
            <a:off x="952537" y="572971"/>
            <a:ext cx="11140146" cy="461665"/>
          </a:xfrm>
        </p:spPr>
        <p:txBody>
          <a:bodyPr/>
          <a:lstStyle/>
          <a:p>
            <a:r>
              <a:rPr lang="en-US" sz="4000" dirty="0"/>
              <a:t>Beam Search with Sampling Methods</a:t>
            </a:r>
          </a:p>
        </p:txBody>
      </p:sp>
      <p:sp>
        <p:nvSpPr>
          <p:cNvPr id="3" name="Text Placeholder 2">
            <a:extLst>
              <a:ext uri="{FF2B5EF4-FFF2-40B4-BE49-F238E27FC236}">
                <a16:creationId xmlns:a16="http://schemas.microsoft.com/office/drawing/2014/main" id="{39580E34-6BEB-2394-EDEE-55CBF213D0AB}"/>
              </a:ext>
            </a:extLst>
          </p:cNvPr>
          <p:cNvSpPr>
            <a:spLocks noGrp="1"/>
          </p:cNvSpPr>
          <p:nvPr>
            <p:ph type="body" idx="1"/>
          </p:nvPr>
        </p:nvSpPr>
        <p:spPr>
          <a:xfrm>
            <a:off x="921249" y="1583415"/>
            <a:ext cx="11027596" cy="1846659"/>
          </a:xfrm>
        </p:spPr>
        <p:txBody>
          <a:bodyPr/>
          <a:lstStyle/>
          <a:p>
            <a:r>
              <a:rPr lang="en-US" sz="2600" dirty="0"/>
              <a:t>Higher probabilities do </a:t>
            </a:r>
            <a:r>
              <a:rPr lang="en-US" sz="2600" dirty="0">
                <a:solidFill>
                  <a:srgbClr val="C00000"/>
                </a:solidFill>
              </a:rPr>
              <a:t>not always </a:t>
            </a:r>
            <a:r>
              <a:rPr lang="en-US" sz="2600" dirty="0"/>
              <a:t>lead to more </a:t>
            </a:r>
            <a:r>
              <a:rPr lang="en-US" sz="2600" dirty="0">
                <a:solidFill>
                  <a:srgbClr val="C00000"/>
                </a:solidFill>
              </a:rPr>
              <a:t>realistic</a:t>
            </a:r>
            <a:r>
              <a:rPr lang="en-US" sz="2600" dirty="0"/>
              <a:t> or natural sentences.</a:t>
            </a:r>
          </a:p>
          <a:p>
            <a:r>
              <a:rPr lang="en-US" sz="2600" dirty="0"/>
              <a:t>Instead of selecting the highest probabilities (as in regular beam search), use </a:t>
            </a:r>
            <a:r>
              <a:rPr lang="en-US" sz="2600" dirty="0">
                <a:solidFill>
                  <a:srgbClr val="C00000"/>
                </a:solidFill>
              </a:rPr>
              <a:t>Top-k sampling</a:t>
            </a:r>
            <a:r>
              <a:rPr lang="en-US" sz="2600" dirty="0"/>
              <a:t> . We can also use the </a:t>
            </a:r>
            <a:r>
              <a:rPr lang="en-US" sz="2600" dirty="0">
                <a:solidFill>
                  <a:srgbClr val="C00000"/>
                </a:solidFill>
              </a:rPr>
              <a:t>nucleus</a:t>
            </a:r>
            <a:r>
              <a:rPr lang="en-US" sz="2600" dirty="0"/>
              <a:t> parameter for sampling. </a:t>
            </a:r>
          </a:p>
          <a:p>
            <a:r>
              <a:rPr lang="en-US" sz="2600" dirty="0"/>
              <a:t>The sampling, making </a:t>
            </a:r>
            <a:r>
              <a:rPr lang="en-US" sz="2600" dirty="0">
                <a:solidFill>
                  <a:srgbClr val="C00000"/>
                </a:solidFill>
              </a:rPr>
              <a:t>more diverse </a:t>
            </a:r>
            <a:r>
              <a:rPr lang="en-US" sz="2600" dirty="0"/>
              <a:t>choices and avoids redundant generations</a:t>
            </a:r>
          </a:p>
          <a:p>
            <a:pPr marL="0" indent="0">
              <a:buNone/>
            </a:pPr>
            <a:endParaRPr lang="en-US" sz="2600" dirty="0"/>
          </a:p>
          <a:p>
            <a:endParaRPr lang="en-US" sz="2600" dirty="0"/>
          </a:p>
          <a:p>
            <a:endParaRPr lang="en-US" sz="2600" dirty="0"/>
          </a:p>
        </p:txBody>
      </p:sp>
      <p:cxnSp>
        <p:nvCxnSpPr>
          <p:cNvPr id="9" name="Straight Arrow Connector 8">
            <a:extLst>
              <a:ext uri="{FF2B5EF4-FFF2-40B4-BE49-F238E27FC236}">
                <a16:creationId xmlns:a16="http://schemas.microsoft.com/office/drawing/2014/main" id="{2C06EAC2-8F06-9850-EA48-397EC88E6D9D}"/>
              </a:ext>
            </a:extLst>
          </p:cNvPr>
          <p:cNvCxnSpPr>
            <a:cxnSpLocks/>
          </p:cNvCxnSpPr>
          <p:nvPr/>
        </p:nvCxnSpPr>
        <p:spPr>
          <a:xfrm flipV="1">
            <a:off x="6333378" y="4577191"/>
            <a:ext cx="978240" cy="7099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D261463-18EA-AEFE-1AEB-AE9EBD4F6E47}"/>
              </a:ext>
            </a:extLst>
          </p:cNvPr>
          <p:cNvSpPr txBox="1"/>
          <p:nvPr/>
        </p:nvSpPr>
        <p:spPr>
          <a:xfrm>
            <a:off x="3770326" y="3684110"/>
            <a:ext cx="6097712" cy="923330"/>
          </a:xfrm>
          <a:prstGeom prst="rect">
            <a:avLst/>
          </a:prstGeom>
          <a:noFill/>
        </p:spPr>
        <p:txBody>
          <a:bodyPr wrap="square">
            <a:spAutoFit/>
          </a:bodyPr>
          <a:lstStyle/>
          <a:p>
            <a:r>
              <a:rPr lang="en-US" dirty="0">
                <a:solidFill>
                  <a:schemeClr val="accent1">
                    <a:lumMod val="75000"/>
                  </a:schemeClr>
                </a:solidFill>
              </a:rPr>
              <a:t>Beam-width = 2 with Top-4 sampling </a:t>
            </a:r>
          </a:p>
          <a:p>
            <a:r>
              <a:rPr lang="en-US" dirty="0">
                <a:solidFill>
                  <a:schemeClr val="accent1">
                    <a:lumMod val="75000"/>
                  </a:schemeClr>
                </a:solidFill>
              </a:rPr>
              <a:t>(two random branch from top 4)</a:t>
            </a:r>
          </a:p>
          <a:p>
            <a:endParaRPr lang="en-US" dirty="0">
              <a:solidFill>
                <a:schemeClr val="accent1">
                  <a:lumMod val="75000"/>
                </a:schemeClr>
              </a:solidFill>
            </a:endParaRPr>
          </a:p>
        </p:txBody>
      </p:sp>
      <p:pic>
        <p:nvPicPr>
          <p:cNvPr id="13" name="Picture 12">
            <a:extLst>
              <a:ext uri="{FF2B5EF4-FFF2-40B4-BE49-F238E27FC236}">
                <a16:creationId xmlns:a16="http://schemas.microsoft.com/office/drawing/2014/main" id="{E2BBB8A8-0AD9-1E97-7186-7B0DE1E77782}"/>
              </a:ext>
            </a:extLst>
          </p:cNvPr>
          <p:cNvPicPr>
            <a:picLocks noChangeAspect="1"/>
          </p:cNvPicPr>
          <p:nvPr/>
        </p:nvPicPr>
        <p:blipFill>
          <a:blip r:embed="rId2"/>
          <a:stretch>
            <a:fillRect/>
          </a:stretch>
        </p:blipFill>
        <p:spPr>
          <a:xfrm>
            <a:off x="7424634" y="3693777"/>
            <a:ext cx="1954284" cy="1252746"/>
          </a:xfrm>
          <a:prstGeom prst="rect">
            <a:avLst/>
          </a:prstGeom>
        </p:spPr>
      </p:pic>
      <p:pic>
        <p:nvPicPr>
          <p:cNvPr id="15" name="Picture 14">
            <a:extLst>
              <a:ext uri="{FF2B5EF4-FFF2-40B4-BE49-F238E27FC236}">
                <a16:creationId xmlns:a16="http://schemas.microsoft.com/office/drawing/2014/main" id="{46339C9F-DAD5-150B-AEED-291AC7F1D73A}"/>
              </a:ext>
            </a:extLst>
          </p:cNvPr>
          <p:cNvPicPr>
            <a:picLocks noChangeAspect="1"/>
          </p:cNvPicPr>
          <p:nvPr/>
        </p:nvPicPr>
        <p:blipFill>
          <a:blip r:embed="rId3"/>
          <a:stretch>
            <a:fillRect/>
          </a:stretch>
        </p:blipFill>
        <p:spPr>
          <a:xfrm>
            <a:off x="7311618" y="5191687"/>
            <a:ext cx="1954284" cy="1252746"/>
          </a:xfrm>
          <a:prstGeom prst="rect">
            <a:avLst/>
          </a:prstGeom>
        </p:spPr>
      </p:pic>
      <p:cxnSp>
        <p:nvCxnSpPr>
          <p:cNvPr id="17" name="Straight Arrow Connector 16">
            <a:extLst>
              <a:ext uri="{FF2B5EF4-FFF2-40B4-BE49-F238E27FC236}">
                <a16:creationId xmlns:a16="http://schemas.microsoft.com/office/drawing/2014/main" id="{EA5AFDA0-7A1F-7037-C190-915EEBD9392E}"/>
              </a:ext>
            </a:extLst>
          </p:cNvPr>
          <p:cNvCxnSpPr>
            <a:cxnSpLocks/>
            <a:endCxn id="15" idx="1"/>
          </p:cNvCxnSpPr>
          <p:nvPr/>
        </p:nvCxnSpPr>
        <p:spPr>
          <a:xfrm>
            <a:off x="6333378" y="5287151"/>
            <a:ext cx="978240" cy="5309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0B134BC-02F8-2B90-D295-31D9533530A2}"/>
              </a:ext>
            </a:extLst>
          </p:cNvPr>
          <p:cNvCxnSpPr>
            <a:cxnSpLocks/>
          </p:cNvCxnSpPr>
          <p:nvPr/>
        </p:nvCxnSpPr>
        <p:spPr>
          <a:xfrm flipV="1">
            <a:off x="9491934" y="3628060"/>
            <a:ext cx="1119882" cy="582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99F1DC3-2F28-3870-E973-DE7FC545A915}"/>
              </a:ext>
            </a:extLst>
          </p:cNvPr>
          <p:cNvCxnSpPr>
            <a:cxnSpLocks/>
          </p:cNvCxnSpPr>
          <p:nvPr/>
        </p:nvCxnSpPr>
        <p:spPr>
          <a:xfrm>
            <a:off x="9492548" y="4201921"/>
            <a:ext cx="978240" cy="5309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ED9950F1-BACB-95EF-7FD6-9AC2CF8626F9}"/>
              </a:ext>
            </a:extLst>
          </p:cNvPr>
          <p:cNvCxnSpPr>
            <a:cxnSpLocks/>
          </p:cNvCxnSpPr>
          <p:nvPr/>
        </p:nvCxnSpPr>
        <p:spPr>
          <a:xfrm>
            <a:off x="9378918" y="5840294"/>
            <a:ext cx="978240" cy="5309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DC1A828-25BC-2696-E760-EE7B37DC7CFE}"/>
              </a:ext>
            </a:extLst>
          </p:cNvPr>
          <p:cNvCxnSpPr>
            <a:cxnSpLocks/>
          </p:cNvCxnSpPr>
          <p:nvPr/>
        </p:nvCxnSpPr>
        <p:spPr>
          <a:xfrm flipV="1">
            <a:off x="9376227" y="5235785"/>
            <a:ext cx="1119882" cy="582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8" name="Picture 27">
            <a:extLst>
              <a:ext uri="{FF2B5EF4-FFF2-40B4-BE49-F238E27FC236}">
                <a16:creationId xmlns:a16="http://schemas.microsoft.com/office/drawing/2014/main" id="{9FFF2506-8F6D-8FC6-2F1C-164B0C250687}"/>
              </a:ext>
            </a:extLst>
          </p:cNvPr>
          <p:cNvPicPr>
            <a:picLocks noChangeAspect="1"/>
          </p:cNvPicPr>
          <p:nvPr/>
        </p:nvPicPr>
        <p:blipFill>
          <a:blip r:embed="rId4"/>
          <a:stretch>
            <a:fillRect/>
          </a:stretch>
        </p:blipFill>
        <p:spPr>
          <a:xfrm>
            <a:off x="4541927" y="4561099"/>
            <a:ext cx="1685925" cy="1666875"/>
          </a:xfrm>
          <a:prstGeom prst="rect">
            <a:avLst/>
          </a:prstGeom>
        </p:spPr>
      </p:pic>
      <p:sp>
        <p:nvSpPr>
          <p:cNvPr id="5" name="TextBox 4">
            <a:extLst>
              <a:ext uri="{FF2B5EF4-FFF2-40B4-BE49-F238E27FC236}">
                <a16:creationId xmlns:a16="http://schemas.microsoft.com/office/drawing/2014/main" id="{A7B01A17-F70E-3EC0-B305-9907C6DEEE02}"/>
              </a:ext>
            </a:extLst>
          </p:cNvPr>
          <p:cNvSpPr txBox="1"/>
          <p:nvPr/>
        </p:nvSpPr>
        <p:spPr>
          <a:xfrm>
            <a:off x="1323731" y="4676276"/>
            <a:ext cx="2676313" cy="1754326"/>
          </a:xfrm>
          <a:prstGeom prst="rect">
            <a:avLst/>
          </a:prstGeom>
          <a:noFill/>
        </p:spPr>
        <p:txBody>
          <a:bodyPr wrap="square">
            <a:spAutoFit/>
          </a:bodyPr>
          <a:lstStyle/>
          <a:p>
            <a:r>
              <a:rPr lang="en-US" sz="1800" b="1" dirty="0"/>
              <a:t>Example</a:t>
            </a:r>
            <a:r>
              <a:rPr lang="en-US" sz="1800" dirty="0"/>
              <a:t>:</a:t>
            </a:r>
          </a:p>
          <a:p>
            <a:r>
              <a:rPr lang="en-US" sz="1800" dirty="0"/>
              <a:t>In regular Beam Search “The” and “It” should be selected but here “The” and “A” are selected randomly from top 4</a:t>
            </a:r>
            <a:endParaRPr lang="en-US" dirty="0"/>
          </a:p>
        </p:txBody>
      </p:sp>
    </p:spTree>
    <p:extLst>
      <p:ext uri="{BB962C8B-B14F-4D97-AF65-F5344CB8AC3E}">
        <p14:creationId xmlns:p14="http://schemas.microsoft.com/office/powerpoint/2010/main" val="6402458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F2DB0-0A83-5BBE-5C16-7371D2EA54E3}"/>
              </a:ext>
            </a:extLst>
          </p:cNvPr>
          <p:cNvSpPr>
            <a:spLocks noGrp="1"/>
          </p:cNvSpPr>
          <p:nvPr>
            <p:ph type="title"/>
          </p:nvPr>
        </p:nvSpPr>
        <p:spPr/>
        <p:txBody>
          <a:bodyPr/>
          <a:lstStyle/>
          <a:p>
            <a:r>
              <a:rPr lang="en-US" dirty="0"/>
              <a:t>Choosing Decoding Strategy</a:t>
            </a:r>
          </a:p>
        </p:txBody>
      </p:sp>
      <p:sp>
        <p:nvSpPr>
          <p:cNvPr id="3" name="Content Placeholder 2">
            <a:extLst>
              <a:ext uri="{FF2B5EF4-FFF2-40B4-BE49-F238E27FC236}">
                <a16:creationId xmlns:a16="http://schemas.microsoft.com/office/drawing/2014/main" id="{9116FD4B-DB1D-9352-A6EA-5E50065EDFA8}"/>
              </a:ext>
            </a:extLst>
          </p:cNvPr>
          <p:cNvSpPr>
            <a:spLocks noGrp="1"/>
          </p:cNvSpPr>
          <p:nvPr>
            <p:ph idx="1"/>
          </p:nvPr>
        </p:nvSpPr>
        <p:spPr>
          <a:xfrm>
            <a:off x="910120" y="1618356"/>
            <a:ext cx="7594634" cy="4351338"/>
          </a:xfrm>
        </p:spPr>
        <p:txBody>
          <a:bodyPr/>
          <a:lstStyle/>
          <a:p>
            <a:pPr marL="0" indent="0">
              <a:buNone/>
            </a:pPr>
            <a:r>
              <a:rPr lang="en-US" sz="2600" dirty="0"/>
              <a:t>Choice between the methods depends on the specific </a:t>
            </a:r>
            <a:r>
              <a:rPr lang="en-US" sz="2600" dirty="0">
                <a:solidFill>
                  <a:srgbClr val="C00000"/>
                </a:solidFill>
              </a:rPr>
              <a:t>requirements</a:t>
            </a:r>
            <a:r>
              <a:rPr lang="en-US" sz="2600" dirty="0"/>
              <a:t> and constraints of </a:t>
            </a:r>
            <a:r>
              <a:rPr lang="en-US" sz="2600" dirty="0">
                <a:solidFill>
                  <a:srgbClr val="C00000"/>
                </a:solidFill>
              </a:rPr>
              <a:t>tasks</a:t>
            </a:r>
            <a:r>
              <a:rPr lang="en-US" sz="2600" dirty="0"/>
              <a:t>:</a:t>
            </a:r>
          </a:p>
          <a:p>
            <a:r>
              <a:rPr lang="en-US" sz="2600" dirty="0"/>
              <a:t>Some tasks like </a:t>
            </a:r>
            <a:r>
              <a:rPr lang="en-US" sz="2600" dirty="0">
                <a:solidFill>
                  <a:srgbClr val="C00000"/>
                </a:solidFill>
              </a:rPr>
              <a:t>medical diagnosis </a:t>
            </a:r>
            <a:r>
              <a:rPr lang="en-US" sz="2600" dirty="0"/>
              <a:t>needs more </a:t>
            </a:r>
            <a:r>
              <a:rPr lang="en-US" sz="2600" dirty="0">
                <a:solidFill>
                  <a:srgbClr val="C00000"/>
                </a:solidFill>
              </a:rPr>
              <a:t>deterministic</a:t>
            </a:r>
            <a:r>
              <a:rPr lang="en-US" sz="2600" dirty="0"/>
              <a:t> results and some tasks like </a:t>
            </a:r>
            <a:r>
              <a:rPr lang="en-US" sz="2600" dirty="0">
                <a:solidFill>
                  <a:srgbClr val="C00000"/>
                </a:solidFill>
              </a:rPr>
              <a:t>writing stories </a:t>
            </a:r>
            <a:r>
              <a:rPr lang="en-US" sz="2600" dirty="0"/>
              <a:t>needs more </a:t>
            </a:r>
            <a:r>
              <a:rPr lang="en-US" sz="2600" dirty="0">
                <a:solidFill>
                  <a:srgbClr val="C00000"/>
                </a:solidFill>
              </a:rPr>
              <a:t>creativity</a:t>
            </a:r>
            <a:r>
              <a:rPr lang="en-US" sz="2600" dirty="0"/>
              <a:t>.</a:t>
            </a:r>
          </a:p>
          <a:p>
            <a:r>
              <a:rPr lang="en-US" sz="2600" dirty="0"/>
              <a:t>Use </a:t>
            </a:r>
            <a:r>
              <a:rPr lang="en-US" sz="2600" dirty="0">
                <a:solidFill>
                  <a:srgbClr val="C00000"/>
                </a:solidFill>
              </a:rPr>
              <a:t>Greedy</a:t>
            </a:r>
            <a:r>
              <a:rPr lang="en-US" sz="2600" dirty="0"/>
              <a:t> for tasks needs speed and </a:t>
            </a:r>
            <a:r>
              <a:rPr lang="en-US" sz="2600" dirty="0">
                <a:solidFill>
                  <a:srgbClr val="C00000"/>
                </a:solidFill>
              </a:rPr>
              <a:t>determinism</a:t>
            </a:r>
          </a:p>
          <a:p>
            <a:r>
              <a:rPr lang="en-US" sz="2600" dirty="0"/>
              <a:t>Use </a:t>
            </a:r>
            <a:r>
              <a:rPr lang="en-US" sz="2600" dirty="0">
                <a:solidFill>
                  <a:srgbClr val="C00000"/>
                </a:solidFill>
              </a:rPr>
              <a:t>Beam Search </a:t>
            </a:r>
            <a:r>
              <a:rPr lang="en-US" sz="2600" dirty="0"/>
              <a:t>for better </a:t>
            </a:r>
            <a:r>
              <a:rPr lang="en-US" sz="2600" dirty="0">
                <a:solidFill>
                  <a:srgbClr val="C00000"/>
                </a:solidFill>
              </a:rPr>
              <a:t>quality of text</a:t>
            </a:r>
          </a:p>
          <a:p>
            <a:r>
              <a:rPr lang="en-US" sz="2600" dirty="0"/>
              <a:t>For </a:t>
            </a:r>
            <a:r>
              <a:rPr lang="en-US" sz="2600" dirty="0">
                <a:solidFill>
                  <a:srgbClr val="C00000"/>
                </a:solidFill>
              </a:rPr>
              <a:t>creativity</a:t>
            </a:r>
            <a:r>
              <a:rPr lang="en-US" sz="2600" dirty="0"/>
              <a:t> add </a:t>
            </a:r>
            <a:r>
              <a:rPr lang="en-US" sz="2600" dirty="0">
                <a:solidFill>
                  <a:srgbClr val="C00000"/>
                </a:solidFill>
              </a:rPr>
              <a:t>sampling</a:t>
            </a:r>
            <a:r>
              <a:rPr lang="en-US" sz="2600" dirty="0"/>
              <a:t> methods (Top-K, Top-P, Temp) to beam search.</a:t>
            </a:r>
          </a:p>
          <a:p>
            <a:r>
              <a:rPr lang="en-US" sz="2600" dirty="0"/>
              <a:t>For </a:t>
            </a:r>
            <a:r>
              <a:rPr lang="en-US" sz="2600" dirty="0">
                <a:solidFill>
                  <a:srgbClr val="C00000"/>
                </a:solidFill>
              </a:rPr>
              <a:t>common </a:t>
            </a:r>
            <a:r>
              <a:rPr lang="en-US" sz="2600" dirty="0"/>
              <a:t>NLP tasks, combination of </a:t>
            </a:r>
            <a:r>
              <a:rPr lang="en-US" sz="2600" dirty="0">
                <a:solidFill>
                  <a:srgbClr val="C00000"/>
                </a:solidFill>
              </a:rPr>
              <a:t>beam</a:t>
            </a:r>
            <a:r>
              <a:rPr lang="en-US" sz="2600" dirty="0"/>
              <a:t> search and </a:t>
            </a:r>
            <a:r>
              <a:rPr lang="en-US" sz="2600" dirty="0">
                <a:solidFill>
                  <a:srgbClr val="C00000"/>
                </a:solidFill>
              </a:rPr>
              <a:t>sampling</a:t>
            </a:r>
            <a:r>
              <a:rPr lang="en-US" sz="2600" dirty="0"/>
              <a:t> methods is a reasonable choice</a:t>
            </a:r>
          </a:p>
        </p:txBody>
      </p:sp>
      <p:pic>
        <p:nvPicPr>
          <p:cNvPr id="4" name="Picture 3" descr="A screenshot of a computer&#10;&#10;Description automatically generated">
            <a:extLst>
              <a:ext uri="{FF2B5EF4-FFF2-40B4-BE49-F238E27FC236}">
                <a16:creationId xmlns:a16="http://schemas.microsoft.com/office/drawing/2014/main" id="{C1C2B449-FAFF-2AB6-6747-04C9D41BF4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2835" y="2527314"/>
            <a:ext cx="3329365" cy="3329365"/>
          </a:xfrm>
          <a:prstGeom prst="rect">
            <a:avLst/>
          </a:prstGeom>
        </p:spPr>
      </p:pic>
    </p:spTree>
    <p:extLst>
      <p:ext uri="{BB962C8B-B14F-4D97-AF65-F5344CB8AC3E}">
        <p14:creationId xmlns:p14="http://schemas.microsoft.com/office/powerpoint/2010/main" val="11960880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8463B27-9989-124F-AC89-2D4F18F3467D}"/>
              </a:ext>
            </a:extLst>
          </p:cNvPr>
          <p:cNvPicPr>
            <a:picLocks noChangeAspect="1"/>
          </p:cNvPicPr>
          <p:nvPr/>
        </p:nvPicPr>
        <p:blipFill>
          <a:blip r:embed="rId2"/>
          <a:stretch>
            <a:fillRect/>
          </a:stretch>
        </p:blipFill>
        <p:spPr>
          <a:xfrm>
            <a:off x="3209199" y="4127899"/>
            <a:ext cx="6044864" cy="2702928"/>
          </a:xfrm>
          <a:prstGeom prst="rect">
            <a:avLst/>
          </a:prstGeom>
        </p:spPr>
      </p:pic>
      <p:sp>
        <p:nvSpPr>
          <p:cNvPr id="2" name="Title 1">
            <a:extLst>
              <a:ext uri="{FF2B5EF4-FFF2-40B4-BE49-F238E27FC236}">
                <a16:creationId xmlns:a16="http://schemas.microsoft.com/office/drawing/2014/main" id="{82685C21-8A9C-6312-B59A-550284CCAFAF}"/>
              </a:ext>
            </a:extLst>
          </p:cNvPr>
          <p:cNvSpPr>
            <a:spLocks noGrp="1"/>
          </p:cNvSpPr>
          <p:nvPr>
            <p:ph type="title"/>
          </p:nvPr>
        </p:nvSpPr>
        <p:spPr>
          <a:xfrm>
            <a:off x="829622" y="480302"/>
            <a:ext cx="7433309" cy="461665"/>
          </a:xfrm>
        </p:spPr>
        <p:txBody>
          <a:bodyPr/>
          <a:lstStyle/>
          <a:p>
            <a:r>
              <a:rPr lang="en-US" dirty="0"/>
              <a:t>Foundation Models</a:t>
            </a:r>
          </a:p>
        </p:txBody>
      </p:sp>
      <p:sp>
        <p:nvSpPr>
          <p:cNvPr id="3" name="Text Placeholder 2">
            <a:extLst>
              <a:ext uri="{FF2B5EF4-FFF2-40B4-BE49-F238E27FC236}">
                <a16:creationId xmlns:a16="http://schemas.microsoft.com/office/drawing/2014/main" id="{DFBE1340-5650-D9F7-08A5-B2A4D36DC00E}"/>
              </a:ext>
            </a:extLst>
          </p:cNvPr>
          <p:cNvSpPr>
            <a:spLocks noGrp="1"/>
          </p:cNvSpPr>
          <p:nvPr>
            <p:ph type="body" idx="1"/>
          </p:nvPr>
        </p:nvSpPr>
        <p:spPr>
          <a:xfrm>
            <a:off x="829622" y="1340212"/>
            <a:ext cx="10934287" cy="5232202"/>
          </a:xfrm>
        </p:spPr>
        <p:txBody>
          <a:bodyPr/>
          <a:lstStyle/>
          <a:p>
            <a:r>
              <a:rPr lang="en-US" sz="2600" dirty="0">
                <a:solidFill>
                  <a:srgbClr val="C00000"/>
                </a:solidFill>
              </a:rPr>
              <a:t>Language</a:t>
            </a:r>
            <a:r>
              <a:rPr lang="en-US" sz="2600" dirty="0"/>
              <a:t> understanding and generation can be used across </a:t>
            </a:r>
            <a:r>
              <a:rPr lang="en-US" sz="2600" dirty="0">
                <a:solidFill>
                  <a:srgbClr val="C00000"/>
                </a:solidFill>
              </a:rPr>
              <a:t>many tasks</a:t>
            </a:r>
          </a:p>
          <a:p>
            <a:r>
              <a:rPr lang="en-US" sz="2600" dirty="0"/>
              <a:t>Foundation models are large-scale, general-purpose </a:t>
            </a:r>
            <a:r>
              <a:rPr lang="en-US" sz="2600" dirty="0">
                <a:solidFill>
                  <a:srgbClr val="C00000"/>
                </a:solidFill>
              </a:rPr>
              <a:t>pre-trained models </a:t>
            </a:r>
            <a:r>
              <a:rPr lang="en-US" sz="2600" dirty="0"/>
              <a:t>that serve as a base (</a:t>
            </a:r>
            <a:r>
              <a:rPr lang="en-US" sz="2600" dirty="0">
                <a:solidFill>
                  <a:srgbClr val="C00000"/>
                </a:solidFill>
              </a:rPr>
              <a:t>foundation</a:t>
            </a:r>
            <a:r>
              <a:rPr lang="en-US" sz="2600" dirty="0"/>
              <a:t>) for </a:t>
            </a:r>
            <a:r>
              <a:rPr lang="en-US" sz="2600" dirty="0">
                <a:solidFill>
                  <a:srgbClr val="C00000"/>
                </a:solidFill>
              </a:rPr>
              <a:t>various</a:t>
            </a:r>
            <a:r>
              <a:rPr lang="en-US" sz="2600" dirty="0"/>
              <a:t> </a:t>
            </a:r>
            <a:r>
              <a:rPr lang="en-US" sz="2600" dirty="0">
                <a:solidFill>
                  <a:srgbClr val="C00000"/>
                </a:solidFill>
              </a:rPr>
              <a:t>tasks </a:t>
            </a:r>
            <a:r>
              <a:rPr lang="en-US" sz="2600" dirty="0"/>
              <a:t>across multiple domains.</a:t>
            </a:r>
          </a:p>
          <a:p>
            <a:r>
              <a:rPr lang="en-US" sz="2600" dirty="0"/>
              <a:t>The </a:t>
            </a:r>
            <a:r>
              <a:rPr lang="en-US" sz="2600" dirty="0">
                <a:solidFill>
                  <a:srgbClr val="C00000"/>
                </a:solidFill>
              </a:rPr>
              <a:t>general knowledge </a:t>
            </a:r>
            <a:r>
              <a:rPr lang="en-US" sz="2600" dirty="0"/>
              <a:t>learned through pre-training transfer well to various tasks (transfer-learning) with minimal </a:t>
            </a:r>
            <a:r>
              <a:rPr lang="en-US" sz="2600" dirty="0">
                <a:solidFill>
                  <a:srgbClr val="C00000"/>
                </a:solidFill>
              </a:rPr>
              <a:t>task-specific fine-tuning</a:t>
            </a:r>
          </a:p>
          <a:p>
            <a:r>
              <a:rPr lang="en-US" sz="2600" dirty="0">
                <a:solidFill>
                  <a:srgbClr val="C00000"/>
                </a:solidFill>
              </a:rPr>
              <a:t>Transformer</a:t>
            </a:r>
            <a:r>
              <a:rPr lang="en-US" sz="2600" dirty="0"/>
              <a:t> architecture is the dominant architecture for </a:t>
            </a:r>
            <a:r>
              <a:rPr lang="en-US" sz="2600" dirty="0">
                <a:solidFill>
                  <a:srgbClr val="C00000"/>
                </a:solidFill>
              </a:rPr>
              <a:t>foundation models</a:t>
            </a:r>
          </a:p>
          <a:p>
            <a:endParaRPr lang="en-US" sz="2600" dirty="0">
              <a:solidFill>
                <a:srgbClr val="C00000"/>
              </a:solidFill>
            </a:endParaRPr>
          </a:p>
          <a:p>
            <a:endParaRPr lang="en-US" sz="2600" dirty="0">
              <a:solidFill>
                <a:srgbClr val="C00000"/>
              </a:solidFill>
            </a:endParaRPr>
          </a:p>
          <a:p>
            <a:endParaRPr lang="en-US" sz="2600" dirty="0"/>
          </a:p>
          <a:p>
            <a:endParaRPr lang="en-US" sz="2600" dirty="0"/>
          </a:p>
          <a:p>
            <a:endParaRPr lang="en-US" sz="2600" dirty="0"/>
          </a:p>
        </p:txBody>
      </p:sp>
      <p:sp>
        <p:nvSpPr>
          <p:cNvPr id="8" name="TextBox 7">
            <a:extLst>
              <a:ext uri="{FF2B5EF4-FFF2-40B4-BE49-F238E27FC236}">
                <a16:creationId xmlns:a16="http://schemas.microsoft.com/office/drawing/2014/main" id="{42651D1D-AC51-D4B6-9784-5B50EEFA0820}"/>
              </a:ext>
            </a:extLst>
          </p:cNvPr>
          <p:cNvSpPr txBox="1"/>
          <p:nvPr/>
        </p:nvSpPr>
        <p:spPr>
          <a:xfrm>
            <a:off x="2799300" y="6572414"/>
            <a:ext cx="2044926" cy="184666"/>
          </a:xfrm>
          <a:prstGeom prst="rect">
            <a:avLst/>
          </a:prstGeom>
          <a:noFill/>
        </p:spPr>
        <p:txBody>
          <a:bodyPr wrap="square">
            <a:spAutoFit/>
          </a:bodyPr>
          <a:lstStyle/>
          <a:p>
            <a:r>
              <a:rPr lang="en-US" sz="600" dirty="0" err="1"/>
              <a:t>humanloop</a:t>
            </a:r>
            <a:endParaRPr lang="en-US" sz="600" dirty="0"/>
          </a:p>
        </p:txBody>
      </p:sp>
    </p:spTree>
    <p:extLst>
      <p:ext uri="{BB962C8B-B14F-4D97-AF65-F5344CB8AC3E}">
        <p14:creationId xmlns:p14="http://schemas.microsoft.com/office/powerpoint/2010/main" val="16036684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388916"/>
            <a:ext cx="10515600" cy="620939"/>
          </a:xfrm>
          <a:prstGeom prst="rect">
            <a:avLst/>
          </a:prstGeom>
        </p:spPr>
        <p:txBody>
          <a:bodyPr vert="horz" wrap="square" lIns="0" tIns="11430" rIns="0" bIns="0" numCol="1" rtlCol="0" anchor="ctr" anchorCtr="0" compatLnSpc="1">
            <a:prstTxWarp prst="textNoShape">
              <a:avLst/>
            </a:prstTxWarp>
            <a:spAutoFit/>
          </a:bodyPr>
          <a:lstStyle/>
          <a:p>
            <a:pPr marL="9525">
              <a:spcBef>
                <a:spcPts val="90"/>
              </a:spcBef>
            </a:pPr>
            <a:r>
              <a:rPr dirty="0"/>
              <a:t>GPT Series of Models</a:t>
            </a:r>
          </a:p>
        </p:txBody>
      </p:sp>
      <p:sp>
        <p:nvSpPr>
          <p:cNvPr id="3" name="object 3"/>
          <p:cNvSpPr txBox="1"/>
          <p:nvPr/>
        </p:nvSpPr>
        <p:spPr>
          <a:xfrm>
            <a:off x="893852" y="1203248"/>
            <a:ext cx="8599470" cy="5485476"/>
          </a:xfrm>
          <a:prstGeom prst="rect">
            <a:avLst/>
          </a:prstGeom>
        </p:spPr>
        <p:txBody>
          <a:bodyPr vert="horz" wrap="square" lIns="0" tIns="9525" rIns="0" bIns="0" rtlCol="0">
            <a:spAutoFit/>
          </a:bodyPr>
          <a:lstStyle/>
          <a:p>
            <a:pPr marL="9525">
              <a:spcBef>
                <a:spcPts val="75"/>
              </a:spcBef>
              <a:tabLst>
                <a:tab pos="132874" algn="l"/>
              </a:tabLst>
            </a:pPr>
            <a:r>
              <a:rPr sz="2400" b="1" dirty="0">
                <a:latin typeface="+mn-lt"/>
                <a:cs typeface="Calibri"/>
              </a:rPr>
              <a:t>GPT</a:t>
            </a:r>
            <a:r>
              <a:rPr sz="2400" dirty="0">
                <a:latin typeface="+mn-lt"/>
                <a:cs typeface="Calibri"/>
              </a:rPr>
              <a:t>:</a:t>
            </a:r>
            <a:r>
              <a:rPr sz="2400" spc="-64" dirty="0">
                <a:latin typeface="+mn-lt"/>
                <a:cs typeface="Calibri"/>
              </a:rPr>
              <a:t> </a:t>
            </a:r>
            <a:r>
              <a:rPr sz="2400" b="1" spc="-8" dirty="0">
                <a:latin typeface="+mn-lt"/>
                <a:cs typeface="Calibri"/>
              </a:rPr>
              <a:t>G</a:t>
            </a:r>
            <a:r>
              <a:rPr sz="2400" spc="-8" dirty="0">
                <a:latin typeface="+mn-lt"/>
                <a:cs typeface="Calibri"/>
              </a:rPr>
              <a:t>enerative</a:t>
            </a:r>
            <a:r>
              <a:rPr sz="2400" spc="-60" dirty="0">
                <a:latin typeface="+mn-lt"/>
                <a:cs typeface="Calibri"/>
              </a:rPr>
              <a:t> </a:t>
            </a:r>
            <a:r>
              <a:rPr sz="2400" b="1" spc="-15" dirty="0">
                <a:latin typeface="+mn-lt"/>
                <a:cs typeface="Calibri"/>
              </a:rPr>
              <a:t>P</a:t>
            </a:r>
            <a:r>
              <a:rPr sz="2400" spc="-15" dirty="0">
                <a:latin typeface="+mn-lt"/>
                <a:cs typeface="Calibri"/>
              </a:rPr>
              <a:t>re-</a:t>
            </a:r>
            <a:r>
              <a:rPr sz="2400" dirty="0">
                <a:latin typeface="+mn-lt"/>
                <a:cs typeface="Calibri"/>
              </a:rPr>
              <a:t>trained</a:t>
            </a:r>
            <a:r>
              <a:rPr sz="2400" spc="-60" dirty="0">
                <a:latin typeface="+mn-lt"/>
                <a:cs typeface="Calibri"/>
              </a:rPr>
              <a:t> </a:t>
            </a:r>
            <a:r>
              <a:rPr sz="2400" b="1" spc="-8" dirty="0">
                <a:latin typeface="+mn-lt"/>
                <a:cs typeface="Calibri"/>
              </a:rPr>
              <a:t>T</a:t>
            </a:r>
            <a:r>
              <a:rPr sz="2400" spc="-8" dirty="0">
                <a:latin typeface="+mn-lt"/>
                <a:cs typeface="Calibri"/>
              </a:rPr>
              <a:t>ransformer</a:t>
            </a:r>
            <a:endParaRPr sz="2400" dirty="0">
              <a:latin typeface="+mn-lt"/>
              <a:cs typeface="Calibri"/>
            </a:endParaRPr>
          </a:p>
          <a:p>
            <a:pPr marL="390049" lvl="1" indent="-123349">
              <a:spcBef>
                <a:spcPts val="45"/>
              </a:spcBef>
              <a:buFont typeface="Arial MT"/>
              <a:buChar char="•"/>
              <a:tabLst>
                <a:tab pos="390049" algn="l"/>
              </a:tabLst>
            </a:pPr>
            <a:r>
              <a:rPr lang="en-US" sz="2100" dirty="0">
                <a:latin typeface="+mn-lt"/>
                <a:cs typeface="Calibri"/>
              </a:rPr>
              <a:t>A</a:t>
            </a:r>
            <a:r>
              <a:rPr sz="2100" spc="-30" dirty="0">
                <a:latin typeface="+mn-lt"/>
                <a:cs typeface="Calibri"/>
              </a:rPr>
              <a:t> </a:t>
            </a:r>
            <a:r>
              <a:rPr sz="2100" spc="-8" dirty="0">
                <a:solidFill>
                  <a:srgbClr val="C00000"/>
                </a:solidFill>
                <a:latin typeface="+mn-lt"/>
                <a:cs typeface="Calibri"/>
              </a:rPr>
              <a:t>transformer</a:t>
            </a:r>
            <a:r>
              <a:rPr sz="2100" spc="-34" dirty="0">
                <a:latin typeface="+mn-lt"/>
                <a:cs typeface="Calibri"/>
              </a:rPr>
              <a:t> </a:t>
            </a:r>
            <a:r>
              <a:rPr sz="2100" dirty="0">
                <a:latin typeface="+mn-lt"/>
                <a:cs typeface="Calibri"/>
              </a:rPr>
              <a:t>model</a:t>
            </a:r>
            <a:r>
              <a:rPr sz="2100" spc="-30" dirty="0">
                <a:latin typeface="+mn-lt"/>
                <a:cs typeface="Calibri"/>
              </a:rPr>
              <a:t> </a:t>
            </a:r>
            <a:r>
              <a:rPr sz="2100" spc="-8" dirty="0">
                <a:latin typeface="+mn-lt"/>
                <a:cs typeface="Calibri"/>
              </a:rPr>
              <a:t>architecture</a:t>
            </a:r>
            <a:endParaRPr sz="2100" dirty="0">
              <a:latin typeface="+mn-lt"/>
              <a:cs typeface="Calibri"/>
            </a:endParaRPr>
          </a:p>
          <a:p>
            <a:pPr marL="390049" lvl="1" indent="-123349">
              <a:spcBef>
                <a:spcPts val="105"/>
              </a:spcBef>
              <a:buFont typeface="Arial MT"/>
              <a:buChar char="•"/>
              <a:tabLst>
                <a:tab pos="390049" algn="l"/>
              </a:tabLst>
            </a:pPr>
            <a:r>
              <a:rPr lang="en-US" sz="2100" dirty="0">
                <a:latin typeface="+mn-lt"/>
                <a:cs typeface="Calibri"/>
              </a:rPr>
              <a:t>Stack of transformer </a:t>
            </a:r>
            <a:r>
              <a:rPr lang="en-US" sz="2100" dirty="0">
                <a:solidFill>
                  <a:srgbClr val="C00000"/>
                </a:solidFill>
                <a:latin typeface="+mn-lt"/>
                <a:cs typeface="Calibri"/>
              </a:rPr>
              <a:t>decoder</a:t>
            </a:r>
            <a:r>
              <a:rPr lang="en-US" sz="2100" dirty="0">
                <a:latin typeface="+mn-lt"/>
                <a:cs typeface="Calibri"/>
              </a:rPr>
              <a:t> layers (only decoder part of transformer)</a:t>
            </a:r>
          </a:p>
          <a:p>
            <a:pPr marL="9525">
              <a:spcBef>
                <a:spcPts val="255"/>
              </a:spcBef>
              <a:tabLst>
                <a:tab pos="132874" algn="l"/>
              </a:tabLst>
            </a:pPr>
            <a:r>
              <a:rPr lang="en-US" sz="2400" dirty="0">
                <a:latin typeface="+mn-lt"/>
                <a:cs typeface="Calibri"/>
              </a:rPr>
              <a:t>Goal:</a:t>
            </a:r>
            <a:r>
              <a:rPr lang="en-US" sz="2400" spc="-64" dirty="0">
                <a:latin typeface="+mn-lt"/>
                <a:cs typeface="Calibri"/>
              </a:rPr>
              <a:t> </a:t>
            </a:r>
            <a:r>
              <a:rPr lang="en-US" sz="2400" dirty="0">
                <a:solidFill>
                  <a:srgbClr val="C00000"/>
                </a:solidFill>
                <a:latin typeface="+mn-lt"/>
                <a:cs typeface="Calibri"/>
              </a:rPr>
              <a:t>Text</a:t>
            </a:r>
            <a:r>
              <a:rPr lang="en-US" sz="2400" spc="-64" dirty="0">
                <a:latin typeface="+mn-lt"/>
                <a:cs typeface="Calibri"/>
              </a:rPr>
              <a:t> generation</a:t>
            </a:r>
          </a:p>
          <a:p>
            <a:pPr marL="9525">
              <a:spcBef>
                <a:spcPts val="255"/>
              </a:spcBef>
              <a:tabLst>
                <a:tab pos="132874" algn="l"/>
              </a:tabLst>
            </a:pPr>
            <a:r>
              <a:rPr lang="en-US" sz="2400" spc="-15" dirty="0">
                <a:latin typeface="Carlito"/>
              </a:rPr>
              <a:t>GPT is a </a:t>
            </a:r>
            <a:r>
              <a:rPr lang="en-US" sz="2400" spc="-15" dirty="0">
                <a:solidFill>
                  <a:srgbClr val="C00000"/>
                </a:solidFill>
                <a:latin typeface="Carlito"/>
              </a:rPr>
              <a:t>commercial</a:t>
            </a:r>
            <a:r>
              <a:rPr lang="en-US" sz="2400" spc="-15" dirty="0">
                <a:latin typeface="Carlito"/>
              </a:rPr>
              <a:t> LLM from OpenAI </a:t>
            </a:r>
          </a:p>
          <a:p>
            <a:pPr marL="9525">
              <a:spcBef>
                <a:spcPts val="255"/>
              </a:spcBef>
              <a:tabLst>
                <a:tab pos="132874" algn="l"/>
              </a:tabLst>
            </a:pPr>
            <a:endParaRPr lang="en-US" sz="2400" spc="-64" dirty="0">
              <a:latin typeface="+mn-lt"/>
              <a:cs typeface="Calibri"/>
            </a:endParaRPr>
          </a:p>
          <a:p>
            <a:pPr marL="9525">
              <a:spcBef>
                <a:spcPts val="255"/>
              </a:spcBef>
              <a:tabLst>
                <a:tab pos="132874" algn="l"/>
              </a:tabLst>
            </a:pPr>
            <a:endParaRPr lang="en-US" sz="2400" dirty="0">
              <a:latin typeface="+mn-lt"/>
              <a:cs typeface="Calibri"/>
            </a:endParaRPr>
          </a:p>
          <a:p>
            <a:pPr marL="9525">
              <a:spcBef>
                <a:spcPts val="255"/>
              </a:spcBef>
              <a:tabLst>
                <a:tab pos="132874" algn="l"/>
              </a:tabLst>
            </a:pPr>
            <a:r>
              <a:rPr lang="en-US" sz="2000" b="1" kern="100" dirty="0">
                <a:latin typeface="+mn-lt"/>
                <a:ea typeface="Aptos" panose="020B0004020202020204" pitchFamily="34" charset="0"/>
                <a:cs typeface="Arial" panose="020B0604020202020204" pitchFamily="34" charset="0"/>
              </a:rPr>
              <a:t>GPT Pre-training</a:t>
            </a:r>
            <a:r>
              <a:rPr lang="en-US" sz="2000" kern="100" dirty="0">
                <a:latin typeface="+mn-lt"/>
                <a:ea typeface="Aptos" panose="020B0004020202020204" pitchFamily="34" charset="0"/>
                <a:cs typeface="Arial" panose="020B0604020202020204" pitchFamily="34" charset="0"/>
              </a:rPr>
              <a:t>: </a:t>
            </a:r>
          </a:p>
          <a:p>
            <a:pPr marL="352425" indent="-342900">
              <a:spcBef>
                <a:spcPts val="255"/>
              </a:spcBef>
              <a:buFont typeface="Arial" panose="020B0604020202020204" pitchFamily="34" charset="0"/>
              <a:buChar char="•"/>
              <a:tabLst>
                <a:tab pos="132874" algn="l"/>
              </a:tabLst>
            </a:pPr>
            <a:r>
              <a:rPr lang="en-US" sz="2200" kern="100" dirty="0">
                <a:latin typeface="+mn-lt"/>
                <a:ea typeface="Aptos" panose="020B0004020202020204" pitchFamily="34" charset="0"/>
                <a:cs typeface="Arial" panose="020B0604020202020204" pitchFamily="34" charset="0"/>
              </a:rPr>
              <a:t>GPT series are pre-trained on a large corpus of text from the </a:t>
            </a:r>
            <a:r>
              <a:rPr lang="en-US" sz="2200" kern="100" dirty="0">
                <a:solidFill>
                  <a:srgbClr val="C00000"/>
                </a:solidFill>
                <a:latin typeface="+mn-lt"/>
                <a:ea typeface="Aptos" panose="020B0004020202020204" pitchFamily="34" charset="0"/>
                <a:cs typeface="Arial" panose="020B0604020202020204" pitchFamily="34" charset="0"/>
              </a:rPr>
              <a:t>internet</a:t>
            </a:r>
            <a:r>
              <a:rPr lang="en-US" sz="2200" kern="100" dirty="0">
                <a:latin typeface="+mn-lt"/>
                <a:ea typeface="Aptos" panose="020B0004020202020204" pitchFamily="34" charset="0"/>
                <a:cs typeface="Arial" panose="020B0604020202020204" pitchFamily="34" charset="0"/>
              </a:rPr>
              <a:t>, and data licensed from </a:t>
            </a:r>
            <a:r>
              <a:rPr lang="en-US" sz="2200" kern="100" dirty="0">
                <a:solidFill>
                  <a:srgbClr val="C00000"/>
                </a:solidFill>
                <a:latin typeface="+mn-lt"/>
                <a:ea typeface="Aptos" panose="020B0004020202020204" pitchFamily="34" charset="0"/>
                <a:cs typeface="Arial" panose="020B0604020202020204" pitchFamily="34" charset="0"/>
              </a:rPr>
              <a:t>third-party providers </a:t>
            </a:r>
            <a:r>
              <a:rPr lang="en-US" sz="2200" kern="100" dirty="0">
                <a:latin typeface="+mn-lt"/>
                <a:ea typeface="Aptos" panose="020B0004020202020204" pitchFamily="34" charset="0"/>
                <a:cs typeface="Arial" panose="020B0604020202020204" pitchFamily="34" charset="0"/>
              </a:rPr>
              <a:t>(in GPT4 +) learning to predict the next word in a sentence. </a:t>
            </a:r>
          </a:p>
          <a:p>
            <a:pPr marL="352425" indent="-342900">
              <a:spcBef>
                <a:spcPts val="255"/>
              </a:spcBef>
              <a:buFont typeface="Arial" panose="020B0604020202020204" pitchFamily="34" charset="0"/>
              <a:buChar char="•"/>
              <a:tabLst>
                <a:tab pos="132874" algn="l"/>
              </a:tabLst>
            </a:pPr>
            <a:r>
              <a:rPr lang="en-US" sz="2200" kern="100" dirty="0">
                <a:latin typeface="+mn-lt"/>
                <a:ea typeface="Aptos" panose="020B0004020202020204" pitchFamily="34" charset="0"/>
                <a:cs typeface="Arial" panose="020B0604020202020204" pitchFamily="34" charset="0"/>
              </a:rPr>
              <a:t>A </a:t>
            </a:r>
            <a:r>
              <a:rPr lang="en-US" sz="2200" kern="100" dirty="0">
                <a:solidFill>
                  <a:srgbClr val="C00000"/>
                </a:solidFill>
                <a:latin typeface="+mn-lt"/>
                <a:ea typeface="Aptos" panose="020B0004020202020204" pitchFamily="34" charset="0"/>
                <a:cs typeface="Arial" panose="020B0604020202020204" pitchFamily="34" charset="0"/>
              </a:rPr>
              <a:t>general-purpose model </a:t>
            </a:r>
            <a:r>
              <a:rPr lang="en-US" sz="2200" kern="100" dirty="0">
                <a:latin typeface="+mn-lt"/>
                <a:ea typeface="Aptos" panose="020B0004020202020204" pitchFamily="34" charset="0"/>
                <a:cs typeface="Arial" panose="020B0604020202020204" pitchFamily="34" charset="0"/>
              </a:rPr>
              <a:t>capable of generating text that </a:t>
            </a:r>
            <a:r>
              <a:rPr lang="en-US" sz="2200" kern="100" dirty="0">
                <a:solidFill>
                  <a:srgbClr val="C00000"/>
                </a:solidFill>
                <a:latin typeface="+mn-lt"/>
                <a:ea typeface="Aptos" panose="020B0004020202020204" pitchFamily="34" charset="0"/>
                <a:cs typeface="Arial" panose="020B0604020202020204" pitchFamily="34" charset="0"/>
              </a:rPr>
              <a:t>mimics human </a:t>
            </a:r>
            <a:r>
              <a:rPr lang="en-US" sz="2200" kern="100" dirty="0">
                <a:latin typeface="+mn-lt"/>
                <a:ea typeface="Aptos" panose="020B0004020202020204" pitchFamily="34" charset="0"/>
                <a:cs typeface="Arial" panose="020B0604020202020204" pitchFamily="34" charset="0"/>
              </a:rPr>
              <a:t>writing, performing tasks like translation, summarization, and question answering.</a:t>
            </a:r>
            <a:endParaRPr lang="en-US" sz="2100" dirty="0">
              <a:latin typeface="+mn-lt"/>
              <a:cs typeface="Calibri"/>
            </a:endParaRPr>
          </a:p>
          <a:p>
            <a:pPr marL="9525">
              <a:spcBef>
                <a:spcPts val="255"/>
              </a:spcBef>
              <a:tabLst>
                <a:tab pos="132874" algn="l"/>
              </a:tabLst>
            </a:pPr>
            <a:endParaRPr lang="en-US" sz="2100" dirty="0">
              <a:latin typeface="+mn-lt"/>
              <a:cs typeface="Calibri"/>
            </a:endParaRPr>
          </a:p>
        </p:txBody>
      </p:sp>
      <p:pic>
        <p:nvPicPr>
          <p:cNvPr id="6" name="Picture 5">
            <a:extLst>
              <a:ext uri="{FF2B5EF4-FFF2-40B4-BE49-F238E27FC236}">
                <a16:creationId xmlns:a16="http://schemas.microsoft.com/office/drawing/2014/main" id="{6A06AF2A-85BA-C18F-F853-F45F93DB1405}"/>
              </a:ext>
            </a:extLst>
          </p:cNvPr>
          <p:cNvPicPr>
            <a:picLocks noChangeAspect="1"/>
          </p:cNvPicPr>
          <p:nvPr/>
        </p:nvPicPr>
        <p:blipFill>
          <a:blip r:embed="rId2"/>
          <a:stretch>
            <a:fillRect/>
          </a:stretch>
        </p:blipFill>
        <p:spPr>
          <a:xfrm>
            <a:off x="9655224" y="1241776"/>
            <a:ext cx="2369338" cy="465612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9E1B0-9FF1-D7EC-2BF9-7B9740F06251}"/>
              </a:ext>
            </a:extLst>
          </p:cNvPr>
          <p:cNvSpPr>
            <a:spLocks noGrp="1"/>
          </p:cNvSpPr>
          <p:nvPr>
            <p:ph type="title"/>
          </p:nvPr>
        </p:nvSpPr>
        <p:spPr>
          <a:xfrm>
            <a:off x="704636" y="381484"/>
            <a:ext cx="10515600" cy="1325563"/>
          </a:xfrm>
        </p:spPr>
        <p:txBody>
          <a:bodyPr/>
          <a:lstStyle/>
          <a:p>
            <a:r>
              <a:rPr lang="en-US" dirty="0"/>
              <a:t>GPT Model</a:t>
            </a:r>
            <a:r>
              <a:rPr lang="en-US" spc="-161" dirty="0"/>
              <a:t> </a:t>
            </a:r>
            <a:r>
              <a:rPr lang="en-US" spc="-23" dirty="0"/>
              <a:t>Architecture</a:t>
            </a:r>
            <a:endParaRPr lang="en-US" dirty="0"/>
          </a:p>
        </p:txBody>
      </p:sp>
      <p:sp>
        <p:nvSpPr>
          <p:cNvPr id="3" name="Content Placeholder 2">
            <a:extLst>
              <a:ext uri="{FF2B5EF4-FFF2-40B4-BE49-F238E27FC236}">
                <a16:creationId xmlns:a16="http://schemas.microsoft.com/office/drawing/2014/main" id="{B3DF6CB1-43BE-636D-75FE-FEC062D2E125}"/>
              </a:ext>
            </a:extLst>
          </p:cNvPr>
          <p:cNvSpPr>
            <a:spLocks noGrp="1"/>
          </p:cNvSpPr>
          <p:nvPr>
            <p:ph idx="1"/>
          </p:nvPr>
        </p:nvSpPr>
        <p:spPr>
          <a:xfrm>
            <a:off x="716121" y="1467650"/>
            <a:ext cx="7483867" cy="5047394"/>
          </a:xfrm>
        </p:spPr>
        <p:txBody>
          <a:bodyPr/>
          <a:lstStyle/>
          <a:p>
            <a:pPr marL="0" marR="0" indent="0">
              <a:lnSpc>
                <a:spcPct val="107000"/>
              </a:lnSpc>
              <a:spcBef>
                <a:spcPts val="0"/>
              </a:spcBef>
              <a:spcAft>
                <a:spcPts val="800"/>
              </a:spcAft>
              <a:buNone/>
            </a:pPr>
            <a:r>
              <a:rPr lang="en-US" sz="2400" kern="100" dirty="0">
                <a:effectLst/>
                <a:ea typeface="Aptos" panose="020B0004020202020204" pitchFamily="34" charset="0"/>
                <a:cs typeface="Arial" panose="020B0604020202020204" pitchFamily="34" charset="0"/>
              </a:rPr>
              <a:t>Multi-layer transformer </a:t>
            </a:r>
            <a:r>
              <a:rPr lang="en-US" sz="2400" kern="100" dirty="0">
                <a:solidFill>
                  <a:srgbClr val="C00000"/>
                </a:solidFill>
                <a:effectLst/>
                <a:ea typeface="Aptos" panose="020B0004020202020204" pitchFamily="34" charset="0"/>
                <a:cs typeface="Arial" panose="020B0604020202020204" pitchFamily="34" charset="0"/>
              </a:rPr>
              <a:t>decoder</a:t>
            </a:r>
            <a:r>
              <a:rPr lang="en-US" sz="2400" kern="100" dirty="0">
                <a:effectLst/>
                <a:ea typeface="Aptos" panose="020B0004020202020204" pitchFamily="34" charset="0"/>
                <a:cs typeface="Arial" panose="020B0604020202020204" pitchFamily="34" charset="0"/>
              </a:rPr>
              <a:t> model:</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kern="100" dirty="0">
                <a:effectLst/>
                <a:ea typeface="Aptos" panose="020B0004020202020204" pitchFamily="34" charset="0"/>
                <a:cs typeface="Arial" panose="020B0604020202020204" pitchFamily="34" charset="0"/>
              </a:rPr>
              <a:t>The number of attention </a:t>
            </a:r>
            <a:r>
              <a:rPr lang="en-US" sz="2400" kern="100" dirty="0">
                <a:solidFill>
                  <a:srgbClr val="C00000"/>
                </a:solidFill>
                <a:effectLst/>
                <a:ea typeface="Aptos" panose="020B0004020202020204" pitchFamily="34" charset="0"/>
                <a:cs typeface="Arial" panose="020B0604020202020204" pitchFamily="34" charset="0"/>
              </a:rPr>
              <a:t>heads</a:t>
            </a:r>
            <a:r>
              <a:rPr lang="en-US" sz="2400" kern="100" dirty="0">
                <a:effectLst/>
                <a:ea typeface="Aptos" panose="020B0004020202020204" pitchFamily="34" charset="0"/>
                <a:cs typeface="Arial" panose="020B0604020202020204" pitchFamily="34" charset="0"/>
              </a:rPr>
              <a:t> in GPT3 is </a:t>
            </a:r>
            <a:r>
              <a:rPr lang="en-US" sz="2400" kern="100" dirty="0">
                <a:solidFill>
                  <a:srgbClr val="C00000"/>
                </a:solidFill>
                <a:effectLst/>
                <a:ea typeface="Aptos" panose="020B0004020202020204" pitchFamily="34" charset="0"/>
                <a:cs typeface="Arial" panose="020B0604020202020204" pitchFamily="34" charset="0"/>
              </a:rPr>
              <a:t>96</a:t>
            </a:r>
            <a:r>
              <a:rPr lang="en-US" sz="2400" kern="100" dirty="0">
                <a:effectLst/>
                <a:ea typeface="Aptos" panose="020B0004020202020204" pitchFamily="34" charset="0"/>
                <a:cs typeface="Arial" panose="020B0604020202020204" pitchFamily="34" charset="0"/>
              </a:rPr>
              <a:t>.</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kern="100" dirty="0">
                <a:effectLst/>
                <a:ea typeface="Aptos" panose="020B0004020202020204" pitchFamily="34" charset="0"/>
                <a:cs typeface="Arial" panose="020B0604020202020204" pitchFamily="34" charset="0"/>
              </a:rPr>
              <a:t>The number of attention </a:t>
            </a:r>
            <a:r>
              <a:rPr lang="en-US" sz="2400" kern="100" dirty="0">
                <a:solidFill>
                  <a:srgbClr val="C00000"/>
                </a:solidFill>
                <a:effectLst/>
                <a:ea typeface="Aptos" panose="020B0004020202020204" pitchFamily="34" charset="0"/>
                <a:cs typeface="Arial" panose="020B0604020202020204" pitchFamily="34" charset="0"/>
              </a:rPr>
              <a:t>layers</a:t>
            </a:r>
            <a:r>
              <a:rPr lang="en-US" sz="2400" kern="100" dirty="0">
                <a:effectLst/>
                <a:ea typeface="Aptos" panose="020B0004020202020204" pitchFamily="34" charset="0"/>
                <a:cs typeface="Arial" panose="020B0604020202020204" pitchFamily="34" charset="0"/>
              </a:rPr>
              <a:t>  in GPT3 is </a:t>
            </a:r>
            <a:r>
              <a:rPr lang="en-US" sz="2400" kern="100" dirty="0">
                <a:solidFill>
                  <a:srgbClr val="C00000"/>
                </a:solidFill>
                <a:effectLst/>
                <a:ea typeface="Aptos" panose="020B0004020202020204" pitchFamily="34" charset="0"/>
                <a:cs typeface="Arial" panose="020B0604020202020204" pitchFamily="34" charset="0"/>
              </a:rPr>
              <a:t>96</a:t>
            </a:r>
            <a:r>
              <a:rPr lang="en-US" sz="2400" kern="100" dirty="0">
                <a:effectLst/>
                <a:ea typeface="Aptos" panose="020B0004020202020204" pitchFamily="34" charset="0"/>
                <a:cs typeface="Arial" panose="020B0604020202020204" pitchFamily="34" charset="0"/>
              </a:rPr>
              <a:t>.</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kern="100" dirty="0">
                <a:solidFill>
                  <a:srgbClr val="C00000"/>
                </a:solidFill>
                <a:effectLst/>
                <a:ea typeface="Aptos" panose="020B0004020202020204" pitchFamily="34" charset="0"/>
                <a:cs typeface="Arial" panose="020B0604020202020204" pitchFamily="34" charset="0"/>
              </a:rPr>
              <a:t>175 billion </a:t>
            </a:r>
            <a:r>
              <a:rPr lang="en-US" sz="2400" kern="100" dirty="0">
                <a:effectLst/>
                <a:ea typeface="Aptos" panose="020B0004020202020204" pitchFamily="34" charset="0"/>
                <a:cs typeface="Arial" panose="020B0604020202020204" pitchFamily="34" charset="0"/>
              </a:rPr>
              <a:t>parameters  in GPT3</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kern="100" dirty="0">
                <a:solidFill>
                  <a:srgbClr val="C00000"/>
                </a:solidFill>
                <a:effectLst/>
                <a:ea typeface="Aptos" panose="020B0004020202020204" pitchFamily="34" charset="0"/>
                <a:cs typeface="Arial" panose="020B0604020202020204" pitchFamily="34" charset="0"/>
              </a:rPr>
              <a:t>Dimensions</a:t>
            </a:r>
            <a:r>
              <a:rPr lang="en-US" sz="2400" kern="100" dirty="0">
                <a:effectLst/>
                <a:ea typeface="Aptos" panose="020B0004020202020204" pitchFamily="34" charset="0"/>
                <a:cs typeface="Arial" panose="020B0604020202020204" pitchFamily="34" charset="0"/>
              </a:rPr>
              <a:t> of each attention head in GPT3  is </a:t>
            </a:r>
            <a:r>
              <a:rPr lang="en-US" sz="2400" kern="100" dirty="0">
                <a:solidFill>
                  <a:srgbClr val="C00000"/>
                </a:solidFill>
                <a:effectLst/>
                <a:ea typeface="Aptos" panose="020B0004020202020204" pitchFamily="34" charset="0"/>
                <a:cs typeface="Arial" panose="020B0604020202020204" pitchFamily="34" charset="0"/>
              </a:rPr>
              <a:t>128</a:t>
            </a:r>
            <a:r>
              <a:rPr lang="en-US" sz="2400" kern="100" dirty="0">
                <a:effectLst/>
                <a:ea typeface="Aptos" panose="020B0004020202020204" pitchFamily="34" charset="0"/>
                <a:cs typeface="Arial" panose="020B0604020202020204" pitchFamily="34" charset="0"/>
              </a:rPr>
              <a:t>, which means that the total attention head size per layer is 96×128=</a:t>
            </a:r>
            <a:r>
              <a:rPr lang="en-US" sz="2400" kern="100" dirty="0">
                <a:solidFill>
                  <a:srgbClr val="C00000"/>
                </a:solidFill>
                <a:effectLst/>
                <a:ea typeface="Aptos" panose="020B0004020202020204" pitchFamily="34" charset="0"/>
                <a:cs typeface="Arial" panose="020B0604020202020204" pitchFamily="34" charset="0"/>
              </a:rPr>
              <a:t>12,288</a:t>
            </a:r>
            <a:r>
              <a:rPr lang="en-US" sz="2400" kern="100" dirty="0">
                <a:effectLst/>
                <a:ea typeface="Aptos" panose="020B0004020202020204" pitchFamily="34" charset="0"/>
                <a:cs typeface="Arial" panose="020B0604020202020204" pitchFamily="34" charset="0"/>
              </a:rPr>
              <a:t> (size of </a:t>
            </a:r>
            <a:r>
              <a:rPr lang="en-US" sz="2400" kern="100" dirty="0">
                <a:solidFill>
                  <a:srgbClr val="C00000"/>
                </a:solidFill>
                <a:effectLst/>
                <a:ea typeface="Aptos" panose="020B0004020202020204" pitchFamily="34" charset="0"/>
                <a:cs typeface="Arial" panose="020B0604020202020204" pitchFamily="34" charset="0"/>
              </a:rPr>
              <a:t>embedding</a:t>
            </a:r>
            <a:r>
              <a:rPr lang="en-US" sz="2400" kern="100" dirty="0">
                <a:effectLst/>
                <a:ea typeface="Aptos" panose="020B0004020202020204" pitchFamily="34" charset="0"/>
                <a:cs typeface="Arial" panose="020B0604020202020204" pitchFamily="34" charset="0"/>
              </a:rPr>
              <a:t>)</a:t>
            </a:r>
          </a:p>
          <a:p>
            <a:pPr marL="180499" marR="282416" indent="-171450">
              <a:lnSpc>
                <a:spcPts val="2250"/>
              </a:lnSpc>
              <a:spcBef>
                <a:spcPts val="776"/>
              </a:spcBef>
              <a:buFont typeface="Arial"/>
              <a:buChar char="•"/>
              <a:tabLst>
                <a:tab pos="180499" algn="l"/>
              </a:tabLst>
            </a:pPr>
            <a:r>
              <a:rPr lang="en-US" sz="2400" dirty="0">
                <a:cs typeface="Calibri"/>
              </a:rPr>
              <a:t>Only </a:t>
            </a:r>
            <a:r>
              <a:rPr lang="en-US" sz="2400" dirty="0">
                <a:solidFill>
                  <a:srgbClr val="C00000"/>
                </a:solidFill>
                <a:cs typeface="Calibri"/>
              </a:rPr>
              <a:t>masked</a:t>
            </a:r>
            <a:r>
              <a:rPr lang="en-US" sz="2400" dirty="0">
                <a:cs typeface="Calibri"/>
              </a:rPr>
              <a:t> attention (no cross-attention and self-attention since there is no encoder)</a:t>
            </a:r>
          </a:p>
          <a:p>
            <a:pPr marL="180499" marR="282416" indent="-171450">
              <a:lnSpc>
                <a:spcPts val="2250"/>
              </a:lnSpc>
              <a:spcBef>
                <a:spcPts val="776"/>
              </a:spcBef>
              <a:buFont typeface="Arial"/>
              <a:buChar char="•"/>
              <a:tabLst>
                <a:tab pos="180499" algn="l"/>
              </a:tabLst>
            </a:pPr>
            <a:r>
              <a:rPr lang="en-US" sz="2400" spc="-8" dirty="0">
                <a:solidFill>
                  <a:srgbClr val="C00000"/>
                </a:solidFill>
                <a:cs typeface="Carlito"/>
              </a:rPr>
              <a:t>BPE</a:t>
            </a:r>
            <a:r>
              <a:rPr lang="en-US" sz="2400" spc="-105" dirty="0">
                <a:cs typeface="Carlito"/>
              </a:rPr>
              <a:t> </a:t>
            </a:r>
            <a:r>
              <a:rPr lang="en-US" sz="2400" spc="-8" dirty="0">
                <a:cs typeface="Carlito"/>
              </a:rPr>
              <a:t>embedding</a:t>
            </a:r>
          </a:p>
          <a:p>
            <a:pPr marL="9049" marR="282416" indent="0">
              <a:lnSpc>
                <a:spcPts val="2250"/>
              </a:lnSpc>
              <a:spcBef>
                <a:spcPts val="776"/>
              </a:spcBef>
              <a:buNone/>
              <a:tabLst>
                <a:tab pos="180499" algn="l"/>
              </a:tabLst>
            </a:pPr>
            <a:endParaRPr lang="en-US" sz="2400" spc="-8" dirty="0">
              <a:cs typeface="Carlito"/>
            </a:endParaRPr>
          </a:p>
          <a:p>
            <a:pPr marL="9049" marR="282416" indent="0">
              <a:lnSpc>
                <a:spcPts val="2250"/>
              </a:lnSpc>
              <a:spcBef>
                <a:spcPts val="776"/>
              </a:spcBef>
              <a:buNone/>
              <a:tabLst>
                <a:tab pos="180499" algn="l"/>
              </a:tabLst>
            </a:pPr>
            <a:r>
              <a:rPr lang="en-US" sz="2000" kern="100" dirty="0" err="1">
                <a:solidFill>
                  <a:srgbClr val="C00000"/>
                </a:solidFill>
                <a:effectLst/>
                <a:ea typeface="Aptos" panose="020B0004020202020204" pitchFamily="34" charset="0"/>
                <a:cs typeface="Arial" panose="020B0604020202020204" pitchFamily="34" charset="0"/>
              </a:rPr>
              <a:t>DeepSeek</a:t>
            </a:r>
            <a:r>
              <a:rPr lang="en-US" sz="2000" kern="100" dirty="0">
                <a:solidFill>
                  <a:srgbClr val="C00000"/>
                </a:solidFill>
                <a:effectLst/>
                <a:ea typeface="Aptos" panose="020B0004020202020204" pitchFamily="34" charset="0"/>
                <a:cs typeface="Arial" panose="020B0604020202020204" pitchFamily="34" charset="0"/>
              </a:rPr>
              <a:t> R1</a:t>
            </a:r>
            <a:r>
              <a:rPr lang="en-US" sz="2000" kern="100" dirty="0">
                <a:effectLst/>
                <a:ea typeface="Aptos" panose="020B0004020202020204" pitchFamily="34" charset="0"/>
                <a:cs typeface="Arial" panose="020B0604020202020204" pitchFamily="34" charset="0"/>
              </a:rPr>
              <a:t>,</a:t>
            </a:r>
            <a:r>
              <a:rPr lang="en-US" sz="2000" kern="100" dirty="0">
                <a:solidFill>
                  <a:srgbClr val="C00000"/>
                </a:solidFill>
                <a:effectLst/>
                <a:ea typeface="Aptos" panose="020B0004020202020204" pitchFamily="34" charset="0"/>
                <a:cs typeface="Arial" panose="020B0604020202020204" pitchFamily="34" charset="0"/>
              </a:rPr>
              <a:t> Grok </a:t>
            </a:r>
            <a:r>
              <a:rPr lang="en-US" sz="2000" kern="100" dirty="0">
                <a:effectLst/>
                <a:ea typeface="Aptos" panose="020B0004020202020204" pitchFamily="34" charset="0"/>
                <a:cs typeface="Arial" panose="020B0604020202020204" pitchFamily="34" charset="0"/>
              </a:rPr>
              <a:t>and </a:t>
            </a:r>
            <a:r>
              <a:rPr lang="en-US" sz="2000" kern="100" dirty="0">
                <a:solidFill>
                  <a:srgbClr val="C00000"/>
                </a:solidFill>
                <a:effectLst/>
                <a:ea typeface="Aptos" panose="020B0004020202020204" pitchFamily="34" charset="0"/>
                <a:cs typeface="Arial" panose="020B0604020202020204" pitchFamily="34" charset="0"/>
              </a:rPr>
              <a:t>Claude</a:t>
            </a:r>
            <a:r>
              <a:rPr lang="en-US" sz="2000" kern="100" dirty="0">
                <a:effectLst/>
                <a:ea typeface="Aptos" panose="020B0004020202020204" pitchFamily="34" charset="0"/>
                <a:cs typeface="Arial" panose="020B0604020202020204" pitchFamily="34" charset="0"/>
              </a:rPr>
              <a:t> are also decoder only models</a:t>
            </a:r>
          </a:p>
          <a:p>
            <a:pPr marL="0" indent="0">
              <a:buNone/>
            </a:pPr>
            <a:endParaRPr lang="en-US" sz="2400" dirty="0"/>
          </a:p>
        </p:txBody>
      </p:sp>
      <p:pic>
        <p:nvPicPr>
          <p:cNvPr id="8" name="Picture 7">
            <a:extLst>
              <a:ext uri="{FF2B5EF4-FFF2-40B4-BE49-F238E27FC236}">
                <a16:creationId xmlns:a16="http://schemas.microsoft.com/office/drawing/2014/main" id="{7F4F950E-792B-30DE-17B9-C3A67342ADD3}"/>
              </a:ext>
            </a:extLst>
          </p:cNvPr>
          <p:cNvPicPr>
            <a:picLocks noChangeAspect="1"/>
          </p:cNvPicPr>
          <p:nvPr/>
        </p:nvPicPr>
        <p:blipFill>
          <a:blip r:embed="rId2"/>
          <a:stretch>
            <a:fillRect/>
          </a:stretch>
        </p:blipFill>
        <p:spPr>
          <a:xfrm>
            <a:off x="8173448" y="678094"/>
            <a:ext cx="3238374" cy="2429837"/>
          </a:xfrm>
          <a:prstGeom prst="rect">
            <a:avLst/>
          </a:prstGeom>
        </p:spPr>
      </p:pic>
      <p:pic>
        <p:nvPicPr>
          <p:cNvPr id="6" name="Picture 5">
            <a:extLst>
              <a:ext uri="{FF2B5EF4-FFF2-40B4-BE49-F238E27FC236}">
                <a16:creationId xmlns:a16="http://schemas.microsoft.com/office/drawing/2014/main" id="{C65E128F-E022-2752-415B-B940769B76F7}"/>
              </a:ext>
            </a:extLst>
          </p:cNvPr>
          <p:cNvPicPr>
            <a:picLocks noChangeAspect="1"/>
          </p:cNvPicPr>
          <p:nvPr/>
        </p:nvPicPr>
        <p:blipFill>
          <a:blip r:embed="rId3"/>
          <a:stretch>
            <a:fillRect/>
          </a:stretch>
        </p:blipFill>
        <p:spPr>
          <a:xfrm>
            <a:off x="8418157" y="3750070"/>
            <a:ext cx="3504200" cy="2679682"/>
          </a:xfrm>
          <a:prstGeom prst="rect">
            <a:avLst/>
          </a:prstGeom>
        </p:spPr>
      </p:pic>
    </p:spTree>
    <p:extLst>
      <p:ext uri="{BB962C8B-B14F-4D97-AF65-F5344CB8AC3E}">
        <p14:creationId xmlns:p14="http://schemas.microsoft.com/office/powerpoint/2010/main" val="38627865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FA329-FAA5-DC4E-627C-B4845E12FB33}"/>
              </a:ext>
            </a:extLst>
          </p:cNvPr>
          <p:cNvSpPr>
            <a:spLocks noGrp="1"/>
          </p:cNvSpPr>
          <p:nvPr>
            <p:ph type="title"/>
          </p:nvPr>
        </p:nvSpPr>
        <p:spPr/>
        <p:txBody>
          <a:bodyPr/>
          <a:lstStyle/>
          <a:p>
            <a:r>
              <a:rPr lang="en-US" dirty="0"/>
              <a:t>Why No Encoder?</a:t>
            </a:r>
          </a:p>
        </p:txBody>
      </p:sp>
      <p:sp>
        <p:nvSpPr>
          <p:cNvPr id="3" name="Content Placeholder 2">
            <a:extLst>
              <a:ext uri="{FF2B5EF4-FFF2-40B4-BE49-F238E27FC236}">
                <a16:creationId xmlns:a16="http://schemas.microsoft.com/office/drawing/2014/main" id="{3127D97D-1AAF-E704-7B7C-8C0C10D212BE}"/>
              </a:ext>
            </a:extLst>
          </p:cNvPr>
          <p:cNvSpPr>
            <a:spLocks noGrp="1"/>
          </p:cNvSpPr>
          <p:nvPr>
            <p:ph idx="1"/>
          </p:nvPr>
        </p:nvSpPr>
        <p:spPr>
          <a:xfrm>
            <a:off x="930668" y="1436483"/>
            <a:ext cx="10206519" cy="4351338"/>
          </a:xfrm>
        </p:spPr>
        <p:txBody>
          <a:bodyPr/>
          <a:lstStyle/>
          <a:p>
            <a:r>
              <a:rPr lang="en-US" sz="2400" dirty="0"/>
              <a:t>An encoder processes input text for </a:t>
            </a:r>
            <a:r>
              <a:rPr lang="en-US" sz="2400" dirty="0">
                <a:solidFill>
                  <a:srgbClr val="C00000"/>
                </a:solidFill>
              </a:rPr>
              <a:t>understanding</a:t>
            </a:r>
            <a:r>
              <a:rPr lang="en-US" sz="2400" dirty="0"/>
              <a:t> phase (NLU)</a:t>
            </a:r>
          </a:p>
          <a:p>
            <a:r>
              <a:rPr lang="en-US" sz="2400" dirty="0"/>
              <a:t>The main task of GPT is </a:t>
            </a:r>
            <a:r>
              <a:rPr lang="en-US" sz="2400" dirty="0">
                <a:solidFill>
                  <a:srgbClr val="C00000"/>
                </a:solidFill>
              </a:rPr>
              <a:t>text generation</a:t>
            </a:r>
            <a:r>
              <a:rPr lang="en-US" sz="2400" dirty="0"/>
              <a:t>. </a:t>
            </a:r>
          </a:p>
          <a:p>
            <a:r>
              <a:rPr lang="en-US" sz="2400" dirty="0"/>
              <a:t>GPT </a:t>
            </a:r>
            <a:r>
              <a:rPr lang="en-US" sz="2400" dirty="0">
                <a:solidFill>
                  <a:srgbClr val="C00000"/>
                </a:solidFill>
              </a:rPr>
              <a:t>merges</a:t>
            </a:r>
            <a:r>
              <a:rPr lang="en-US" sz="2400" dirty="0"/>
              <a:t> the understanding and generation roles into decoder </a:t>
            </a:r>
          </a:p>
          <a:p>
            <a:r>
              <a:rPr lang="en-US" sz="2400" dirty="0">
                <a:solidFill>
                  <a:srgbClr val="C00000"/>
                </a:solidFill>
              </a:rPr>
              <a:t>User input </a:t>
            </a:r>
            <a:r>
              <a:rPr lang="en-US" sz="2400" dirty="0"/>
              <a:t>generates </a:t>
            </a:r>
            <a:r>
              <a:rPr lang="en-US" sz="2400" dirty="0">
                <a:solidFill>
                  <a:srgbClr val="C00000"/>
                </a:solidFill>
              </a:rPr>
              <a:t>context</a:t>
            </a:r>
            <a:r>
              <a:rPr lang="en-US" sz="2400" dirty="0"/>
              <a:t> using attention (understanding), then it adds to the input text token by token to complete the text (</a:t>
            </a:r>
            <a:r>
              <a:rPr lang="en-US" sz="2400" dirty="0">
                <a:solidFill>
                  <a:srgbClr val="C00000"/>
                </a:solidFill>
              </a:rPr>
              <a:t>a text completion task</a:t>
            </a:r>
            <a:r>
              <a:rPr lang="en-US" sz="2400" dirty="0"/>
              <a:t>)</a:t>
            </a:r>
          </a:p>
          <a:p>
            <a:r>
              <a:rPr lang="en-US" sz="2400" dirty="0"/>
              <a:t>For tasks like </a:t>
            </a:r>
            <a:r>
              <a:rPr lang="en-US" sz="2400" dirty="0">
                <a:solidFill>
                  <a:srgbClr val="C00000"/>
                </a:solidFill>
              </a:rPr>
              <a:t>translation</a:t>
            </a:r>
            <a:r>
              <a:rPr lang="en-US" sz="2400" dirty="0"/>
              <a:t> with two separate stages of understanding and generation, </a:t>
            </a:r>
            <a:r>
              <a:rPr lang="en-US" sz="2400" dirty="0">
                <a:solidFill>
                  <a:srgbClr val="C00000"/>
                </a:solidFill>
              </a:rPr>
              <a:t>encoder-decoder</a:t>
            </a:r>
            <a:r>
              <a:rPr lang="en-US" sz="2400" dirty="0"/>
              <a:t> models are better (e.g., </a:t>
            </a:r>
            <a:r>
              <a:rPr lang="en-US" sz="2400" dirty="0" err="1"/>
              <a:t>MarianMT</a:t>
            </a:r>
            <a:r>
              <a:rPr lang="en-US" sz="2400" dirty="0"/>
              <a:t> or BART)</a:t>
            </a:r>
          </a:p>
          <a:p>
            <a:r>
              <a:rPr lang="en-US" sz="2400" dirty="0"/>
              <a:t>GPT can also translates since </a:t>
            </a:r>
            <a:r>
              <a:rPr lang="en-US" sz="2400" dirty="0">
                <a:solidFill>
                  <a:srgbClr val="C00000"/>
                </a:solidFill>
              </a:rPr>
              <a:t>trained </a:t>
            </a:r>
            <a:r>
              <a:rPr lang="en-US" sz="2400" dirty="0"/>
              <a:t>on massive text including translations and learned the syntactic and semantic </a:t>
            </a:r>
            <a:r>
              <a:rPr lang="en-US" sz="2400" dirty="0">
                <a:solidFill>
                  <a:srgbClr val="C00000"/>
                </a:solidFill>
              </a:rPr>
              <a:t>relationships </a:t>
            </a:r>
            <a:r>
              <a:rPr lang="en-US" sz="2400" dirty="0"/>
              <a:t>between</a:t>
            </a:r>
            <a:r>
              <a:rPr lang="en-US" sz="2400" dirty="0">
                <a:solidFill>
                  <a:srgbClr val="C00000"/>
                </a:solidFill>
              </a:rPr>
              <a:t> different languages</a:t>
            </a:r>
            <a:r>
              <a:rPr lang="en-US" sz="2400" dirty="0"/>
              <a:t>.</a:t>
            </a:r>
          </a:p>
          <a:p>
            <a:r>
              <a:rPr lang="en-US" sz="2400" dirty="0"/>
              <a:t>Having </a:t>
            </a:r>
            <a:r>
              <a:rPr lang="en-US" sz="2400" dirty="0">
                <a:solidFill>
                  <a:srgbClr val="C00000"/>
                </a:solidFill>
              </a:rPr>
              <a:t>two towers </a:t>
            </a:r>
            <a:r>
              <a:rPr lang="en-US" sz="2400" dirty="0"/>
              <a:t>(encoder + decoder) and cross attention doubles parameters. Empirical evidence show that </a:t>
            </a:r>
            <a:r>
              <a:rPr lang="en-US" sz="2400" dirty="0">
                <a:solidFill>
                  <a:srgbClr val="C00000"/>
                </a:solidFill>
              </a:rPr>
              <a:t>decoder-only models scale better</a:t>
            </a:r>
            <a:r>
              <a:rPr lang="en-US" sz="2400" dirty="0"/>
              <a:t> with data and parameters for </a:t>
            </a:r>
            <a:r>
              <a:rPr lang="en-US" sz="2400" dirty="0">
                <a:solidFill>
                  <a:srgbClr val="C00000"/>
                </a:solidFill>
              </a:rPr>
              <a:t>general-purpose</a:t>
            </a:r>
            <a:r>
              <a:rPr lang="en-US" sz="2400" dirty="0"/>
              <a:t> tasks</a:t>
            </a:r>
          </a:p>
          <a:p>
            <a:endParaRPr lang="en-US" sz="2400" dirty="0"/>
          </a:p>
        </p:txBody>
      </p:sp>
      <p:pic>
        <p:nvPicPr>
          <p:cNvPr id="6" name="Picture 5">
            <a:extLst>
              <a:ext uri="{FF2B5EF4-FFF2-40B4-BE49-F238E27FC236}">
                <a16:creationId xmlns:a16="http://schemas.microsoft.com/office/drawing/2014/main" id="{8E428E5F-005F-F9C8-903B-0A99F74BCB69}"/>
              </a:ext>
            </a:extLst>
          </p:cNvPr>
          <p:cNvPicPr>
            <a:picLocks noChangeAspect="1"/>
          </p:cNvPicPr>
          <p:nvPr/>
        </p:nvPicPr>
        <p:blipFill>
          <a:blip r:embed="rId2"/>
          <a:stretch>
            <a:fillRect/>
          </a:stretch>
        </p:blipFill>
        <p:spPr>
          <a:xfrm>
            <a:off x="9565239" y="1321297"/>
            <a:ext cx="2318535" cy="1334683"/>
          </a:xfrm>
          <a:prstGeom prst="rect">
            <a:avLst/>
          </a:prstGeom>
        </p:spPr>
      </p:pic>
    </p:spTree>
    <p:extLst>
      <p:ext uri="{BB962C8B-B14F-4D97-AF65-F5344CB8AC3E}">
        <p14:creationId xmlns:p14="http://schemas.microsoft.com/office/powerpoint/2010/main" val="13613949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756628-EFBA-C9A0-FB1E-C44A7D5CE18C}"/>
              </a:ext>
            </a:extLst>
          </p:cNvPr>
          <p:cNvPicPr>
            <a:picLocks noChangeAspect="1"/>
          </p:cNvPicPr>
          <p:nvPr/>
        </p:nvPicPr>
        <p:blipFill>
          <a:blip r:embed="rId2"/>
          <a:stretch>
            <a:fillRect/>
          </a:stretch>
        </p:blipFill>
        <p:spPr>
          <a:xfrm>
            <a:off x="8865220" y="1278510"/>
            <a:ext cx="3439836" cy="5283094"/>
          </a:xfrm>
          <a:prstGeom prst="rect">
            <a:avLst/>
          </a:prstGeom>
        </p:spPr>
      </p:pic>
      <p:sp>
        <p:nvSpPr>
          <p:cNvPr id="2" name="object 2"/>
          <p:cNvSpPr txBox="1">
            <a:spLocks noGrp="1"/>
          </p:cNvSpPr>
          <p:nvPr>
            <p:ph type="title"/>
          </p:nvPr>
        </p:nvSpPr>
        <p:spPr>
          <a:xfrm>
            <a:off x="1031203" y="546167"/>
            <a:ext cx="7951472" cy="619016"/>
          </a:xfrm>
          <a:prstGeom prst="rect">
            <a:avLst/>
          </a:prstGeom>
        </p:spPr>
        <p:txBody>
          <a:bodyPr vert="horz" wrap="square" lIns="0" tIns="9525" rIns="0" bIns="0" numCol="1" rtlCol="0" anchor="ctr" anchorCtr="0" compatLnSpc="1">
            <a:prstTxWarp prst="textNoShape">
              <a:avLst/>
            </a:prstTxWarp>
            <a:spAutoFit/>
          </a:bodyPr>
          <a:lstStyle/>
          <a:p>
            <a:pPr marL="9525">
              <a:spcBef>
                <a:spcPts val="75"/>
              </a:spcBef>
            </a:pPr>
            <a:r>
              <a:rPr dirty="0"/>
              <a:t>BERT</a:t>
            </a:r>
            <a:r>
              <a:rPr spc="-165" dirty="0"/>
              <a:t> </a:t>
            </a:r>
            <a:endParaRPr spc="-23" dirty="0"/>
          </a:p>
        </p:txBody>
      </p:sp>
      <p:sp>
        <p:nvSpPr>
          <p:cNvPr id="3" name="object 3"/>
          <p:cNvSpPr txBox="1"/>
          <p:nvPr/>
        </p:nvSpPr>
        <p:spPr>
          <a:xfrm>
            <a:off x="1031203" y="1481376"/>
            <a:ext cx="8266909" cy="5542223"/>
          </a:xfrm>
          <a:prstGeom prst="rect">
            <a:avLst/>
          </a:prstGeom>
        </p:spPr>
        <p:txBody>
          <a:bodyPr vert="horz" wrap="square" lIns="0" tIns="35243" rIns="0" bIns="0" rtlCol="0">
            <a:spAutoFit/>
          </a:bodyPr>
          <a:lstStyle/>
          <a:p>
            <a:pPr marL="9525">
              <a:spcBef>
                <a:spcPts val="75"/>
              </a:spcBef>
              <a:tabLst>
                <a:tab pos="132874" algn="l"/>
              </a:tabLst>
            </a:pPr>
            <a:r>
              <a:rPr lang="en-US" sz="2400" b="1" spc="-8" dirty="0">
                <a:latin typeface="+mn-lt"/>
                <a:cs typeface="Calibri"/>
              </a:rPr>
              <a:t>BERT </a:t>
            </a:r>
            <a:r>
              <a:rPr lang="en-US" sz="2400" dirty="0">
                <a:latin typeface="+mn-lt"/>
                <a:cs typeface="Calibri"/>
              </a:rPr>
              <a:t>:</a:t>
            </a:r>
            <a:r>
              <a:rPr lang="en-US" sz="2400" spc="-64" dirty="0">
                <a:latin typeface="+mn-lt"/>
                <a:cs typeface="Calibri"/>
              </a:rPr>
              <a:t> </a:t>
            </a:r>
            <a:r>
              <a:rPr lang="en-US" sz="2400" b="1" spc="-8" dirty="0">
                <a:latin typeface="+mn-lt"/>
                <a:cs typeface="Calibri"/>
              </a:rPr>
              <a:t>Bidirectional Encoder Representations from Transformers </a:t>
            </a:r>
          </a:p>
          <a:p>
            <a:pPr marL="132874" indent="-123349">
              <a:spcBef>
                <a:spcPts val="75"/>
              </a:spcBef>
              <a:buFont typeface="Arial MT"/>
              <a:buChar char="•"/>
              <a:tabLst>
                <a:tab pos="132874" algn="l"/>
              </a:tabLst>
            </a:pPr>
            <a:r>
              <a:rPr lang="en-US" sz="2100" dirty="0">
                <a:latin typeface="+mn-lt"/>
                <a:cs typeface="Calibri"/>
              </a:rPr>
              <a:t>A</a:t>
            </a:r>
            <a:r>
              <a:rPr lang="en-US" sz="2100" spc="-30" dirty="0">
                <a:latin typeface="+mn-lt"/>
                <a:cs typeface="Calibri"/>
              </a:rPr>
              <a:t> </a:t>
            </a:r>
            <a:r>
              <a:rPr lang="en-US" sz="2100" spc="-8" dirty="0">
                <a:solidFill>
                  <a:srgbClr val="C00000"/>
                </a:solidFill>
                <a:latin typeface="+mn-lt"/>
                <a:cs typeface="Calibri"/>
              </a:rPr>
              <a:t>transformer</a:t>
            </a:r>
            <a:r>
              <a:rPr lang="en-US" sz="2100" spc="-34" dirty="0">
                <a:latin typeface="+mn-lt"/>
                <a:cs typeface="Calibri"/>
              </a:rPr>
              <a:t> </a:t>
            </a:r>
            <a:r>
              <a:rPr lang="en-US" sz="2100" dirty="0">
                <a:latin typeface="+mn-lt"/>
                <a:cs typeface="Calibri"/>
              </a:rPr>
              <a:t>model</a:t>
            </a:r>
            <a:r>
              <a:rPr lang="en-US" sz="2100" spc="-30" dirty="0">
                <a:latin typeface="+mn-lt"/>
                <a:cs typeface="Calibri"/>
              </a:rPr>
              <a:t> </a:t>
            </a:r>
            <a:r>
              <a:rPr lang="en-US" sz="2100" spc="-8" dirty="0">
                <a:latin typeface="+mn-lt"/>
                <a:cs typeface="Calibri"/>
              </a:rPr>
              <a:t>architecture</a:t>
            </a:r>
          </a:p>
          <a:p>
            <a:pPr marL="132874" indent="-123349">
              <a:spcBef>
                <a:spcPts val="75"/>
              </a:spcBef>
              <a:buFont typeface="Arial MT"/>
              <a:buChar char="•"/>
              <a:tabLst>
                <a:tab pos="132874" algn="l"/>
              </a:tabLst>
            </a:pPr>
            <a:r>
              <a:rPr lang="en-US" sz="2100" dirty="0">
                <a:latin typeface="+mn-lt"/>
                <a:cs typeface="Calibri"/>
              </a:rPr>
              <a:t>Stack of transformer </a:t>
            </a:r>
            <a:r>
              <a:rPr lang="en-US" sz="2100" dirty="0">
                <a:solidFill>
                  <a:srgbClr val="C00000"/>
                </a:solidFill>
                <a:latin typeface="+mn-lt"/>
                <a:cs typeface="Calibri"/>
              </a:rPr>
              <a:t>encoder</a:t>
            </a:r>
            <a:r>
              <a:rPr lang="en-US" sz="2100" dirty="0">
                <a:latin typeface="+mn-lt"/>
                <a:cs typeface="Calibri"/>
              </a:rPr>
              <a:t> layers (only encoder part of transformer)</a:t>
            </a:r>
          </a:p>
          <a:p>
            <a:pPr marL="132874" indent="-123349">
              <a:spcBef>
                <a:spcPts val="75"/>
              </a:spcBef>
              <a:buFont typeface="Arial MT"/>
              <a:buChar char="•"/>
              <a:tabLst>
                <a:tab pos="132874" algn="l"/>
              </a:tabLst>
            </a:pPr>
            <a:r>
              <a:rPr lang="en-US" sz="2100" dirty="0">
                <a:latin typeface="+mn-lt"/>
                <a:cs typeface="Calibri"/>
              </a:rPr>
              <a:t>Task-Specific Layers: linear and </a:t>
            </a:r>
            <a:r>
              <a:rPr lang="en-US" sz="2100" dirty="0" err="1">
                <a:solidFill>
                  <a:srgbClr val="C00000"/>
                </a:solidFill>
                <a:latin typeface="+mn-lt"/>
                <a:cs typeface="Calibri"/>
              </a:rPr>
              <a:t>softmax</a:t>
            </a:r>
            <a:r>
              <a:rPr lang="en-US" sz="2100" dirty="0">
                <a:latin typeface="+mn-lt"/>
                <a:cs typeface="Calibri"/>
              </a:rPr>
              <a:t> layers for </a:t>
            </a:r>
            <a:r>
              <a:rPr lang="en-US" sz="2100" dirty="0">
                <a:solidFill>
                  <a:srgbClr val="C00000"/>
                </a:solidFill>
                <a:latin typeface="+mn-lt"/>
                <a:cs typeface="Calibri"/>
              </a:rPr>
              <a:t>word</a:t>
            </a:r>
            <a:r>
              <a:rPr lang="en-US" sz="2100" dirty="0">
                <a:latin typeface="+mn-lt"/>
                <a:cs typeface="Calibri"/>
              </a:rPr>
              <a:t> prediction and </a:t>
            </a:r>
            <a:r>
              <a:rPr lang="en-US" sz="2100" dirty="0">
                <a:solidFill>
                  <a:srgbClr val="C00000"/>
                </a:solidFill>
                <a:latin typeface="+mn-lt"/>
                <a:cs typeface="Calibri"/>
              </a:rPr>
              <a:t>fully connected</a:t>
            </a:r>
            <a:r>
              <a:rPr lang="en-US" sz="2100" dirty="0">
                <a:latin typeface="+mn-lt"/>
                <a:cs typeface="Calibri"/>
              </a:rPr>
              <a:t> layer for </a:t>
            </a:r>
            <a:r>
              <a:rPr lang="en-US" sz="2100" dirty="0">
                <a:solidFill>
                  <a:srgbClr val="C00000"/>
                </a:solidFill>
                <a:latin typeface="+mn-lt"/>
                <a:cs typeface="Calibri"/>
              </a:rPr>
              <a:t>classification</a:t>
            </a:r>
            <a:r>
              <a:rPr lang="en-US" sz="2100" dirty="0">
                <a:latin typeface="+mn-lt"/>
                <a:cs typeface="Calibri"/>
              </a:rPr>
              <a:t>,… </a:t>
            </a:r>
          </a:p>
          <a:p>
            <a:pPr marL="9525">
              <a:spcBef>
                <a:spcPts val="255"/>
              </a:spcBef>
              <a:tabLst>
                <a:tab pos="132874" algn="l"/>
              </a:tabLst>
            </a:pPr>
            <a:r>
              <a:rPr lang="en-US" sz="2400" dirty="0">
                <a:latin typeface="+mn-lt"/>
                <a:cs typeface="Calibri"/>
              </a:rPr>
              <a:t>Goal:</a:t>
            </a:r>
            <a:r>
              <a:rPr lang="en-US" sz="2400" spc="-64" dirty="0">
                <a:latin typeface="+mn-lt"/>
                <a:cs typeface="Calibri"/>
              </a:rPr>
              <a:t> </a:t>
            </a:r>
            <a:r>
              <a:rPr lang="en-US" sz="2400" spc="-8" dirty="0">
                <a:latin typeface="+mn-lt"/>
                <a:cs typeface="Calibri"/>
              </a:rPr>
              <a:t>Understanding context / classification</a:t>
            </a:r>
            <a:endParaRPr lang="en-US" sz="2400" spc="-64" dirty="0">
              <a:latin typeface="+mn-lt"/>
              <a:cs typeface="Calibri"/>
            </a:endParaRPr>
          </a:p>
          <a:p>
            <a:pPr marL="9525">
              <a:spcBef>
                <a:spcPts val="278"/>
              </a:spcBef>
              <a:tabLst>
                <a:tab pos="180499" algn="l"/>
              </a:tabLst>
            </a:pPr>
            <a:r>
              <a:rPr lang="en-US" sz="2400" dirty="0">
                <a:latin typeface="+mn-lt"/>
                <a:cs typeface="Calibri"/>
              </a:rPr>
              <a:t>BERT is an </a:t>
            </a:r>
            <a:r>
              <a:rPr lang="en-US" sz="2400" dirty="0">
                <a:solidFill>
                  <a:srgbClr val="C00000"/>
                </a:solidFill>
                <a:latin typeface="+mn-lt"/>
                <a:cs typeface="Calibri"/>
              </a:rPr>
              <a:t>open source </a:t>
            </a:r>
            <a:r>
              <a:rPr lang="en-US" sz="2400" dirty="0">
                <a:latin typeface="+mn-lt"/>
                <a:cs typeface="Calibri"/>
              </a:rPr>
              <a:t>LLM from Google </a:t>
            </a:r>
          </a:p>
          <a:p>
            <a:pPr marL="9525">
              <a:spcBef>
                <a:spcPts val="278"/>
              </a:spcBef>
              <a:tabLst>
                <a:tab pos="180499" algn="l"/>
              </a:tabLst>
            </a:pPr>
            <a:endParaRPr lang="en-US" sz="2100" spc="-15" dirty="0">
              <a:latin typeface="Carlito"/>
              <a:cs typeface="Carlito"/>
            </a:endParaRPr>
          </a:p>
          <a:p>
            <a:pPr marL="9525">
              <a:spcBef>
                <a:spcPts val="278"/>
              </a:spcBef>
              <a:tabLst>
                <a:tab pos="180499" algn="l"/>
              </a:tabLst>
            </a:pPr>
            <a:endParaRPr lang="en-US" sz="2100" spc="-15" dirty="0">
              <a:latin typeface="Carlito"/>
              <a:cs typeface="Carlito"/>
            </a:endParaRPr>
          </a:p>
          <a:p>
            <a:pPr marL="9525">
              <a:spcBef>
                <a:spcPts val="278"/>
              </a:spcBef>
              <a:tabLst>
                <a:tab pos="180499" algn="l"/>
              </a:tabLst>
            </a:pPr>
            <a:r>
              <a:rPr lang="en-US" sz="2400" b="1" kern="100" dirty="0">
                <a:latin typeface="+mn-lt"/>
                <a:ea typeface="Aptos" panose="020B0004020202020204" pitchFamily="34" charset="0"/>
                <a:cs typeface="Arial" panose="020B0604020202020204" pitchFamily="34" charset="0"/>
              </a:rPr>
              <a:t>BERT Pre-training</a:t>
            </a:r>
            <a:r>
              <a:rPr lang="en-US" sz="2400" kern="100" dirty="0">
                <a:latin typeface="+mn-lt"/>
                <a:ea typeface="Aptos" panose="020B0004020202020204" pitchFamily="34" charset="0"/>
                <a:cs typeface="Arial" panose="020B0604020202020204" pitchFamily="34" charset="0"/>
              </a:rPr>
              <a:t>: </a:t>
            </a:r>
            <a:endParaRPr lang="en-US" sz="2100" spc="-15" dirty="0">
              <a:latin typeface="Carlito"/>
              <a:cs typeface="Carlito"/>
            </a:endParaRPr>
          </a:p>
          <a:p>
            <a:pPr marL="180499" indent="-170974">
              <a:spcBef>
                <a:spcPts val="278"/>
              </a:spcBef>
              <a:buFont typeface="Arial"/>
              <a:buChar char="•"/>
              <a:tabLst>
                <a:tab pos="180499" algn="l"/>
              </a:tabLst>
            </a:pPr>
            <a:r>
              <a:rPr lang="en-US" sz="2200" spc="-15" dirty="0">
                <a:latin typeface="Carlito"/>
                <a:cs typeface="Carlito"/>
              </a:rPr>
              <a:t>BERT is pre-trained on large amounts of </a:t>
            </a:r>
            <a:r>
              <a:rPr lang="en-US" sz="2200" spc="-15" dirty="0">
                <a:solidFill>
                  <a:srgbClr val="C00000"/>
                </a:solidFill>
                <a:latin typeface="Carlito"/>
                <a:cs typeface="Carlito"/>
              </a:rPr>
              <a:t>Wikipedia</a:t>
            </a:r>
            <a:r>
              <a:rPr lang="en-US" sz="2200" spc="-15" dirty="0">
                <a:latin typeface="Carlito"/>
                <a:cs typeface="Carlito"/>
              </a:rPr>
              <a:t> + </a:t>
            </a:r>
            <a:r>
              <a:rPr lang="en-US" sz="2200" spc="-15" dirty="0" err="1">
                <a:solidFill>
                  <a:srgbClr val="C00000"/>
                </a:solidFill>
                <a:latin typeface="Carlito"/>
                <a:cs typeface="Carlito"/>
              </a:rPr>
              <a:t>BooksCorpus</a:t>
            </a:r>
            <a:r>
              <a:rPr lang="en-US" sz="2200" spc="-15" dirty="0">
                <a:solidFill>
                  <a:srgbClr val="C00000"/>
                </a:solidFill>
                <a:latin typeface="Carlito"/>
                <a:cs typeface="Carlito"/>
              </a:rPr>
              <a:t> </a:t>
            </a:r>
            <a:r>
              <a:rPr lang="en-US" sz="2200" spc="-15" dirty="0">
                <a:latin typeface="Carlito"/>
                <a:cs typeface="Carlito"/>
              </a:rPr>
              <a:t>(11,000+ books).</a:t>
            </a:r>
          </a:p>
          <a:p>
            <a:pPr marL="180499" indent="-170974">
              <a:spcBef>
                <a:spcPts val="278"/>
              </a:spcBef>
              <a:buFont typeface="Arial"/>
              <a:buChar char="•"/>
              <a:tabLst>
                <a:tab pos="180499" algn="l"/>
              </a:tabLst>
            </a:pPr>
            <a:r>
              <a:rPr lang="en-US" sz="2200" spc="-15" dirty="0">
                <a:latin typeface="Carlito"/>
                <a:cs typeface="Carlito"/>
              </a:rPr>
              <a:t>BERT present high</a:t>
            </a:r>
            <a:r>
              <a:rPr lang="en-US" sz="2200" spc="-15" dirty="0">
                <a:latin typeface="Carlito"/>
              </a:rPr>
              <a:t> performance on a variety of NLP benchmarks including </a:t>
            </a:r>
            <a:r>
              <a:rPr lang="en-US" sz="2200" spc="-15" dirty="0">
                <a:solidFill>
                  <a:srgbClr val="C00000"/>
                </a:solidFill>
                <a:latin typeface="Carlito"/>
              </a:rPr>
              <a:t>classification</a:t>
            </a:r>
            <a:r>
              <a:rPr lang="en-US" sz="2200" spc="-15" dirty="0">
                <a:latin typeface="Carlito"/>
              </a:rPr>
              <a:t> and </a:t>
            </a:r>
            <a:r>
              <a:rPr lang="en-US" sz="2200" spc="-15" dirty="0">
                <a:solidFill>
                  <a:srgbClr val="C00000"/>
                </a:solidFill>
                <a:latin typeface="Carlito"/>
              </a:rPr>
              <a:t>sentiment analysis</a:t>
            </a:r>
            <a:r>
              <a:rPr lang="en-US" sz="2200" spc="-15" dirty="0">
                <a:latin typeface="Carlito"/>
              </a:rPr>
              <a:t>.</a:t>
            </a:r>
          </a:p>
          <a:p>
            <a:pPr marL="180499" marR="282416" indent="-171450">
              <a:lnSpc>
                <a:spcPts val="2250"/>
              </a:lnSpc>
              <a:spcBef>
                <a:spcPts val="776"/>
              </a:spcBef>
              <a:buFont typeface="Arial"/>
              <a:buChar char="•"/>
              <a:tabLst>
                <a:tab pos="180499" algn="l"/>
              </a:tabLst>
            </a:pPr>
            <a:endParaRPr sz="2100" dirty="0">
              <a:latin typeface="Carlito"/>
              <a:cs typeface="Carlito"/>
            </a:endParaRPr>
          </a:p>
        </p:txBody>
      </p:sp>
    </p:spTree>
    <p:extLst>
      <p:ext uri="{BB962C8B-B14F-4D97-AF65-F5344CB8AC3E}">
        <p14:creationId xmlns:p14="http://schemas.microsoft.com/office/powerpoint/2010/main" val="8411063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CF84142-3105-0216-A4B7-1FFD6C443B08}"/>
              </a:ext>
            </a:extLst>
          </p:cNvPr>
          <p:cNvPicPr>
            <a:picLocks noChangeAspect="1"/>
          </p:cNvPicPr>
          <p:nvPr/>
        </p:nvPicPr>
        <p:blipFill>
          <a:blip r:embed="rId2"/>
          <a:stretch>
            <a:fillRect/>
          </a:stretch>
        </p:blipFill>
        <p:spPr>
          <a:xfrm>
            <a:off x="6990129" y="3723927"/>
            <a:ext cx="3985091" cy="2976417"/>
          </a:xfrm>
          <a:prstGeom prst="rect">
            <a:avLst/>
          </a:prstGeom>
        </p:spPr>
      </p:pic>
      <p:sp>
        <p:nvSpPr>
          <p:cNvPr id="2" name="object 2"/>
          <p:cNvSpPr txBox="1">
            <a:spLocks noGrp="1"/>
          </p:cNvSpPr>
          <p:nvPr>
            <p:ph type="title"/>
          </p:nvPr>
        </p:nvSpPr>
        <p:spPr>
          <a:xfrm>
            <a:off x="1031203" y="546167"/>
            <a:ext cx="7951472" cy="619016"/>
          </a:xfrm>
          <a:prstGeom prst="rect">
            <a:avLst/>
          </a:prstGeom>
        </p:spPr>
        <p:txBody>
          <a:bodyPr vert="horz" wrap="square" lIns="0" tIns="9525" rIns="0" bIns="0" numCol="1" rtlCol="0" anchor="ctr" anchorCtr="0" compatLnSpc="1">
            <a:prstTxWarp prst="textNoShape">
              <a:avLst/>
            </a:prstTxWarp>
            <a:spAutoFit/>
          </a:bodyPr>
          <a:lstStyle/>
          <a:p>
            <a:pPr marL="9525">
              <a:spcBef>
                <a:spcPts val="75"/>
              </a:spcBef>
            </a:pPr>
            <a:r>
              <a:rPr dirty="0"/>
              <a:t>BERT</a:t>
            </a:r>
            <a:r>
              <a:rPr spc="-165" dirty="0"/>
              <a:t> </a:t>
            </a:r>
            <a:r>
              <a:rPr dirty="0"/>
              <a:t>Model</a:t>
            </a:r>
            <a:r>
              <a:rPr spc="-161" dirty="0"/>
              <a:t> </a:t>
            </a:r>
            <a:r>
              <a:rPr spc="-23" dirty="0"/>
              <a:t>Architecture</a:t>
            </a:r>
          </a:p>
        </p:txBody>
      </p:sp>
      <p:sp>
        <p:nvSpPr>
          <p:cNvPr id="3" name="object 3"/>
          <p:cNvSpPr txBox="1"/>
          <p:nvPr/>
        </p:nvSpPr>
        <p:spPr>
          <a:xfrm>
            <a:off x="1031203" y="1238121"/>
            <a:ext cx="10813956" cy="2964402"/>
          </a:xfrm>
          <a:prstGeom prst="rect">
            <a:avLst/>
          </a:prstGeom>
        </p:spPr>
        <p:txBody>
          <a:bodyPr vert="horz" wrap="square" lIns="0" tIns="35243" rIns="0" bIns="0" rtlCol="0">
            <a:spAutoFit/>
          </a:bodyPr>
          <a:lstStyle/>
          <a:p>
            <a:pPr marL="9525">
              <a:spcBef>
                <a:spcPts val="278"/>
              </a:spcBef>
              <a:tabLst>
                <a:tab pos="180499" algn="l"/>
              </a:tabLst>
            </a:pPr>
            <a:r>
              <a:rPr sz="2400" spc="-15" dirty="0">
                <a:latin typeface="Carlito"/>
                <a:cs typeface="Carlito"/>
              </a:rPr>
              <a:t>Multi-</a:t>
            </a:r>
            <a:r>
              <a:rPr sz="2400" dirty="0">
                <a:latin typeface="Carlito"/>
                <a:cs typeface="Carlito"/>
              </a:rPr>
              <a:t>layer</a:t>
            </a:r>
            <a:r>
              <a:rPr sz="2400" spc="-60" dirty="0">
                <a:latin typeface="Carlito"/>
                <a:cs typeface="Carlito"/>
              </a:rPr>
              <a:t> </a:t>
            </a:r>
            <a:r>
              <a:rPr sz="2400" spc="-23" dirty="0">
                <a:latin typeface="Carlito"/>
                <a:cs typeface="Carlito"/>
              </a:rPr>
              <a:t>Transformer</a:t>
            </a:r>
            <a:r>
              <a:rPr sz="2400" spc="-56" dirty="0">
                <a:latin typeface="Carlito"/>
                <a:cs typeface="Carlito"/>
              </a:rPr>
              <a:t> </a:t>
            </a:r>
            <a:r>
              <a:rPr sz="2400" dirty="0">
                <a:solidFill>
                  <a:srgbClr val="C00000"/>
                </a:solidFill>
                <a:latin typeface="Carlito"/>
                <a:cs typeface="Carlito"/>
              </a:rPr>
              <a:t>encoder</a:t>
            </a:r>
            <a:r>
              <a:rPr sz="2400" spc="-60" dirty="0">
                <a:latin typeface="Carlito"/>
                <a:cs typeface="Carlito"/>
              </a:rPr>
              <a:t> </a:t>
            </a:r>
            <a:r>
              <a:rPr sz="2400" spc="-8" dirty="0">
                <a:latin typeface="Carlito"/>
                <a:cs typeface="Carlito"/>
              </a:rPr>
              <a:t>model</a:t>
            </a:r>
            <a:r>
              <a:rPr lang="en-US" sz="2400" spc="-8" dirty="0">
                <a:latin typeface="Carlito"/>
                <a:cs typeface="Carlito"/>
              </a:rPr>
              <a:t>:</a:t>
            </a:r>
          </a:p>
          <a:p>
            <a:pPr marL="522446" lvl="1" indent="-170497">
              <a:spcBef>
                <a:spcPts val="172"/>
              </a:spcBef>
              <a:buFont typeface="Arial"/>
              <a:buChar char="•"/>
              <a:tabLst>
                <a:tab pos="522446" algn="l"/>
              </a:tabLst>
            </a:pPr>
            <a:r>
              <a:rPr lang="en-US" sz="2000" spc="-23" dirty="0">
                <a:latin typeface="Carlito"/>
                <a:cs typeface="Carlito"/>
              </a:rPr>
              <a:t>Bert-</a:t>
            </a:r>
            <a:r>
              <a:rPr lang="en-US" sz="2000" dirty="0">
                <a:latin typeface="Carlito"/>
                <a:cs typeface="Carlito"/>
              </a:rPr>
              <a:t>base:</a:t>
            </a:r>
            <a:r>
              <a:rPr lang="en-US" sz="2000" spc="-41" dirty="0">
                <a:latin typeface="Carlito"/>
                <a:cs typeface="Carlito"/>
              </a:rPr>
              <a:t> </a:t>
            </a:r>
            <a:r>
              <a:rPr lang="en-US" sz="2000" dirty="0">
                <a:solidFill>
                  <a:srgbClr val="C00000"/>
                </a:solidFill>
                <a:latin typeface="Carlito"/>
                <a:cs typeface="Carlito"/>
              </a:rPr>
              <a:t>12</a:t>
            </a:r>
            <a:r>
              <a:rPr lang="en-US" sz="2000" spc="-38" dirty="0">
                <a:latin typeface="Carlito"/>
                <a:cs typeface="Carlito"/>
              </a:rPr>
              <a:t> </a:t>
            </a:r>
            <a:r>
              <a:rPr lang="en-US" sz="2000" spc="-8" dirty="0">
                <a:latin typeface="Carlito"/>
                <a:cs typeface="Carlito"/>
              </a:rPr>
              <a:t>layers,</a:t>
            </a:r>
            <a:r>
              <a:rPr lang="en-US" sz="2000" spc="-38" dirty="0">
                <a:latin typeface="Carlito"/>
                <a:cs typeface="Carlito"/>
              </a:rPr>
              <a:t> </a:t>
            </a:r>
            <a:r>
              <a:rPr lang="en-US" sz="2000" dirty="0">
                <a:solidFill>
                  <a:srgbClr val="C00000"/>
                </a:solidFill>
                <a:latin typeface="Carlito"/>
                <a:cs typeface="Carlito"/>
              </a:rPr>
              <a:t>12</a:t>
            </a:r>
            <a:r>
              <a:rPr lang="en-US" sz="2000" spc="-41" dirty="0">
                <a:solidFill>
                  <a:srgbClr val="C00000"/>
                </a:solidFill>
                <a:latin typeface="Carlito"/>
                <a:cs typeface="Carlito"/>
              </a:rPr>
              <a:t> </a:t>
            </a:r>
            <a:r>
              <a:rPr lang="en-US" sz="2000" spc="-8" dirty="0">
                <a:solidFill>
                  <a:srgbClr val="C00000"/>
                </a:solidFill>
                <a:latin typeface="Carlito"/>
                <a:cs typeface="Carlito"/>
              </a:rPr>
              <a:t>attention</a:t>
            </a:r>
            <a:r>
              <a:rPr lang="en-US" sz="2000" spc="-34" dirty="0">
                <a:solidFill>
                  <a:srgbClr val="C00000"/>
                </a:solidFill>
                <a:latin typeface="Carlito"/>
                <a:cs typeface="Carlito"/>
              </a:rPr>
              <a:t> </a:t>
            </a:r>
            <a:r>
              <a:rPr lang="en-US" sz="2000" dirty="0">
                <a:latin typeface="Carlito"/>
                <a:cs typeface="Carlito"/>
              </a:rPr>
              <a:t>heads,</a:t>
            </a:r>
            <a:r>
              <a:rPr lang="en-US" sz="2000" spc="-38" dirty="0">
                <a:latin typeface="Carlito"/>
                <a:cs typeface="Carlito"/>
              </a:rPr>
              <a:t> </a:t>
            </a:r>
            <a:r>
              <a:rPr lang="en-US" sz="2000" dirty="0">
                <a:latin typeface="Carlito"/>
                <a:cs typeface="Carlito"/>
              </a:rPr>
              <a:t>110M</a:t>
            </a:r>
            <a:r>
              <a:rPr lang="en-US" sz="2000" spc="-38" dirty="0">
                <a:latin typeface="Carlito"/>
                <a:cs typeface="Carlito"/>
              </a:rPr>
              <a:t> </a:t>
            </a:r>
            <a:r>
              <a:rPr lang="en-US" sz="2000" spc="-8" dirty="0">
                <a:latin typeface="Carlito"/>
                <a:cs typeface="Carlito"/>
              </a:rPr>
              <a:t>parameters</a:t>
            </a:r>
            <a:endParaRPr lang="en-US" sz="2000" dirty="0">
              <a:latin typeface="Carlito"/>
              <a:cs typeface="Carlito"/>
            </a:endParaRPr>
          </a:p>
          <a:p>
            <a:pPr marL="522446" lvl="1" indent="-170497">
              <a:spcBef>
                <a:spcPts val="161"/>
              </a:spcBef>
              <a:buFont typeface="Arial"/>
              <a:buChar char="•"/>
              <a:tabLst>
                <a:tab pos="522446" algn="l"/>
              </a:tabLst>
            </a:pPr>
            <a:r>
              <a:rPr lang="en-US" sz="2000" spc="-23" dirty="0">
                <a:latin typeface="Carlito"/>
                <a:cs typeface="Carlito"/>
              </a:rPr>
              <a:t>Bert-</a:t>
            </a:r>
            <a:r>
              <a:rPr lang="en-US" sz="2000" dirty="0">
                <a:latin typeface="Carlito"/>
                <a:cs typeface="Carlito"/>
              </a:rPr>
              <a:t>large:</a:t>
            </a:r>
            <a:r>
              <a:rPr lang="en-US" sz="2000" spc="-45" dirty="0">
                <a:latin typeface="Carlito"/>
                <a:cs typeface="Carlito"/>
              </a:rPr>
              <a:t> </a:t>
            </a:r>
            <a:r>
              <a:rPr lang="en-US" sz="2000" dirty="0">
                <a:solidFill>
                  <a:srgbClr val="C00000"/>
                </a:solidFill>
                <a:latin typeface="Carlito"/>
                <a:cs typeface="Carlito"/>
              </a:rPr>
              <a:t>24</a:t>
            </a:r>
            <a:r>
              <a:rPr lang="en-US" sz="2000" spc="-45" dirty="0">
                <a:latin typeface="Carlito"/>
                <a:cs typeface="Carlito"/>
              </a:rPr>
              <a:t> </a:t>
            </a:r>
            <a:r>
              <a:rPr lang="en-US" sz="2000" spc="-8" dirty="0">
                <a:latin typeface="Carlito"/>
                <a:cs typeface="Carlito"/>
              </a:rPr>
              <a:t>layers,</a:t>
            </a:r>
            <a:r>
              <a:rPr lang="en-US" sz="2000" spc="-38" dirty="0">
                <a:latin typeface="Carlito"/>
                <a:cs typeface="Carlito"/>
              </a:rPr>
              <a:t> </a:t>
            </a:r>
            <a:r>
              <a:rPr lang="en-US" sz="2000" dirty="0">
                <a:solidFill>
                  <a:srgbClr val="C00000"/>
                </a:solidFill>
                <a:latin typeface="Carlito"/>
                <a:cs typeface="Carlito"/>
              </a:rPr>
              <a:t>16</a:t>
            </a:r>
            <a:r>
              <a:rPr lang="en-US" sz="2000" spc="-41" dirty="0">
                <a:solidFill>
                  <a:srgbClr val="C00000"/>
                </a:solidFill>
                <a:latin typeface="Carlito"/>
                <a:cs typeface="Carlito"/>
              </a:rPr>
              <a:t> </a:t>
            </a:r>
            <a:r>
              <a:rPr lang="en-US" sz="2000" spc="-8" dirty="0">
                <a:solidFill>
                  <a:srgbClr val="C00000"/>
                </a:solidFill>
                <a:latin typeface="Carlito"/>
                <a:cs typeface="Carlito"/>
              </a:rPr>
              <a:t>attention</a:t>
            </a:r>
            <a:r>
              <a:rPr lang="en-US" sz="2000" spc="-41" dirty="0">
                <a:solidFill>
                  <a:srgbClr val="C00000"/>
                </a:solidFill>
                <a:latin typeface="Carlito"/>
                <a:cs typeface="Carlito"/>
              </a:rPr>
              <a:t> </a:t>
            </a:r>
            <a:r>
              <a:rPr lang="en-US" sz="2000" dirty="0">
                <a:latin typeface="Carlito"/>
                <a:cs typeface="Carlito"/>
              </a:rPr>
              <a:t>heads,</a:t>
            </a:r>
            <a:r>
              <a:rPr lang="en-US" sz="2000" spc="-41" dirty="0">
                <a:latin typeface="Carlito"/>
                <a:cs typeface="Carlito"/>
              </a:rPr>
              <a:t> </a:t>
            </a:r>
            <a:r>
              <a:rPr lang="en-US" sz="2000" dirty="0">
                <a:latin typeface="Carlito"/>
                <a:cs typeface="Carlito"/>
              </a:rPr>
              <a:t>340M</a:t>
            </a:r>
            <a:r>
              <a:rPr lang="en-US" sz="2000" spc="-41" dirty="0">
                <a:latin typeface="Carlito"/>
                <a:cs typeface="Carlito"/>
              </a:rPr>
              <a:t> </a:t>
            </a:r>
            <a:r>
              <a:rPr lang="en-US" sz="2000" spc="-8" dirty="0">
                <a:latin typeface="Carlito"/>
                <a:cs typeface="Carlito"/>
              </a:rPr>
              <a:t>parameters</a:t>
            </a:r>
            <a:endParaRPr sz="2000" dirty="0">
              <a:latin typeface="Carlito"/>
              <a:cs typeface="Carlito"/>
            </a:endParaRPr>
          </a:p>
          <a:p>
            <a:pPr marL="180499" marR="282416" indent="-171450">
              <a:lnSpc>
                <a:spcPts val="2250"/>
              </a:lnSpc>
              <a:spcBef>
                <a:spcPts val="776"/>
              </a:spcBef>
              <a:buFont typeface="Arial"/>
              <a:buChar char="•"/>
              <a:tabLst>
                <a:tab pos="180499" algn="l"/>
              </a:tabLst>
            </a:pPr>
            <a:r>
              <a:rPr lang="en-US" sz="2400" dirty="0">
                <a:latin typeface="Carlito"/>
                <a:cs typeface="Carlito"/>
              </a:rPr>
              <a:t>Context window of </a:t>
            </a:r>
            <a:r>
              <a:rPr lang="en-US" sz="2400" dirty="0">
                <a:solidFill>
                  <a:srgbClr val="C00000"/>
                </a:solidFill>
                <a:latin typeface="Carlito"/>
                <a:cs typeface="Carlito"/>
              </a:rPr>
              <a:t>512 tokens</a:t>
            </a:r>
          </a:p>
          <a:p>
            <a:pPr marL="180499" marR="282416" indent="-171450">
              <a:lnSpc>
                <a:spcPts val="2250"/>
              </a:lnSpc>
              <a:spcBef>
                <a:spcPts val="776"/>
              </a:spcBef>
              <a:buFont typeface="Arial"/>
              <a:buChar char="•"/>
              <a:tabLst>
                <a:tab pos="180499" algn="l"/>
              </a:tabLst>
            </a:pPr>
            <a:r>
              <a:rPr sz="2400" dirty="0">
                <a:solidFill>
                  <a:srgbClr val="C00000"/>
                </a:solidFill>
                <a:latin typeface="Carlito"/>
                <a:cs typeface="Carlito"/>
              </a:rPr>
              <a:t>Bidirectional</a:t>
            </a:r>
            <a:r>
              <a:rPr sz="2400" dirty="0">
                <a:latin typeface="Carlito"/>
                <a:cs typeface="Carlito"/>
              </a:rPr>
              <a:t>:</a:t>
            </a:r>
            <a:r>
              <a:rPr sz="2400" spc="-60" dirty="0">
                <a:latin typeface="Carlito"/>
                <a:cs typeface="Carlito"/>
              </a:rPr>
              <a:t> </a:t>
            </a:r>
            <a:r>
              <a:rPr sz="2400" dirty="0">
                <a:latin typeface="Carlito"/>
                <a:cs typeface="Carlito"/>
              </a:rPr>
              <a:t>each</a:t>
            </a:r>
            <a:r>
              <a:rPr sz="2400" spc="-56" dirty="0">
                <a:latin typeface="Carlito"/>
                <a:cs typeface="Carlito"/>
              </a:rPr>
              <a:t> </a:t>
            </a:r>
            <a:r>
              <a:rPr sz="2400" dirty="0">
                <a:latin typeface="Carlito"/>
                <a:cs typeface="Carlito"/>
              </a:rPr>
              <a:t>token</a:t>
            </a:r>
            <a:r>
              <a:rPr sz="2400" spc="-53" dirty="0">
                <a:latin typeface="Carlito"/>
                <a:cs typeface="Carlito"/>
              </a:rPr>
              <a:t> </a:t>
            </a:r>
            <a:r>
              <a:rPr sz="2400" dirty="0">
                <a:latin typeface="Carlito"/>
                <a:cs typeface="Carlito"/>
              </a:rPr>
              <a:t>can</a:t>
            </a:r>
            <a:r>
              <a:rPr sz="2400" spc="-56" dirty="0">
                <a:latin typeface="Carlito"/>
                <a:cs typeface="Carlito"/>
              </a:rPr>
              <a:t> </a:t>
            </a:r>
            <a:r>
              <a:rPr sz="2400" dirty="0">
                <a:latin typeface="Carlito"/>
                <a:cs typeface="Carlito"/>
              </a:rPr>
              <a:t>attend</a:t>
            </a:r>
            <a:r>
              <a:rPr sz="2400" spc="-56" dirty="0">
                <a:latin typeface="Carlito"/>
                <a:cs typeface="Carlito"/>
              </a:rPr>
              <a:t> </a:t>
            </a:r>
            <a:r>
              <a:rPr sz="2400" dirty="0">
                <a:latin typeface="Carlito"/>
                <a:cs typeface="Carlito"/>
              </a:rPr>
              <a:t>to</a:t>
            </a:r>
            <a:r>
              <a:rPr sz="2400" spc="-60" dirty="0">
                <a:latin typeface="Carlito"/>
                <a:cs typeface="Carlito"/>
              </a:rPr>
              <a:t> </a:t>
            </a:r>
            <a:r>
              <a:rPr sz="2400" dirty="0">
                <a:latin typeface="Carlito"/>
                <a:cs typeface="Carlito"/>
              </a:rPr>
              <a:t>its</a:t>
            </a:r>
            <a:r>
              <a:rPr sz="2400" spc="-53" dirty="0">
                <a:latin typeface="Carlito"/>
                <a:cs typeface="Carlito"/>
              </a:rPr>
              <a:t> </a:t>
            </a:r>
            <a:r>
              <a:rPr sz="2400" dirty="0">
                <a:solidFill>
                  <a:srgbClr val="C00000"/>
                </a:solidFill>
                <a:latin typeface="Carlito"/>
                <a:cs typeface="Carlito"/>
              </a:rPr>
              <a:t>left</a:t>
            </a:r>
            <a:r>
              <a:rPr sz="2400" spc="-60" dirty="0">
                <a:latin typeface="Carlito"/>
                <a:cs typeface="Carlito"/>
              </a:rPr>
              <a:t> </a:t>
            </a:r>
            <a:r>
              <a:rPr sz="2400" dirty="0">
                <a:latin typeface="Carlito"/>
                <a:cs typeface="Carlito"/>
              </a:rPr>
              <a:t>and</a:t>
            </a:r>
            <a:r>
              <a:rPr sz="2400" spc="-56" dirty="0">
                <a:latin typeface="Carlito"/>
                <a:cs typeface="Carlito"/>
              </a:rPr>
              <a:t> </a:t>
            </a:r>
            <a:r>
              <a:rPr sz="2400" dirty="0">
                <a:solidFill>
                  <a:srgbClr val="C00000"/>
                </a:solidFill>
                <a:latin typeface="Carlito"/>
                <a:cs typeface="Carlito"/>
              </a:rPr>
              <a:t>right</a:t>
            </a:r>
            <a:r>
              <a:rPr sz="2400" spc="-56" dirty="0">
                <a:latin typeface="Carlito"/>
                <a:cs typeface="Carlito"/>
              </a:rPr>
              <a:t> </a:t>
            </a:r>
            <a:r>
              <a:rPr sz="2400" spc="-8" dirty="0">
                <a:latin typeface="Carlito"/>
                <a:cs typeface="Carlito"/>
              </a:rPr>
              <a:t>context</a:t>
            </a:r>
            <a:r>
              <a:rPr sz="2400" spc="-60" dirty="0">
                <a:latin typeface="Carlito"/>
                <a:cs typeface="Carlito"/>
              </a:rPr>
              <a:t> </a:t>
            </a:r>
            <a:r>
              <a:rPr sz="2400" spc="-19" dirty="0">
                <a:latin typeface="Carlito"/>
                <a:cs typeface="Carlito"/>
              </a:rPr>
              <a:t>for </a:t>
            </a:r>
            <a:r>
              <a:rPr sz="2400" spc="-19" dirty="0">
                <a:solidFill>
                  <a:srgbClr val="C00000"/>
                </a:solidFill>
                <a:latin typeface="Carlito"/>
                <a:cs typeface="Carlito"/>
              </a:rPr>
              <a:t>self-</a:t>
            </a:r>
            <a:r>
              <a:rPr sz="2400" spc="-8" dirty="0">
                <a:solidFill>
                  <a:srgbClr val="C00000"/>
                </a:solidFill>
                <a:latin typeface="Carlito"/>
                <a:cs typeface="Carlito"/>
              </a:rPr>
              <a:t>attention</a:t>
            </a:r>
            <a:r>
              <a:rPr lang="en-US" sz="2400" spc="-8" dirty="0">
                <a:solidFill>
                  <a:srgbClr val="C00000"/>
                </a:solidFill>
                <a:latin typeface="Carlito"/>
                <a:cs typeface="Carlito"/>
              </a:rPr>
              <a:t> </a:t>
            </a:r>
            <a:r>
              <a:rPr lang="en-US" sz="2400" spc="-8" dirty="0">
                <a:latin typeface="Carlito"/>
                <a:cs typeface="Carlito"/>
              </a:rPr>
              <a:t>(</a:t>
            </a:r>
            <a:r>
              <a:rPr lang="en-US" sz="2400" spc="-8" dirty="0">
                <a:solidFill>
                  <a:srgbClr val="C00000"/>
                </a:solidFill>
                <a:latin typeface="Carlito"/>
                <a:cs typeface="Carlito"/>
              </a:rPr>
              <a:t>more computational cost </a:t>
            </a:r>
            <a:r>
              <a:rPr lang="en-US" sz="2400" spc="-8" dirty="0">
                <a:latin typeface="Carlito"/>
                <a:cs typeface="Carlito"/>
              </a:rPr>
              <a:t>comparing mask-attention)</a:t>
            </a:r>
          </a:p>
          <a:p>
            <a:pPr marL="180499" marR="282416" indent="-171450">
              <a:lnSpc>
                <a:spcPts val="2250"/>
              </a:lnSpc>
              <a:spcBef>
                <a:spcPts val="776"/>
              </a:spcBef>
              <a:buFont typeface="Arial"/>
              <a:buChar char="•"/>
              <a:tabLst>
                <a:tab pos="180499" algn="l"/>
              </a:tabLst>
            </a:pPr>
            <a:r>
              <a:rPr lang="en-US" sz="2400" spc="-8" dirty="0" err="1">
                <a:solidFill>
                  <a:srgbClr val="C00000"/>
                </a:solidFill>
                <a:latin typeface="Carlito"/>
                <a:cs typeface="Carlito"/>
              </a:rPr>
              <a:t>WordPiece</a:t>
            </a:r>
            <a:r>
              <a:rPr lang="en-US" sz="2400" spc="-105" dirty="0">
                <a:latin typeface="Carlito"/>
                <a:cs typeface="Carlito"/>
              </a:rPr>
              <a:t> </a:t>
            </a:r>
            <a:r>
              <a:rPr lang="en-US" sz="2400" spc="-8" dirty="0">
                <a:latin typeface="Carlito"/>
                <a:cs typeface="Carlito"/>
              </a:rPr>
              <a:t>embedding (segment + positional + token embeddings)</a:t>
            </a:r>
            <a:endParaRPr lang="en-US" sz="2400" dirty="0">
              <a:latin typeface="Carlito"/>
              <a:cs typeface="Carlito"/>
            </a:endParaRPr>
          </a:p>
          <a:p>
            <a:pPr marL="180499" marR="282416" indent="-171450">
              <a:lnSpc>
                <a:spcPts val="2250"/>
              </a:lnSpc>
              <a:spcBef>
                <a:spcPts val="776"/>
              </a:spcBef>
              <a:buFont typeface="Arial"/>
              <a:buChar char="•"/>
              <a:tabLst>
                <a:tab pos="180499" algn="l"/>
              </a:tabLst>
            </a:pPr>
            <a:endParaRPr sz="2400" dirty="0">
              <a:latin typeface="Carlito"/>
              <a:cs typeface="Carlito"/>
            </a:endParaRPr>
          </a:p>
        </p:txBody>
      </p:sp>
      <p:pic>
        <p:nvPicPr>
          <p:cNvPr id="4" name="object 4"/>
          <p:cNvPicPr/>
          <p:nvPr/>
        </p:nvPicPr>
        <p:blipFill>
          <a:blip r:embed="rId3" cstate="print"/>
          <a:stretch>
            <a:fillRect/>
          </a:stretch>
        </p:blipFill>
        <p:spPr>
          <a:xfrm>
            <a:off x="1452082" y="3999694"/>
            <a:ext cx="3985091" cy="2515904"/>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computer&#10;&#10;AI-generated content may be incorrect.">
            <a:extLst>
              <a:ext uri="{FF2B5EF4-FFF2-40B4-BE49-F238E27FC236}">
                <a16:creationId xmlns:a16="http://schemas.microsoft.com/office/drawing/2014/main" id="{C22BE05A-879D-3A8A-A764-DC671B27B0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6549" y="3785609"/>
            <a:ext cx="3717919" cy="2822336"/>
          </a:xfrm>
          <a:prstGeom prst="rect">
            <a:avLst/>
          </a:prstGeom>
        </p:spPr>
      </p:pic>
      <p:sp>
        <p:nvSpPr>
          <p:cNvPr id="2" name="Title 1">
            <a:extLst>
              <a:ext uri="{FF2B5EF4-FFF2-40B4-BE49-F238E27FC236}">
                <a16:creationId xmlns:a16="http://schemas.microsoft.com/office/drawing/2014/main" id="{BA59863A-FC25-1FD3-1602-D0A48A638393}"/>
              </a:ext>
            </a:extLst>
          </p:cNvPr>
          <p:cNvSpPr>
            <a:spLocks noGrp="1"/>
          </p:cNvSpPr>
          <p:nvPr>
            <p:ph type="title"/>
          </p:nvPr>
        </p:nvSpPr>
        <p:spPr/>
        <p:txBody>
          <a:bodyPr/>
          <a:lstStyle/>
          <a:p>
            <a:r>
              <a:rPr lang="en-US" dirty="0"/>
              <a:t>BERT - Classification</a:t>
            </a:r>
          </a:p>
        </p:txBody>
      </p:sp>
      <p:sp>
        <p:nvSpPr>
          <p:cNvPr id="3" name="Content Placeholder 2">
            <a:extLst>
              <a:ext uri="{FF2B5EF4-FFF2-40B4-BE49-F238E27FC236}">
                <a16:creationId xmlns:a16="http://schemas.microsoft.com/office/drawing/2014/main" id="{A753A7F6-0CE9-826F-D421-DBC48F6D7291}"/>
              </a:ext>
            </a:extLst>
          </p:cNvPr>
          <p:cNvSpPr>
            <a:spLocks noGrp="1"/>
          </p:cNvSpPr>
          <p:nvPr>
            <p:ph idx="1"/>
          </p:nvPr>
        </p:nvSpPr>
        <p:spPr>
          <a:xfrm>
            <a:off x="838200" y="1825625"/>
            <a:ext cx="8060473" cy="4351338"/>
          </a:xfrm>
        </p:spPr>
        <p:txBody>
          <a:bodyPr/>
          <a:lstStyle/>
          <a:p>
            <a:pPr marL="0" marR="0" indent="0">
              <a:lnSpc>
                <a:spcPct val="107000"/>
              </a:lnSpc>
              <a:spcBef>
                <a:spcPts val="0"/>
              </a:spcBef>
              <a:spcAft>
                <a:spcPts val="800"/>
              </a:spcAft>
              <a:buNone/>
            </a:pPr>
            <a:r>
              <a:rPr lang="en-US" sz="2400" kern="100" dirty="0">
                <a:effectLst/>
                <a:ea typeface="Aptos" panose="020B0004020202020204" pitchFamily="34" charset="0"/>
                <a:cs typeface="Arial" panose="020B0604020202020204" pitchFamily="34" charset="0"/>
              </a:rPr>
              <a:t>BERT can perform classification by </a:t>
            </a:r>
            <a:r>
              <a:rPr lang="en-US" sz="2400" kern="100" dirty="0">
                <a:solidFill>
                  <a:srgbClr val="C00000"/>
                </a:solidFill>
                <a:effectLst/>
                <a:ea typeface="Aptos" panose="020B0004020202020204" pitchFamily="34" charset="0"/>
                <a:cs typeface="Arial" panose="020B0604020202020204" pitchFamily="34" charset="0"/>
              </a:rPr>
              <a:t>adding</a:t>
            </a:r>
            <a:r>
              <a:rPr lang="en-US" sz="2400" kern="100" dirty="0">
                <a:effectLst/>
                <a:ea typeface="Aptos" panose="020B0004020202020204" pitchFamily="34" charset="0"/>
                <a:cs typeface="Arial" panose="020B0604020202020204" pitchFamily="34" charset="0"/>
              </a:rPr>
              <a:t> a simple </a:t>
            </a:r>
            <a:r>
              <a:rPr lang="en-US" sz="2400" kern="100" dirty="0">
                <a:solidFill>
                  <a:srgbClr val="C00000"/>
                </a:solidFill>
                <a:effectLst/>
                <a:ea typeface="Aptos" panose="020B0004020202020204" pitchFamily="34" charset="0"/>
                <a:cs typeface="Arial" panose="020B0604020202020204" pitchFamily="34" charset="0"/>
              </a:rPr>
              <a:t>classification layer </a:t>
            </a:r>
            <a:r>
              <a:rPr lang="en-US" sz="2400" kern="100" dirty="0">
                <a:effectLst/>
                <a:ea typeface="Aptos" panose="020B0004020202020204" pitchFamily="34" charset="0"/>
                <a:cs typeface="Arial" panose="020B0604020202020204" pitchFamily="34" charset="0"/>
              </a:rPr>
              <a:t>on top of the encoder.</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kern="100" dirty="0">
                <a:effectLst/>
                <a:ea typeface="Aptos" panose="020B0004020202020204" pitchFamily="34" charset="0"/>
                <a:cs typeface="Arial" panose="020B0604020202020204" pitchFamily="34" charset="0"/>
              </a:rPr>
              <a:t>Input sequence to BERT starts with a </a:t>
            </a:r>
            <a:r>
              <a:rPr lang="en-US" sz="2000" kern="100" dirty="0">
                <a:solidFill>
                  <a:srgbClr val="C00000"/>
                </a:solidFill>
                <a:effectLst/>
                <a:ea typeface="Aptos" panose="020B0004020202020204" pitchFamily="34" charset="0"/>
                <a:cs typeface="Arial" panose="020B0604020202020204" pitchFamily="34" charset="0"/>
              </a:rPr>
              <a:t>special token </a:t>
            </a:r>
            <a:r>
              <a:rPr lang="en-US" sz="2000" kern="100" dirty="0">
                <a:effectLst/>
                <a:ea typeface="Aptos" panose="020B0004020202020204" pitchFamily="34" charset="0"/>
                <a:cs typeface="Arial" panose="020B0604020202020204" pitchFamily="34" charset="0"/>
              </a:rPr>
              <a:t>called </a:t>
            </a:r>
            <a:r>
              <a:rPr lang="en-US" sz="2000" b="1" kern="100" dirty="0">
                <a:effectLst/>
                <a:ea typeface="Aptos" panose="020B0004020202020204" pitchFamily="34" charset="0"/>
                <a:cs typeface="Arial" panose="020B0604020202020204" pitchFamily="34" charset="0"/>
              </a:rPr>
              <a:t>[CLS]</a:t>
            </a:r>
            <a:r>
              <a:rPr lang="en-US" sz="2000" kern="100" dirty="0">
                <a:effectLst/>
                <a:ea typeface="Aptos" panose="020B0004020202020204" pitchFamily="34" charset="0"/>
                <a:cs typeface="Arial" panose="020B0604020202020204" pitchFamily="34" charset="0"/>
              </a:rPr>
              <a:t> (classification token). </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kern="100" dirty="0">
                <a:effectLst/>
                <a:ea typeface="Aptos" panose="020B0004020202020204" pitchFamily="34" charset="0"/>
                <a:cs typeface="Arial" panose="020B0604020202020204" pitchFamily="34" charset="0"/>
              </a:rPr>
              <a:t>The </a:t>
            </a:r>
            <a:r>
              <a:rPr lang="en-US" sz="2000" b="1" kern="100" dirty="0">
                <a:effectLst/>
                <a:ea typeface="Aptos" panose="020B0004020202020204" pitchFamily="34" charset="0"/>
                <a:cs typeface="Arial" panose="020B0604020202020204" pitchFamily="34" charset="0"/>
              </a:rPr>
              <a:t>[CLS]</a:t>
            </a:r>
            <a:r>
              <a:rPr lang="en-US" sz="2000" kern="100" dirty="0">
                <a:effectLst/>
                <a:ea typeface="Aptos" panose="020B0004020202020204" pitchFamily="34" charset="0"/>
                <a:cs typeface="Arial" panose="020B0604020202020204" pitchFamily="34" charset="0"/>
              </a:rPr>
              <a:t> token collects information from the rest of the sequence by </a:t>
            </a:r>
            <a:r>
              <a:rPr lang="en-US" sz="2000" kern="100" dirty="0">
                <a:solidFill>
                  <a:srgbClr val="C00000"/>
                </a:solidFill>
                <a:effectLst/>
                <a:ea typeface="Aptos" panose="020B0004020202020204" pitchFamily="34" charset="0"/>
                <a:cs typeface="Arial" panose="020B0604020202020204" pitchFamily="34" charset="0"/>
              </a:rPr>
              <a:t>attending to all </a:t>
            </a:r>
            <a:r>
              <a:rPr lang="en-US" sz="2000" kern="100" dirty="0">
                <a:effectLst/>
                <a:ea typeface="Aptos" panose="020B0004020202020204" pitchFamily="34" charset="0"/>
                <a:cs typeface="Arial" panose="020B0604020202020204" pitchFamily="34" charset="0"/>
              </a:rPr>
              <a:t>other tokens during training. </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kern="100" dirty="0">
                <a:effectLst/>
                <a:ea typeface="Aptos" panose="020B0004020202020204" pitchFamily="34" charset="0"/>
                <a:cs typeface="Arial" panose="020B0604020202020204" pitchFamily="34" charset="0"/>
              </a:rPr>
              <a:t>This hidden state of </a:t>
            </a:r>
            <a:r>
              <a:rPr lang="en-US" sz="2000" b="1" kern="100" dirty="0">
                <a:effectLst/>
                <a:ea typeface="Aptos" panose="020B0004020202020204" pitchFamily="34" charset="0"/>
                <a:cs typeface="Arial" panose="020B0604020202020204" pitchFamily="34" charset="0"/>
              </a:rPr>
              <a:t>[CLS] </a:t>
            </a:r>
            <a:r>
              <a:rPr lang="en-US" sz="2000" kern="100" dirty="0">
                <a:effectLst/>
                <a:ea typeface="Aptos" panose="020B0004020202020204" pitchFamily="34" charset="0"/>
                <a:cs typeface="Arial" panose="020B0604020202020204" pitchFamily="34" charset="0"/>
              </a:rPr>
              <a:t>is expected to capture the </a:t>
            </a:r>
            <a:r>
              <a:rPr lang="en-US" sz="2000" kern="100" dirty="0">
                <a:solidFill>
                  <a:srgbClr val="C00000"/>
                </a:solidFill>
                <a:effectLst/>
                <a:ea typeface="Aptos" panose="020B0004020202020204" pitchFamily="34" charset="0"/>
                <a:cs typeface="Arial" panose="020B0604020202020204" pitchFamily="34" charset="0"/>
              </a:rPr>
              <a:t>semantic representation </a:t>
            </a:r>
            <a:r>
              <a:rPr lang="en-US" sz="2000" kern="100" dirty="0">
                <a:effectLst/>
                <a:ea typeface="Aptos" panose="020B0004020202020204" pitchFamily="34" charset="0"/>
                <a:cs typeface="Arial" panose="020B0604020202020204" pitchFamily="34" charset="0"/>
              </a:rPr>
              <a:t>of the entire input sequence.</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kern="100" dirty="0">
                <a:effectLst/>
                <a:ea typeface="Aptos" panose="020B0004020202020204" pitchFamily="34" charset="0"/>
                <a:cs typeface="Arial" panose="020B0604020202020204" pitchFamily="34" charset="0"/>
              </a:rPr>
              <a:t>A simple </a:t>
            </a:r>
            <a:r>
              <a:rPr lang="en-US" sz="2000" kern="100" dirty="0">
                <a:solidFill>
                  <a:srgbClr val="C00000"/>
                </a:solidFill>
                <a:effectLst/>
                <a:ea typeface="Aptos" panose="020B0004020202020204" pitchFamily="34" charset="0"/>
                <a:cs typeface="Arial" panose="020B0604020202020204" pitchFamily="34" charset="0"/>
              </a:rPr>
              <a:t>feedforward</a:t>
            </a:r>
            <a:r>
              <a:rPr lang="en-US" sz="2000" kern="100" dirty="0">
                <a:effectLst/>
                <a:ea typeface="Aptos" panose="020B0004020202020204" pitchFamily="34" charset="0"/>
                <a:cs typeface="Arial" panose="020B0604020202020204" pitchFamily="34" charset="0"/>
              </a:rPr>
              <a:t> layer (fully connected layer) with a </a:t>
            </a:r>
            <a:r>
              <a:rPr lang="en-US" sz="2000" kern="100" dirty="0" err="1">
                <a:solidFill>
                  <a:srgbClr val="C00000"/>
                </a:solidFill>
                <a:effectLst/>
                <a:ea typeface="Aptos" panose="020B0004020202020204" pitchFamily="34" charset="0"/>
                <a:cs typeface="Arial" panose="020B0604020202020204" pitchFamily="34" charset="0"/>
              </a:rPr>
              <a:t>softmax</a:t>
            </a:r>
            <a:r>
              <a:rPr lang="en-US" sz="2000" kern="100" dirty="0">
                <a:effectLst/>
                <a:ea typeface="Aptos" panose="020B0004020202020204" pitchFamily="34" charset="0"/>
                <a:cs typeface="Arial" panose="020B0604020202020204" pitchFamily="34" charset="0"/>
              </a:rPr>
              <a:t> is added on top of the </a:t>
            </a:r>
            <a:r>
              <a:rPr lang="en-US" sz="2000" b="1" kern="100" dirty="0">
                <a:effectLst/>
                <a:ea typeface="Aptos" panose="020B0004020202020204" pitchFamily="34" charset="0"/>
                <a:cs typeface="Arial" panose="020B0604020202020204" pitchFamily="34" charset="0"/>
              </a:rPr>
              <a:t>[CLS]</a:t>
            </a:r>
            <a:r>
              <a:rPr lang="en-US" sz="2000" kern="100" dirty="0">
                <a:effectLst/>
                <a:ea typeface="Aptos" panose="020B0004020202020204" pitchFamily="34" charset="0"/>
                <a:cs typeface="Arial" panose="020B0604020202020204" pitchFamily="34" charset="0"/>
              </a:rPr>
              <a:t> token's hidden state to produce </a:t>
            </a:r>
            <a:r>
              <a:rPr lang="en-US" sz="2000" kern="100" dirty="0">
                <a:solidFill>
                  <a:srgbClr val="C00000"/>
                </a:solidFill>
                <a:effectLst/>
                <a:ea typeface="Aptos" panose="020B0004020202020204" pitchFamily="34" charset="0"/>
                <a:cs typeface="Arial" panose="020B0604020202020204" pitchFamily="34" charset="0"/>
              </a:rPr>
              <a:t>probabilities</a:t>
            </a:r>
            <a:r>
              <a:rPr lang="en-US" sz="2000" kern="100" dirty="0">
                <a:effectLst/>
                <a:ea typeface="Aptos" panose="020B0004020202020204" pitchFamily="34" charset="0"/>
                <a:cs typeface="Arial" panose="020B0604020202020204" pitchFamily="34" charset="0"/>
              </a:rPr>
              <a:t> for the target classes.</a:t>
            </a:r>
          </a:p>
          <a:p>
            <a:endParaRPr lang="en-US" sz="3200" dirty="0"/>
          </a:p>
        </p:txBody>
      </p:sp>
    </p:spTree>
    <p:extLst>
      <p:ext uri="{BB962C8B-B14F-4D97-AF65-F5344CB8AC3E}">
        <p14:creationId xmlns:p14="http://schemas.microsoft.com/office/powerpoint/2010/main" val="19480855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5">
            <a:extLst>
              <a:ext uri="{FF2B5EF4-FFF2-40B4-BE49-F238E27FC236}">
                <a16:creationId xmlns:a16="http://schemas.microsoft.com/office/drawing/2014/main" id="{97C4AC7E-9295-406D-0F07-DF7DE2F62902}"/>
              </a:ext>
            </a:extLst>
          </p:cNvPr>
          <p:cNvPicPr/>
          <p:nvPr/>
        </p:nvPicPr>
        <p:blipFill>
          <a:blip r:embed="rId3" cstate="print"/>
          <a:stretch>
            <a:fillRect/>
          </a:stretch>
        </p:blipFill>
        <p:spPr>
          <a:xfrm>
            <a:off x="8316193" y="2766407"/>
            <a:ext cx="3519052" cy="1325185"/>
          </a:xfrm>
          <a:prstGeom prst="rect">
            <a:avLst/>
          </a:prstGeom>
        </p:spPr>
      </p:pic>
      <p:sp>
        <p:nvSpPr>
          <p:cNvPr id="2" name="object 2"/>
          <p:cNvSpPr txBox="1">
            <a:spLocks noGrp="1"/>
          </p:cNvSpPr>
          <p:nvPr>
            <p:ph type="title"/>
          </p:nvPr>
        </p:nvSpPr>
        <p:spPr>
          <a:xfrm>
            <a:off x="1031203" y="546167"/>
            <a:ext cx="7951472" cy="619016"/>
          </a:xfrm>
          <a:prstGeom prst="rect">
            <a:avLst/>
          </a:prstGeom>
        </p:spPr>
        <p:txBody>
          <a:bodyPr vert="horz" wrap="square" lIns="0" tIns="9525" rIns="0" bIns="0" numCol="1" rtlCol="0" anchor="ctr" anchorCtr="0" compatLnSpc="1">
            <a:prstTxWarp prst="textNoShape">
              <a:avLst/>
            </a:prstTxWarp>
            <a:spAutoFit/>
          </a:bodyPr>
          <a:lstStyle/>
          <a:p>
            <a:pPr marL="9525">
              <a:spcBef>
                <a:spcPts val="75"/>
              </a:spcBef>
            </a:pPr>
            <a:r>
              <a:rPr dirty="0"/>
              <a:t>B</a:t>
            </a:r>
            <a:r>
              <a:rPr lang="en-US" dirty="0"/>
              <a:t>A</a:t>
            </a:r>
            <a:r>
              <a:rPr dirty="0"/>
              <a:t>RT</a:t>
            </a:r>
            <a:endParaRPr spc="-23" dirty="0"/>
          </a:p>
        </p:txBody>
      </p:sp>
      <p:sp>
        <p:nvSpPr>
          <p:cNvPr id="3" name="object 3"/>
          <p:cNvSpPr txBox="1"/>
          <p:nvPr/>
        </p:nvSpPr>
        <p:spPr>
          <a:xfrm>
            <a:off x="1031203" y="1481376"/>
            <a:ext cx="7825121" cy="4431662"/>
          </a:xfrm>
          <a:prstGeom prst="rect">
            <a:avLst/>
          </a:prstGeom>
        </p:spPr>
        <p:txBody>
          <a:bodyPr vert="horz" wrap="square" lIns="0" tIns="35243" rIns="0" bIns="0" rtlCol="0">
            <a:spAutoFit/>
          </a:bodyPr>
          <a:lstStyle/>
          <a:p>
            <a:pPr marL="9525">
              <a:spcBef>
                <a:spcPts val="75"/>
              </a:spcBef>
              <a:tabLst>
                <a:tab pos="132874" algn="l"/>
              </a:tabLst>
            </a:pPr>
            <a:r>
              <a:rPr lang="en-US" sz="2400" b="1" spc="-8" dirty="0">
                <a:latin typeface="+mn-lt"/>
                <a:cs typeface="Calibri"/>
              </a:rPr>
              <a:t>BART </a:t>
            </a:r>
            <a:r>
              <a:rPr lang="en-US" sz="2400" dirty="0">
                <a:latin typeface="+mn-lt"/>
                <a:cs typeface="Calibri"/>
              </a:rPr>
              <a:t>:</a:t>
            </a:r>
            <a:r>
              <a:rPr lang="en-US" sz="2400" spc="-64" dirty="0">
                <a:latin typeface="+mn-lt"/>
                <a:cs typeface="Calibri"/>
              </a:rPr>
              <a:t> </a:t>
            </a:r>
            <a:r>
              <a:rPr lang="en-US" sz="2400" b="1" spc="-8" dirty="0">
                <a:latin typeface="+mn-lt"/>
                <a:cs typeface="Calibri"/>
              </a:rPr>
              <a:t>Bidirectional and Auto-Regressive Transformers</a:t>
            </a:r>
          </a:p>
          <a:p>
            <a:pPr marL="132874" indent="-123349">
              <a:spcBef>
                <a:spcPts val="75"/>
              </a:spcBef>
              <a:buFont typeface="Arial MT"/>
              <a:buChar char="•"/>
              <a:tabLst>
                <a:tab pos="132874" algn="l"/>
              </a:tabLst>
            </a:pPr>
            <a:r>
              <a:rPr lang="en-US" sz="2200" dirty="0">
                <a:latin typeface="+mn-lt"/>
                <a:cs typeface="Calibri"/>
              </a:rPr>
              <a:t>A</a:t>
            </a:r>
            <a:r>
              <a:rPr lang="en-US" sz="2200" spc="-30" dirty="0">
                <a:latin typeface="+mn-lt"/>
                <a:cs typeface="Calibri"/>
              </a:rPr>
              <a:t> </a:t>
            </a:r>
            <a:r>
              <a:rPr lang="en-US" sz="2200" spc="-8" dirty="0">
                <a:solidFill>
                  <a:srgbClr val="C00000"/>
                </a:solidFill>
                <a:latin typeface="+mn-lt"/>
                <a:cs typeface="Calibri"/>
              </a:rPr>
              <a:t>transformer</a:t>
            </a:r>
            <a:r>
              <a:rPr lang="en-US" sz="2200" spc="-34" dirty="0">
                <a:latin typeface="+mn-lt"/>
                <a:cs typeface="Calibri"/>
              </a:rPr>
              <a:t> </a:t>
            </a:r>
            <a:r>
              <a:rPr lang="en-US" sz="2200" dirty="0">
                <a:latin typeface="+mn-lt"/>
                <a:cs typeface="Calibri"/>
              </a:rPr>
              <a:t>model</a:t>
            </a:r>
            <a:r>
              <a:rPr lang="en-US" sz="2200" spc="-30" dirty="0">
                <a:latin typeface="+mn-lt"/>
                <a:cs typeface="Calibri"/>
              </a:rPr>
              <a:t> </a:t>
            </a:r>
            <a:r>
              <a:rPr lang="en-US" sz="2200" spc="-8" dirty="0">
                <a:latin typeface="+mn-lt"/>
                <a:cs typeface="Calibri"/>
              </a:rPr>
              <a:t>architecture</a:t>
            </a:r>
          </a:p>
          <a:p>
            <a:pPr marL="132874" indent="-123349">
              <a:spcBef>
                <a:spcPts val="75"/>
              </a:spcBef>
              <a:buFont typeface="Arial MT"/>
              <a:buChar char="•"/>
              <a:tabLst>
                <a:tab pos="132874" algn="l"/>
              </a:tabLst>
            </a:pPr>
            <a:r>
              <a:rPr lang="en-US" sz="2200" dirty="0">
                <a:latin typeface="+mn-lt"/>
                <a:cs typeface="Calibri"/>
              </a:rPr>
              <a:t>Both </a:t>
            </a:r>
            <a:r>
              <a:rPr lang="en-US" sz="2200" dirty="0">
                <a:solidFill>
                  <a:srgbClr val="C00000"/>
                </a:solidFill>
                <a:latin typeface="+mn-lt"/>
                <a:cs typeface="Calibri"/>
              </a:rPr>
              <a:t>encoder</a:t>
            </a:r>
            <a:r>
              <a:rPr lang="en-US" sz="2200" dirty="0">
                <a:latin typeface="+mn-lt"/>
                <a:cs typeface="Calibri"/>
              </a:rPr>
              <a:t> and </a:t>
            </a:r>
            <a:r>
              <a:rPr lang="en-US" sz="2200" dirty="0">
                <a:solidFill>
                  <a:srgbClr val="C00000"/>
                </a:solidFill>
                <a:latin typeface="+mn-lt"/>
                <a:cs typeface="Calibri"/>
              </a:rPr>
              <a:t>decoder</a:t>
            </a:r>
            <a:r>
              <a:rPr lang="en-US" sz="2200" dirty="0">
                <a:latin typeface="+mn-lt"/>
                <a:cs typeface="Calibri"/>
              </a:rPr>
              <a:t> components</a:t>
            </a:r>
          </a:p>
          <a:p>
            <a:pPr marL="132874" indent="-123349">
              <a:spcBef>
                <a:spcPts val="75"/>
              </a:spcBef>
              <a:buFont typeface="Arial MT"/>
              <a:buChar char="•"/>
              <a:tabLst>
                <a:tab pos="132874" algn="l"/>
              </a:tabLst>
            </a:pPr>
            <a:r>
              <a:rPr lang="en-US" sz="2200" dirty="0">
                <a:latin typeface="+mn-lt"/>
                <a:cs typeface="Calibri"/>
              </a:rPr>
              <a:t>Tasks:</a:t>
            </a:r>
            <a:r>
              <a:rPr lang="en-US" sz="2200" spc="-64" dirty="0">
                <a:latin typeface="+mn-lt"/>
                <a:cs typeface="Calibri"/>
              </a:rPr>
              <a:t> </a:t>
            </a:r>
            <a:r>
              <a:rPr lang="en-US" sz="2200" spc="-8" dirty="0">
                <a:latin typeface="+mn-lt"/>
                <a:cs typeface="Calibri"/>
              </a:rPr>
              <a:t>Question answering, summarization, </a:t>
            </a:r>
            <a:r>
              <a:rPr lang="en-US" sz="2200" spc="-8" dirty="0">
                <a:solidFill>
                  <a:srgbClr val="C00000"/>
                </a:solidFill>
                <a:latin typeface="+mn-lt"/>
                <a:cs typeface="Calibri"/>
              </a:rPr>
              <a:t>translation</a:t>
            </a:r>
          </a:p>
          <a:p>
            <a:pPr marL="132874" indent="-123349">
              <a:spcBef>
                <a:spcPts val="75"/>
              </a:spcBef>
              <a:buFont typeface="Arial MT"/>
              <a:buChar char="•"/>
              <a:tabLst>
                <a:tab pos="132874" algn="l"/>
              </a:tabLst>
            </a:pPr>
            <a:r>
              <a:rPr lang="en-US" sz="2200" dirty="0">
                <a:latin typeface="+mn-lt"/>
                <a:cs typeface="Calibri"/>
              </a:rPr>
              <a:t>BART is an </a:t>
            </a:r>
            <a:r>
              <a:rPr lang="en-US" sz="2200" dirty="0">
                <a:solidFill>
                  <a:srgbClr val="C00000"/>
                </a:solidFill>
                <a:latin typeface="+mn-lt"/>
                <a:cs typeface="Calibri"/>
              </a:rPr>
              <a:t>open source </a:t>
            </a:r>
            <a:r>
              <a:rPr lang="en-US" sz="2200" dirty="0">
                <a:latin typeface="+mn-lt"/>
                <a:cs typeface="Calibri"/>
              </a:rPr>
              <a:t>LLM from Meta </a:t>
            </a:r>
          </a:p>
          <a:p>
            <a:pPr marL="9525">
              <a:spcBef>
                <a:spcPts val="278"/>
              </a:spcBef>
              <a:tabLst>
                <a:tab pos="180499" algn="l"/>
              </a:tabLst>
            </a:pPr>
            <a:endParaRPr lang="en-US" sz="2100" spc="-15" dirty="0">
              <a:latin typeface="Carlito"/>
              <a:cs typeface="Carlito"/>
            </a:endParaRPr>
          </a:p>
          <a:p>
            <a:pPr marL="9525">
              <a:spcBef>
                <a:spcPts val="278"/>
              </a:spcBef>
              <a:tabLst>
                <a:tab pos="180499" algn="l"/>
              </a:tabLst>
            </a:pPr>
            <a:endParaRPr lang="en-US" sz="2100" spc="-15" dirty="0">
              <a:latin typeface="Carlito"/>
              <a:cs typeface="Carlito"/>
            </a:endParaRPr>
          </a:p>
          <a:p>
            <a:pPr marL="9525">
              <a:spcBef>
                <a:spcPts val="278"/>
              </a:spcBef>
              <a:tabLst>
                <a:tab pos="180499" algn="l"/>
              </a:tabLst>
            </a:pPr>
            <a:r>
              <a:rPr lang="en-US" sz="2400" b="1" kern="100" dirty="0">
                <a:latin typeface="+mn-lt"/>
                <a:ea typeface="Aptos" panose="020B0004020202020204" pitchFamily="34" charset="0"/>
                <a:cs typeface="Arial" panose="020B0604020202020204" pitchFamily="34" charset="0"/>
              </a:rPr>
              <a:t>BART Pre-training</a:t>
            </a:r>
            <a:r>
              <a:rPr lang="en-US" sz="2400" kern="100" dirty="0">
                <a:latin typeface="+mn-lt"/>
                <a:ea typeface="Aptos" panose="020B0004020202020204" pitchFamily="34" charset="0"/>
                <a:cs typeface="Arial" panose="020B0604020202020204" pitchFamily="34" charset="0"/>
              </a:rPr>
              <a:t>: </a:t>
            </a:r>
            <a:endParaRPr lang="en-US" sz="2100" spc="-15" dirty="0">
              <a:latin typeface="Carlito"/>
              <a:cs typeface="Carlito"/>
            </a:endParaRPr>
          </a:p>
          <a:p>
            <a:pPr marL="180499" indent="-170974">
              <a:spcBef>
                <a:spcPts val="278"/>
              </a:spcBef>
              <a:buFont typeface="Arial"/>
              <a:buChar char="•"/>
              <a:tabLst>
                <a:tab pos="180499" algn="l"/>
              </a:tabLst>
            </a:pPr>
            <a:r>
              <a:rPr lang="en-US" sz="2200" spc="-15" dirty="0">
                <a:latin typeface="Carlito"/>
                <a:cs typeface="Carlito"/>
              </a:rPr>
              <a:t>BART is pre-trained on English </a:t>
            </a:r>
            <a:r>
              <a:rPr lang="en-US" sz="2200" spc="-15" dirty="0">
                <a:solidFill>
                  <a:srgbClr val="C00000"/>
                </a:solidFill>
                <a:latin typeface="Carlito"/>
                <a:cs typeface="Carlito"/>
              </a:rPr>
              <a:t>Wikipedia</a:t>
            </a:r>
            <a:r>
              <a:rPr lang="en-US" sz="2200" spc="-15" dirty="0">
                <a:latin typeface="Carlito"/>
                <a:cs typeface="Carlito"/>
              </a:rPr>
              <a:t>, a massive </a:t>
            </a:r>
            <a:r>
              <a:rPr lang="en-US" sz="2200" spc="-15" dirty="0">
                <a:solidFill>
                  <a:srgbClr val="C00000"/>
                </a:solidFill>
                <a:latin typeface="Carlito"/>
                <a:cs typeface="Carlito"/>
              </a:rPr>
              <a:t>web</a:t>
            </a:r>
            <a:r>
              <a:rPr lang="en-US" sz="2200" spc="-15" dirty="0">
                <a:latin typeface="Carlito"/>
                <a:cs typeface="Carlito"/>
              </a:rPr>
              <a:t> corpus and </a:t>
            </a:r>
            <a:r>
              <a:rPr lang="en-US" sz="2200" spc="-15" dirty="0">
                <a:solidFill>
                  <a:srgbClr val="C00000"/>
                </a:solidFill>
                <a:latin typeface="Carlito"/>
                <a:cs typeface="Carlito"/>
              </a:rPr>
              <a:t>Books</a:t>
            </a:r>
            <a:r>
              <a:rPr lang="en-US" sz="2200" spc="-15" dirty="0">
                <a:latin typeface="Carlito"/>
                <a:cs typeface="Carlito"/>
              </a:rPr>
              <a:t> </a:t>
            </a:r>
            <a:r>
              <a:rPr lang="en-US" sz="2200" spc="-15" dirty="0">
                <a:solidFill>
                  <a:srgbClr val="C00000"/>
                </a:solidFill>
                <a:latin typeface="Carlito"/>
                <a:cs typeface="Carlito"/>
              </a:rPr>
              <a:t>Corpus</a:t>
            </a:r>
          </a:p>
          <a:p>
            <a:pPr marL="180499" indent="-170974">
              <a:spcBef>
                <a:spcPts val="278"/>
              </a:spcBef>
              <a:buFont typeface="Arial"/>
              <a:buChar char="•"/>
              <a:tabLst>
                <a:tab pos="180499" algn="l"/>
              </a:tabLst>
            </a:pPr>
            <a:r>
              <a:rPr lang="en-US" sz="2200" spc="-15" dirty="0">
                <a:latin typeface="Carlito"/>
                <a:cs typeface="Carlito"/>
              </a:rPr>
              <a:t>BART present high</a:t>
            </a:r>
            <a:r>
              <a:rPr lang="en-US" sz="2200" spc="-15" dirty="0">
                <a:latin typeface="Carlito"/>
              </a:rPr>
              <a:t> performance on </a:t>
            </a:r>
            <a:r>
              <a:rPr lang="en-US" sz="2200" spc="-15" dirty="0">
                <a:solidFill>
                  <a:srgbClr val="C00000"/>
                </a:solidFill>
                <a:latin typeface="Carlito"/>
              </a:rPr>
              <a:t>translation</a:t>
            </a:r>
            <a:r>
              <a:rPr lang="en-US" sz="2200" spc="-15" dirty="0">
                <a:latin typeface="Carlito"/>
              </a:rPr>
              <a:t>, and summarizing.</a:t>
            </a:r>
          </a:p>
          <a:p>
            <a:pPr marL="180499" marR="282416" indent="-171450">
              <a:lnSpc>
                <a:spcPts val="2250"/>
              </a:lnSpc>
              <a:spcBef>
                <a:spcPts val="776"/>
              </a:spcBef>
              <a:buFont typeface="Arial"/>
              <a:buChar char="•"/>
              <a:tabLst>
                <a:tab pos="180499" algn="l"/>
              </a:tabLst>
            </a:pPr>
            <a:endParaRPr sz="2100" dirty="0">
              <a:latin typeface="Carlito"/>
              <a:cs typeface="Carlito"/>
            </a:endParaRPr>
          </a:p>
        </p:txBody>
      </p:sp>
    </p:spTree>
    <p:extLst>
      <p:ext uri="{BB962C8B-B14F-4D97-AF65-F5344CB8AC3E}">
        <p14:creationId xmlns:p14="http://schemas.microsoft.com/office/powerpoint/2010/main" val="36522077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31203" y="546167"/>
            <a:ext cx="7951472" cy="619016"/>
          </a:xfrm>
          <a:prstGeom prst="rect">
            <a:avLst/>
          </a:prstGeom>
        </p:spPr>
        <p:txBody>
          <a:bodyPr vert="horz" wrap="square" lIns="0" tIns="9525" rIns="0" bIns="0" numCol="1" rtlCol="0" anchor="ctr" anchorCtr="0" compatLnSpc="1">
            <a:prstTxWarp prst="textNoShape">
              <a:avLst/>
            </a:prstTxWarp>
            <a:spAutoFit/>
          </a:bodyPr>
          <a:lstStyle/>
          <a:p>
            <a:pPr marL="9525">
              <a:spcBef>
                <a:spcPts val="75"/>
              </a:spcBef>
            </a:pPr>
            <a:r>
              <a:rPr dirty="0"/>
              <a:t>B</a:t>
            </a:r>
            <a:r>
              <a:rPr lang="en-US" dirty="0"/>
              <a:t>A</a:t>
            </a:r>
            <a:r>
              <a:rPr dirty="0"/>
              <a:t>RT</a:t>
            </a:r>
            <a:r>
              <a:rPr spc="-165" dirty="0"/>
              <a:t> </a:t>
            </a:r>
            <a:r>
              <a:rPr dirty="0"/>
              <a:t>Model</a:t>
            </a:r>
            <a:r>
              <a:rPr spc="-161" dirty="0"/>
              <a:t> </a:t>
            </a:r>
            <a:r>
              <a:rPr spc="-23" dirty="0"/>
              <a:t>Architecture</a:t>
            </a:r>
          </a:p>
        </p:txBody>
      </p:sp>
      <p:sp>
        <p:nvSpPr>
          <p:cNvPr id="3" name="object 3"/>
          <p:cNvSpPr txBox="1"/>
          <p:nvPr/>
        </p:nvSpPr>
        <p:spPr>
          <a:xfrm>
            <a:off x="1031203" y="1481376"/>
            <a:ext cx="10813956" cy="4364786"/>
          </a:xfrm>
          <a:prstGeom prst="rect">
            <a:avLst/>
          </a:prstGeom>
        </p:spPr>
        <p:txBody>
          <a:bodyPr vert="horz" wrap="square" lIns="0" tIns="35243" rIns="0" bIns="0" rtlCol="0">
            <a:spAutoFit/>
          </a:bodyPr>
          <a:lstStyle/>
          <a:p>
            <a:pPr marL="180499" indent="-170974">
              <a:spcBef>
                <a:spcPts val="278"/>
              </a:spcBef>
              <a:buFont typeface="Arial"/>
              <a:buChar char="•"/>
              <a:tabLst>
                <a:tab pos="180499" algn="l"/>
              </a:tabLst>
            </a:pPr>
            <a:r>
              <a:rPr sz="2400" spc="-15" dirty="0">
                <a:latin typeface="+mn-lt"/>
                <a:cs typeface="Carlito"/>
              </a:rPr>
              <a:t>Multi-</a:t>
            </a:r>
            <a:r>
              <a:rPr sz="2400" dirty="0">
                <a:latin typeface="+mn-lt"/>
                <a:cs typeface="Carlito"/>
              </a:rPr>
              <a:t>layer</a:t>
            </a:r>
            <a:r>
              <a:rPr sz="2400" spc="-60" dirty="0">
                <a:latin typeface="+mn-lt"/>
                <a:cs typeface="Carlito"/>
              </a:rPr>
              <a:t> </a:t>
            </a:r>
            <a:r>
              <a:rPr sz="2400" spc="-23" dirty="0">
                <a:latin typeface="+mn-lt"/>
                <a:cs typeface="Carlito"/>
              </a:rPr>
              <a:t>Transformer</a:t>
            </a:r>
            <a:r>
              <a:rPr sz="2400" spc="-56" dirty="0">
                <a:latin typeface="+mn-lt"/>
                <a:cs typeface="Carlito"/>
              </a:rPr>
              <a:t> </a:t>
            </a:r>
            <a:r>
              <a:rPr lang="en-US" sz="2400" dirty="0">
                <a:solidFill>
                  <a:srgbClr val="C00000"/>
                </a:solidFill>
                <a:latin typeface="+mn-lt"/>
                <a:cs typeface="Carlito"/>
              </a:rPr>
              <a:t>E</a:t>
            </a:r>
            <a:r>
              <a:rPr sz="2400" dirty="0">
                <a:solidFill>
                  <a:srgbClr val="C00000"/>
                </a:solidFill>
                <a:latin typeface="+mn-lt"/>
                <a:cs typeface="Carlito"/>
              </a:rPr>
              <a:t>ncoder</a:t>
            </a:r>
            <a:r>
              <a:rPr sz="2400" spc="-60" dirty="0">
                <a:latin typeface="+mn-lt"/>
                <a:cs typeface="Carlito"/>
              </a:rPr>
              <a:t> </a:t>
            </a:r>
            <a:r>
              <a:rPr lang="en-US" sz="2400" spc="-8" dirty="0">
                <a:latin typeface="+mn-lt"/>
                <a:cs typeface="Carlito"/>
              </a:rPr>
              <a:t>and </a:t>
            </a:r>
            <a:r>
              <a:rPr lang="en-US" sz="2400" spc="-8" dirty="0">
                <a:solidFill>
                  <a:srgbClr val="C00000"/>
                </a:solidFill>
                <a:latin typeface="+mn-lt"/>
                <a:cs typeface="Carlito"/>
              </a:rPr>
              <a:t>Decoder</a:t>
            </a:r>
            <a:r>
              <a:rPr lang="en-US" sz="2400" spc="-8" dirty="0">
                <a:latin typeface="+mn-lt"/>
                <a:cs typeface="Carlito"/>
              </a:rPr>
              <a:t> M</a:t>
            </a:r>
            <a:r>
              <a:rPr sz="2400" spc="-8" dirty="0">
                <a:latin typeface="+mn-lt"/>
                <a:cs typeface="Carlito"/>
              </a:rPr>
              <a:t>odel</a:t>
            </a:r>
            <a:endParaRPr lang="en-US" sz="2400" spc="-8" dirty="0">
              <a:latin typeface="+mn-lt"/>
              <a:cs typeface="Carlito"/>
            </a:endParaRPr>
          </a:p>
          <a:p>
            <a:pPr marL="522446" lvl="1" indent="-170497">
              <a:spcBef>
                <a:spcPts val="172"/>
              </a:spcBef>
              <a:buFont typeface="Arial"/>
              <a:buChar char="•"/>
              <a:tabLst>
                <a:tab pos="522446" algn="l"/>
              </a:tabLst>
            </a:pPr>
            <a:r>
              <a:rPr lang="en-US" sz="2200" spc="-23" dirty="0">
                <a:latin typeface="+mn-lt"/>
                <a:cs typeface="Carlito"/>
              </a:rPr>
              <a:t>Bart-</a:t>
            </a:r>
            <a:r>
              <a:rPr lang="en-US" sz="2200" dirty="0">
                <a:latin typeface="+mn-lt"/>
                <a:cs typeface="Carlito"/>
              </a:rPr>
              <a:t>base:</a:t>
            </a:r>
            <a:r>
              <a:rPr lang="en-US" sz="2200" spc="-41" dirty="0">
                <a:latin typeface="+mn-lt"/>
                <a:cs typeface="Carlito"/>
              </a:rPr>
              <a:t> </a:t>
            </a:r>
            <a:r>
              <a:rPr lang="en-US" sz="2200" dirty="0">
                <a:solidFill>
                  <a:srgbClr val="C00000"/>
                </a:solidFill>
                <a:latin typeface="+mn-lt"/>
                <a:cs typeface="Carlito"/>
              </a:rPr>
              <a:t>6</a:t>
            </a:r>
            <a:r>
              <a:rPr lang="en-US" sz="2200" spc="-38" dirty="0">
                <a:latin typeface="+mn-lt"/>
                <a:cs typeface="Carlito"/>
              </a:rPr>
              <a:t> encoder </a:t>
            </a:r>
            <a:r>
              <a:rPr lang="en-US" sz="2200" spc="-8" dirty="0">
                <a:latin typeface="+mn-lt"/>
                <a:cs typeface="Carlito"/>
              </a:rPr>
              <a:t>layers,</a:t>
            </a:r>
            <a:r>
              <a:rPr lang="en-US" sz="2200" spc="-38" dirty="0">
                <a:latin typeface="+mn-lt"/>
                <a:cs typeface="Carlito"/>
              </a:rPr>
              <a:t> </a:t>
            </a:r>
            <a:r>
              <a:rPr lang="en-US" sz="2200" dirty="0">
                <a:solidFill>
                  <a:srgbClr val="C00000"/>
                </a:solidFill>
                <a:latin typeface="+mn-lt"/>
                <a:cs typeface="Carlito"/>
              </a:rPr>
              <a:t>6</a:t>
            </a:r>
            <a:r>
              <a:rPr lang="en-US" sz="2200" spc="-38" dirty="0">
                <a:latin typeface="+mn-lt"/>
                <a:cs typeface="Carlito"/>
              </a:rPr>
              <a:t> decoder </a:t>
            </a:r>
            <a:r>
              <a:rPr lang="en-US" sz="2200" spc="-8" dirty="0">
                <a:latin typeface="+mn-lt"/>
                <a:cs typeface="Carlito"/>
              </a:rPr>
              <a:t>layers</a:t>
            </a:r>
            <a:r>
              <a:rPr lang="en-US" sz="2200" dirty="0">
                <a:latin typeface="+mn-lt"/>
                <a:cs typeface="Carlito"/>
              </a:rPr>
              <a:t>,</a:t>
            </a:r>
            <a:r>
              <a:rPr lang="en-US" sz="2200" spc="-38" dirty="0">
                <a:latin typeface="+mn-lt"/>
                <a:cs typeface="Carlito"/>
              </a:rPr>
              <a:t> </a:t>
            </a:r>
            <a:r>
              <a:rPr lang="en-US" sz="2200" dirty="0">
                <a:latin typeface="+mn-lt"/>
              </a:rPr>
              <a:t>12 </a:t>
            </a:r>
            <a:r>
              <a:rPr lang="en-US" sz="2200" dirty="0">
                <a:solidFill>
                  <a:srgbClr val="C00000"/>
                </a:solidFill>
                <a:latin typeface="+mn-lt"/>
              </a:rPr>
              <a:t>attention heads, </a:t>
            </a:r>
            <a:r>
              <a:rPr lang="en-US" sz="2200" dirty="0">
                <a:latin typeface="+mn-lt"/>
                <a:cs typeface="Carlito"/>
              </a:rPr>
              <a:t>140M</a:t>
            </a:r>
            <a:r>
              <a:rPr lang="en-US" sz="2200" spc="-38" dirty="0">
                <a:latin typeface="+mn-lt"/>
                <a:cs typeface="Carlito"/>
              </a:rPr>
              <a:t> </a:t>
            </a:r>
            <a:r>
              <a:rPr lang="en-US" sz="2200" spc="-8" dirty="0">
                <a:latin typeface="+mn-lt"/>
                <a:cs typeface="Carlito"/>
              </a:rPr>
              <a:t>parameters</a:t>
            </a:r>
            <a:endParaRPr lang="en-US" sz="2200" dirty="0">
              <a:latin typeface="+mn-lt"/>
              <a:cs typeface="Carlito"/>
            </a:endParaRPr>
          </a:p>
          <a:p>
            <a:pPr marL="522446" lvl="1" indent="-170497">
              <a:spcBef>
                <a:spcPts val="161"/>
              </a:spcBef>
              <a:buFont typeface="Arial"/>
              <a:buChar char="•"/>
              <a:tabLst>
                <a:tab pos="522446" algn="l"/>
              </a:tabLst>
            </a:pPr>
            <a:r>
              <a:rPr lang="en-US" sz="2200" spc="-23" dirty="0">
                <a:latin typeface="+mn-lt"/>
                <a:cs typeface="Carlito"/>
              </a:rPr>
              <a:t>Bart-</a:t>
            </a:r>
            <a:r>
              <a:rPr lang="en-US" sz="2200" dirty="0">
                <a:latin typeface="+mn-lt"/>
                <a:cs typeface="Carlito"/>
              </a:rPr>
              <a:t>large:</a:t>
            </a:r>
            <a:r>
              <a:rPr lang="en-US" sz="2200" spc="-45" dirty="0">
                <a:latin typeface="+mn-lt"/>
                <a:cs typeface="Carlito"/>
              </a:rPr>
              <a:t> </a:t>
            </a:r>
            <a:r>
              <a:rPr lang="en-US" sz="2200" dirty="0">
                <a:solidFill>
                  <a:srgbClr val="C00000"/>
                </a:solidFill>
                <a:latin typeface="+mn-lt"/>
                <a:cs typeface="Carlito"/>
              </a:rPr>
              <a:t>12</a:t>
            </a:r>
            <a:r>
              <a:rPr lang="en-US" sz="2200" spc="-38" dirty="0">
                <a:latin typeface="+mn-lt"/>
                <a:cs typeface="Carlito"/>
              </a:rPr>
              <a:t> encoder </a:t>
            </a:r>
            <a:r>
              <a:rPr lang="en-US" sz="2200" spc="-8" dirty="0">
                <a:latin typeface="+mn-lt"/>
                <a:cs typeface="Carlito"/>
              </a:rPr>
              <a:t>layers,</a:t>
            </a:r>
            <a:r>
              <a:rPr lang="en-US" sz="2200" spc="-38" dirty="0">
                <a:latin typeface="+mn-lt"/>
                <a:cs typeface="Carlito"/>
              </a:rPr>
              <a:t> </a:t>
            </a:r>
            <a:r>
              <a:rPr lang="en-US" sz="2200" dirty="0">
                <a:solidFill>
                  <a:srgbClr val="C00000"/>
                </a:solidFill>
                <a:latin typeface="+mn-lt"/>
                <a:cs typeface="Carlito"/>
              </a:rPr>
              <a:t>12</a:t>
            </a:r>
            <a:r>
              <a:rPr lang="en-US" sz="2200" spc="-38" dirty="0">
                <a:latin typeface="+mn-lt"/>
                <a:cs typeface="Carlito"/>
              </a:rPr>
              <a:t> decoder </a:t>
            </a:r>
            <a:r>
              <a:rPr lang="en-US" sz="2200" spc="-8" dirty="0">
                <a:latin typeface="+mn-lt"/>
                <a:cs typeface="Carlito"/>
              </a:rPr>
              <a:t>layers</a:t>
            </a:r>
            <a:r>
              <a:rPr lang="en-US" sz="2200" dirty="0">
                <a:latin typeface="+mn-lt"/>
                <a:cs typeface="Carlito"/>
              </a:rPr>
              <a:t>,</a:t>
            </a:r>
            <a:r>
              <a:rPr lang="en-US" sz="2200" spc="-41" dirty="0">
                <a:latin typeface="+mn-lt"/>
                <a:cs typeface="Carlito"/>
              </a:rPr>
              <a:t> </a:t>
            </a:r>
            <a:r>
              <a:rPr lang="en-US" sz="2200" dirty="0">
                <a:latin typeface="+mn-lt"/>
              </a:rPr>
              <a:t>16 </a:t>
            </a:r>
            <a:r>
              <a:rPr lang="en-US" sz="2200" dirty="0">
                <a:solidFill>
                  <a:srgbClr val="C00000"/>
                </a:solidFill>
                <a:latin typeface="+mn-lt"/>
              </a:rPr>
              <a:t>attention heads</a:t>
            </a:r>
            <a:r>
              <a:rPr lang="en-US" sz="2200" dirty="0">
                <a:latin typeface="+mn-lt"/>
              </a:rPr>
              <a:t>, </a:t>
            </a:r>
            <a:r>
              <a:rPr lang="en-US" sz="2200" dirty="0">
                <a:latin typeface="+mn-lt"/>
                <a:cs typeface="Carlito"/>
              </a:rPr>
              <a:t>400M</a:t>
            </a:r>
            <a:r>
              <a:rPr lang="en-US" sz="2200" spc="-41" dirty="0">
                <a:latin typeface="+mn-lt"/>
                <a:cs typeface="Carlito"/>
              </a:rPr>
              <a:t> </a:t>
            </a:r>
            <a:r>
              <a:rPr lang="en-US" sz="2200" spc="-8" dirty="0">
                <a:latin typeface="+mn-lt"/>
                <a:cs typeface="Carlito"/>
              </a:rPr>
              <a:t>parameters</a:t>
            </a:r>
          </a:p>
          <a:p>
            <a:pPr marL="522446" lvl="1" indent="-170497">
              <a:spcBef>
                <a:spcPts val="161"/>
              </a:spcBef>
              <a:buFont typeface="Arial"/>
              <a:buChar char="•"/>
              <a:tabLst>
                <a:tab pos="522446" algn="l"/>
              </a:tabLst>
            </a:pPr>
            <a:r>
              <a:rPr lang="en-US" sz="2200" spc="-8" dirty="0">
                <a:latin typeface="+mn-lt"/>
                <a:cs typeface="Carlito"/>
              </a:rPr>
              <a:t>Self-attention , mask-attention and cross-attention (</a:t>
            </a:r>
            <a:r>
              <a:rPr lang="en-US" sz="2200" dirty="0">
                <a:latin typeface="+mn-lt"/>
              </a:rPr>
              <a:t>multiple attention mechanisms </a:t>
            </a:r>
            <a:r>
              <a:rPr lang="en-US" sz="2200" dirty="0">
                <a:solidFill>
                  <a:srgbClr val="C00000"/>
                </a:solidFill>
                <a:latin typeface="+mn-lt"/>
              </a:rPr>
              <a:t>increases</a:t>
            </a:r>
            <a:r>
              <a:rPr lang="en-US" sz="2200" dirty="0">
                <a:latin typeface="+mn-lt"/>
              </a:rPr>
              <a:t> the </a:t>
            </a:r>
            <a:r>
              <a:rPr lang="en-US" sz="2200" dirty="0">
                <a:solidFill>
                  <a:srgbClr val="C00000"/>
                </a:solidFill>
                <a:latin typeface="+mn-lt"/>
              </a:rPr>
              <a:t>computational cost</a:t>
            </a:r>
            <a:r>
              <a:rPr lang="en-US" sz="2200" dirty="0">
                <a:latin typeface="+mn-lt"/>
              </a:rPr>
              <a:t>, both in terms of processing and memory usage</a:t>
            </a:r>
            <a:r>
              <a:rPr lang="en-US" sz="2200" spc="-8" dirty="0">
                <a:latin typeface="+mn-lt"/>
                <a:cs typeface="Carlito"/>
              </a:rPr>
              <a:t>)</a:t>
            </a:r>
          </a:p>
          <a:p>
            <a:pPr marL="522446" lvl="1" indent="-170497">
              <a:spcBef>
                <a:spcPts val="161"/>
              </a:spcBef>
              <a:buFont typeface="Arial"/>
              <a:buChar char="•"/>
              <a:tabLst>
                <a:tab pos="522446" algn="l"/>
              </a:tabLst>
            </a:pPr>
            <a:r>
              <a:rPr lang="en-US" sz="2200" dirty="0">
                <a:latin typeface="+mn-lt"/>
                <a:cs typeface="Carlito"/>
              </a:rPr>
              <a:t>Context window of </a:t>
            </a:r>
            <a:r>
              <a:rPr lang="en-US" sz="2200" dirty="0">
                <a:solidFill>
                  <a:srgbClr val="C00000"/>
                </a:solidFill>
                <a:latin typeface="+mn-lt"/>
                <a:cs typeface="Carlito"/>
              </a:rPr>
              <a:t>512 tokens</a:t>
            </a:r>
          </a:p>
          <a:p>
            <a:pPr marL="522446" lvl="1" indent="-170497">
              <a:spcBef>
                <a:spcPts val="161"/>
              </a:spcBef>
              <a:buFont typeface="Arial"/>
              <a:buChar char="•"/>
              <a:tabLst>
                <a:tab pos="522446" algn="l"/>
              </a:tabLst>
            </a:pPr>
            <a:r>
              <a:rPr lang="en-US" sz="2200" spc="-8" dirty="0">
                <a:solidFill>
                  <a:srgbClr val="C00000"/>
                </a:solidFill>
                <a:latin typeface="+mn-lt"/>
                <a:cs typeface="Carlito"/>
              </a:rPr>
              <a:t>BPE</a:t>
            </a:r>
            <a:r>
              <a:rPr lang="en-US" sz="2200" spc="-105" dirty="0">
                <a:latin typeface="+mn-lt"/>
                <a:cs typeface="Carlito"/>
              </a:rPr>
              <a:t> </a:t>
            </a:r>
            <a:r>
              <a:rPr lang="en-US" sz="2200" spc="-8" dirty="0">
                <a:latin typeface="+mn-lt"/>
                <a:cs typeface="Carlito"/>
              </a:rPr>
              <a:t>embedding</a:t>
            </a:r>
          </a:p>
          <a:p>
            <a:pPr marL="351949" lvl="1">
              <a:spcBef>
                <a:spcPts val="161"/>
              </a:spcBef>
              <a:tabLst>
                <a:tab pos="522446" algn="l"/>
              </a:tabLst>
            </a:pPr>
            <a:endParaRPr lang="en-US" sz="2200" kern="100" dirty="0">
              <a:solidFill>
                <a:srgbClr val="C00000"/>
              </a:solidFill>
              <a:effectLst/>
              <a:latin typeface="+mn-lt"/>
              <a:ea typeface="Aptos" panose="020B0004020202020204" pitchFamily="34" charset="0"/>
              <a:cs typeface="Arial" panose="020B0604020202020204" pitchFamily="34" charset="0"/>
            </a:endParaRPr>
          </a:p>
          <a:p>
            <a:pPr marL="351949" lvl="1">
              <a:spcBef>
                <a:spcPts val="161"/>
              </a:spcBef>
              <a:tabLst>
                <a:tab pos="522446" algn="l"/>
              </a:tabLst>
            </a:pPr>
            <a:endParaRPr lang="en-US" sz="2200" kern="100" dirty="0">
              <a:solidFill>
                <a:srgbClr val="C00000"/>
              </a:solidFill>
              <a:latin typeface="+mn-lt"/>
              <a:ea typeface="Aptos" panose="020B0004020202020204" pitchFamily="34" charset="0"/>
              <a:cs typeface="Arial" panose="020B0604020202020204" pitchFamily="34" charset="0"/>
            </a:endParaRPr>
          </a:p>
          <a:p>
            <a:pPr marL="351949" lvl="1">
              <a:spcBef>
                <a:spcPts val="161"/>
              </a:spcBef>
              <a:tabLst>
                <a:tab pos="522446" algn="l"/>
              </a:tabLst>
            </a:pPr>
            <a:endParaRPr lang="en-US" sz="2000" dirty="0">
              <a:solidFill>
                <a:srgbClr val="C00000"/>
              </a:solidFill>
              <a:latin typeface="+mn-lt"/>
              <a:cs typeface="Carlito"/>
            </a:endParaRPr>
          </a:p>
          <a:p>
            <a:pPr marL="351949" lvl="1">
              <a:spcBef>
                <a:spcPts val="161"/>
              </a:spcBef>
              <a:tabLst>
                <a:tab pos="522446" algn="l"/>
              </a:tabLst>
            </a:pPr>
            <a:endParaRPr sz="2000" dirty="0">
              <a:latin typeface="+mn-lt"/>
              <a:cs typeface="Carlito"/>
            </a:endParaRPr>
          </a:p>
          <a:p>
            <a:pPr marL="180499" marR="282416" indent="-171450">
              <a:lnSpc>
                <a:spcPts val="2250"/>
              </a:lnSpc>
              <a:spcBef>
                <a:spcPts val="776"/>
              </a:spcBef>
              <a:buFont typeface="Arial"/>
              <a:buChar char="•"/>
              <a:tabLst>
                <a:tab pos="180499" algn="l"/>
              </a:tabLst>
            </a:pPr>
            <a:endParaRPr sz="2400" dirty="0">
              <a:latin typeface="+mn-lt"/>
              <a:cs typeface="Carlito"/>
            </a:endParaRPr>
          </a:p>
        </p:txBody>
      </p:sp>
      <p:pic>
        <p:nvPicPr>
          <p:cNvPr id="7" name="Picture 6">
            <a:extLst>
              <a:ext uri="{FF2B5EF4-FFF2-40B4-BE49-F238E27FC236}">
                <a16:creationId xmlns:a16="http://schemas.microsoft.com/office/drawing/2014/main" id="{022D69DB-A733-D4E5-37B9-5B245FA54786}"/>
              </a:ext>
            </a:extLst>
          </p:cNvPr>
          <p:cNvPicPr>
            <a:picLocks noChangeAspect="1"/>
          </p:cNvPicPr>
          <p:nvPr/>
        </p:nvPicPr>
        <p:blipFill>
          <a:blip r:embed="rId2"/>
          <a:stretch>
            <a:fillRect/>
          </a:stretch>
        </p:blipFill>
        <p:spPr>
          <a:xfrm>
            <a:off x="6096000" y="3481667"/>
            <a:ext cx="5540495" cy="3292637"/>
          </a:xfrm>
          <a:prstGeom prst="rect">
            <a:avLst/>
          </a:prstGeom>
        </p:spPr>
      </p:pic>
      <p:sp>
        <p:nvSpPr>
          <p:cNvPr id="5" name="TextBox 4">
            <a:extLst>
              <a:ext uri="{FF2B5EF4-FFF2-40B4-BE49-F238E27FC236}">
                <a16:creationId xmlns:a16="http://schemas.microsoft.com/office/drawing/2014/main" id="{B4C9B726-E474-8807-217A-54385C3F243D}"/>
              </a:ext>
            </a:extLst>
          </p:cNvPr>
          <p:cNvSpPr txBox="1"/>
          <p:nvPr/>
        </p:nvSpPr>
        <p:spPr>
          <a:xfrm>
            <a:off x="1113396" y="4491945"/>
            <a:ext cx="4533472" cy="707886"/>
          </a:xfrm>
          <a:prstGeom prst="rect">
            <a:avLst/>
          </a:prstGeom>
          <a:noFill/>
        </p:spPr>
        <p:txBody>
          <a:bodyPr wrap="square">
            <a:spAutoFit/>
          </a:bodyPr>
          <a:lstStyle/>
          <a:p>
            <a:pPr marL="351949" lvl="1">
              <a:spcBef>
                <a:spcPts val="161"/>
              </a:spcBef>
              <a:tabLst>
                <a:tab pos="522446" algn="l"/>
              </a:tabLst>
            </a:pPr>
            <a:r>
              <a:rPr lang="en-US" sz="2000" kern="100" dirty="0" err="1">
                <a:effectLst/>
                <a:latin typeface="+mn-lt"/>
                <a:ea typeface="Aptos" panose="020B0004020202020204" pitchFamily="34" charset="0"/>
                <a:cs typeface="Arial" panose="020B0604020202020204" pitchFamily="34" charset="0"/>
              </a:rPr>
              <a:t>MarianMT</a:t>
            </a:r>
            <a:r>
              <a:rPr lang="en-US" sz="2000" kern="100" dirty="0">
                <a:effectLst/>
                <a:latin typeface="+mn-lt"/>
                <a:ea typeface="Aptos" panose="020B0004020202020204" pitchFamily="34" charset="0"/>
                <a:cs typeface="Arial" panose="020B0604020202020204" pitchFamily="34" charset="0"/>
              </a:rPr>
              <a:t> and Google’s T5</a:t>
            </a:r>
            <a:r>
              <a:rPr lang="en-US" sz="2000" kern="100" dirty="0">
                <a:latin typeface="+mn-lt"/>
                <a:ea typeface="Aptos" panose="020B0004020202020204" pitchFamily="34" charset="0"/>
                <a:cs typeface="Arial" panose="020B0604020202020204" pitchFamily="34" charset="0"/>
              </a:rPr>
              <a:t> </a:t>
            </a:r>
            <a:r>
              <a:rPr lang="en-US" sz="2000" kern="100" dirty="0">
                <a:effectLst/>
                <a:latin typeface="+mn-lt"/>
                <a:ea typeface="Aptos" panose="020B0004020202020204" pitchFamily="34" charset="0"/>
                <a:cs typeface="Arial" panose="020B0604020202020204" pitchFamily="34" charset="0"/>
              </a:rPr>
              <a:t>are also </a:t>
            </a:r>
            <a:r>
              <a:rPr lang="en-US" sz="2000" kern="100" dirty="0">
                <a:solidFill>
                  <a:srgbClr val="C00000"/>
                </a:solidFill>
                <a:effectLst/>
                <a:latin typeface="+mn-lt"/>
                <a:ea typeface="Aptos" panose="020B0004020202020204" pitchFamily="34" charset="0"/>
                <a:cs typeface="Arial" panose="020B0604020202020204" pitchFamily="34" charset="0"/>
              </a:rPr>
              <a:t>encoder-decoder</a:t>
            </a:r>
            <a:r>
              <a:rPr lang="en-US" sz="2000" kern="100" dirty="0">
                <a:effectLst/>
                <a:latin typeface="+mn-lt"/>
                <a:ea typeface="Aptos" panose="020B0004020202020204" pitchFamily="34" charset="0"/>
                <a:cs typeface="Arial" panose="020B0604020202020204" pitchFamily="34" charset="0"/>
              </a:rPr>
              <a:t> models</a:t>
            </a:r>
          </a:p>
        </p:txBody>
      </p:sp>
      <p:sp>
        <p:nvSpPr>
          <p:cNvPr id="6" name="TextBox 5">
            <a:extLst>
              <a:ext uri="{FF2B5EF4-FFF2-40B4-BE49-F238E27FC236}">
                <a16:creationId xmlns:a16="http://schemas.microsoft.com/office/drawing/2014/main" id="{B99EA0FA-2226-6CAF-8BF4-098546367577}"/>
              </a:ext>
            </a:extLst>
          </p:cNvPr>
          <p:cNvSpPr txBox="1"/>
          <p:nvPr/>
        </p:nvSpPr>
        <p:spPr>
          <a:xfrm>
            <a:off x="1477882" y="5598317"/>
            <a:ext cx="4409454" cy="646331"/>
          </a:xfrm>
          <a:prstGeom prst="rect">
            <a:avLst/>
          </a:prstGeom>
          <a:noFill/>
        </p:spPr>
        <p:txBody>
          <a:bodyPr wrap="square">
            <a:spAutoFit/>
          </a:bodyPr>
          <a:lstStyle/>
          <a:p>
            <a:r>
              <a:rPr lang="en-US" dirty="0">
                <a:solidFill>
                  <a:srgbClr val="C00000"/>
                </a:solidFill>
              </a:rPr>
              <a:t>Encoder-decoder</a:t>
            </a:r>
            <a:r>
              <a:rPr lang="en-US" dirty="0"/>
              <a:t> models fit better for some</a:t>
            </a:r>
            <a:r>
              <a:rPr lang="en-US" dirty="0">
                <a:solidFill>
                  <a:srgbClr val="C00000"/>
                </a:solidFill>
              </a:rPr>
              <a:t> </a:t>
            </a:r>
            <a:r>
              <a:rPr lang="en-US" dirty="0"/>
              <a:t>tasks</a:t>
            </a:r>
            <a:r>
              <a:rPr lang="en-US" dirty="0">
                <a:solidFill>
                  <a:srgbClr val="C00000"/>
                </a:solidFill>
              </a:rPr>
              <a:t> </a:t>
            </a:r>
            <a:r>
              <a:rPr lang="en-US" dirty="0"/>
              <a:t>like </a:t>
            </a:r>
            <a:r>
              <a:rPr lang="en-US" dirty="0">
                <a:solidFill>
                  <a:srgbClr val="C00000"/>
                </a:solidFill>
              </a:rPr>
              <a:t>translation</a:t>
            </a:r>
            <a:r>
              <a:rPr lang="en-US" dirty="0"/>
              <a:t> and </a:t>
            </a:r>
            <a:r>
              <a:rPr lang="en-US" dirty="0">
                <a:solidFill>
                  <a:srgbClr val="C00000"/>
                </a:solidFill>
              </a:rPr>
              <a:t>summarizing</a:t>
            </a:r>
          </a:p>
        </p:txBody>
      </p:sp>
    </p:spTree>
    <p:extLst>
      <p:ext uri="{BB962C8B-B14F-4D97-AF65-F5344CB8AC3E}">
        <p14:creationId xmlns:p14="http://schemas.microsoft.com/office/powerpoint/2010/main" val="21800770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F065-6389-9E10-E796-C939995DCF65}"/>
              </a:ext>
            </a:extLst>
          </p:cNvPr>
          <p:cNvSpPr>
            <a:spLocks noGrp="1"/>
          </p:cNvSpPr>
          <p:nvPr>
            <p:ph type="title"/>
          </p:nvPr>
        </p:nvSpPr>
        <p:spPr/>
        <p:txBody>
          <a:bodyPr/>
          <a:lstStyle/>
          <a:p>
            <a:r>
              <a:rPr lang="en-US" dirty="0"/>
              <a:t>Vision Transformer (</a:t>
            </a:r>
            <a:r>
              <a:rPr lang="en-US" dirty="0" err="1"/>
              <a:t>ViT</a:t>
            </a:r>
            <a:r>
              <a:rPr lang="en-US" dirty="0"/>
              <a:t>)</a:t>
            </a:r>
          </a:p>
        </p:txBody>
      </p:sp>
      <p:sp>
        <p:nvSpPr>
          <p:cNvPr id="3" name="Content Placeholder 2">
            <a:extLst>
              <a:ext uri="{FF2B5EF4-FFF2-40B4-BE49-F238E27FC236}">
                <a16:creationId xmlns:a16="http://schemas.microsoft.com/office/drawing/2014/main" id="{53CD8391-B426-78F6-52DF-A29BD1B8F074}"/>
              </a:ext>
            </a:extLst>
          </p:cNvPr>
          <p:cNvSpPr>
            <a:spLocks noGrp="1"/>
          </p:cNvSpPr>
          <p:nvPr>
            <p:ph idx="1"/>
          </p:nvPr>
        </p:nvSpPr>
        <p:spPr>
          <a:xfrm>
            <a:off x="864742" y="1507105"/>
            <a:ext cx="11204289" cy="4351338"/>
          </a:xfrm>
        </p:spPr>
        <p:txBody>
          <a:bodyPr/>
          <a:lstStyle/>
          <a:p>
            <a:r>
              <a:rPr lang="en-US" sz="2600" dirty="0">
                <a:solidFill>
                  <a:srgbClr val="C00000"/>
                </a:solidFill>
              </a:rPr>
              <a:t>Transformers</a:t>
            </a:r>
            <a:r>
              <a:rPr lang="en-US" sz="2600" dirty="0"/>
              <a:t> can also be used for processing </a:t>
            </a:r>
            <a:r>
              <a:rPr lang="en-US" sz="2600" dirty="0">
                <a:solidFill>
                  <a:srgbClr val="C00000"/>
                </a:solidFill>
              </a:rPr>
              <a:t>images </a:t>
            </a:r>
            <a:r>
              <a:rPr lang="en-US" sz="2600" dirty="0"/>
              <a:t>since images can be presented by</a:t>
            </a:r>
            <a:r>
              <a:rPr lang="en-US" sz="2600" dirty="0">
                <a:solidFill>
                  <a:srgbClr val="C00000"/>
                </a:solidFill>
              </a:rPr>
              <a:t> vectors </a:t>
            </a:r>
          </a:p>
          <a:p>
            <a:r>
              <a:rPr lang="en-US" sz="2600" dirty="0" err="1"/>
              <a:t>ViT</a:t>
            </a:r>
            <a:r>
              <a:rPr lang="en-US" sz="2600" dirty="0"/>
              <a:t> is one of the most popular implementations of </a:t>
            </a:r>
            <a:r>
              <a:rPr lang="en-US" sz="2600" dirty="0">
                <a:solidFill>
                  <a:srgbClr val="C00000"/>
                </a:solidFill>
              </a:rPr>
              <a:t>image transformers</a:t>
            </a:r>
            <a:r>
              <a:rPr lang="en-US" sz="2600" dirty="0"/>
              <a:t>. </a:t>
            </a:r>
          </a:p>
          <a:p>
            <a:r>
              <a:rPr lang="en-US" sz="2600" dirty="0"/>
              <a:t>The image is divided into </a:t>
            </a:r>
            <a:r>
              <a:rPr lang="en-US" sz="2600" dirty="0">
                <a:solidFill>
                  <a:srgbClr val="C00000"/>
                </a:solidFill>
              </a:rPr>
              <a:t>patches</a:t>
            </a:r>
            <a:r>
              <a:rPr lang="en-US" sz="2600" dirty="0"/>
              <a:t>, which are </a:t>
            </a:r>
            <a:r>
              <a:rPr lang="en-US" sz="2600" dirty="0">
                <a:solidFill>
                  <a:srgbClr val="C00000"/>
                </a:solidFill>
              </a:rPr>
              <a:t>flattened</a:t>
            </a:r>
            <a:r>
              <a:rPr lang="en-US" sz="2600" dirty="0"/>
              <a:t> and converted to </a:t>
            </a:r>
            <a:r>
              <a:rPr lang="en-US" sz="2600" dirty="0">
                <a:solidFill>
                  <a:srgbClr val="C00000"/>
                </a:solidFill>
              </a:rPr>
              <a:t>vectors</a:t>
            </a:r>
            <a:r>
              <a:rPr lang="en-US" sz="2600" dirty="0"/>
              <a:t>. </a:t>
            </a:r>
          </a:p>
          <a:p>
            <a:r>
              <a:rPr lang="en-US" sz="2600" dirty="0">
                <a:solidFill>
                  <a:srgbClr val="C00000"/>
                </a:solidFill>
              </a:rPr>
              <a:t>Vectors of patches </a:t>
            </a:r>
            <a:r>
              <a:rPr lang="en-US" sz="2600" dirty="0"/>
              <a:t>are processed like tokens with </a:t>
            </a:r>
            <a:r>
              <a:rPr lang="en-US" sz="2600" dirty="0">
                <a:solidFill>
                  <a:srgbClr val="C00000"/>
                </a:solidFill>
              </a:rPr>
              <a:t>self-attention</a:t>
            </a:r>
            <a:r>
              <a:rPr lang="en-US" sz="2600" dirty="0"/>
              <a:t> layers capturing the relationships between them.</a:t>
            </a:r>
          </a:p>
        </p:txBody>
      </p:sp>
      <p:pic>
        <p:nvPicPr>
          <p:cNvPr id="5" name="Picture 4">
            <a:extLst>
              <a:ext uri="{FF2B5EF4-FFF2-40B4-BE49-F238E27FC236}">
                <a16:creationId xmlns:a16="http://schemas.microsoft.com/office/drawing/2014/main" id="{CD075B67-15C2-8E61-F63D-077865CE6C57}"/>
              </a:ext>
            </a:extLst>
          </p:cNvPr>
          <p:cNvPicPr>
            <a:picLocks noChangeAspect="1"/>
          </p:cNvPicPr>
          <p:nvPr/>
        </p:nvPicPr>
        <p:blipFill>
          <a:blip r:embed="rId2"/>
          <a:stretch>
            <a:fillRect/>
          </a:stretch>
        </p:blipFill>
        <p:spPr>
          <a:xfrm>
            <a:off x="7441914" y="3769759"/>
            <a:ext cx="4600575" cy="3048000"/>
          </a:xfrm>
          <a:prstGeom prst="rect">
            <a:avLst/>
          </a:prstGeom>
        </p:spPr>
      </p:pic>
      <p:sp>
        <p:nvSpPr>
          <p:cNvPr id="7" name="TextBox 6">
            <a:extLst>
              <a:ext uri="{FF2B5EF4-FFF2-40B4-BE49-F238E27FC236}">
                <a16:creationId xmlns:a16="http://schemas.microsoft.com/office/drawing/2014/main" id="{F6B10E1A-8FD4-5925-33AD-A54176DA70A5}"/>
              </a:ext>
            </a:extLst>
          </p:cNvPr>
          <p:cNvSpPr txBox="1"/>
          <p:nvPr/>
        </p:nvSpPr>
        <p:spPr>
          <a:xfrm>
            <a:off x="5011220" y="6176963"/>
            <a:ext cx="6097712" cy="369332"/>
          </a:xfrm>
          <a:prstGeom prst="rect">
            <a:avLst/>
          </a:prstGeom>
          <a:noFill/>
        </p:spPr>
        <p:txBody>
          <a:bodyPr wrap="square">
            <a:spAutoFit/>
          </a:bodyPr>
          <a:lstStyle/>
          <a:p>
            <a:r>
              <a:rPr lang="en-US" dirty="0">
                <a:solidFill>
                  <a:srgbClr val="C00000"/>
                </a:solidFill>
              </a:rPr>
              <a:t>Pixels</a:t>
            </a:r>
            <a:r>
              <a:rPr lang="en-US" dirty="0"/>
              <a:t> flattens as </a:t>
            </a:r>
            <a:r>
              <a:rPr lang="en-US" dirty="0">
                <a:solidFill>
                  <a:srgbClr val="C00000"/>
                </a:solidFill>
              </a:rPr>
              <a:t>vectors</a:t>
            </a:r>
            <a:r>
              <a:rPr lang="en-US" dirty="0"/>
              <a:t> </a:t>
            </a:r>
          </a:p>
        </p:txBody>
      </p:sp>
      <p:sp>
        <p:nvSpPr>
          <p:cNvPr id="6" name="TextBox 5">
            <a:extLst>
              <a:ext uri="{FF2B5EF4-FFF2-40B4-BE49-F238E27FC236}">
                <a16:creationId xmlns:a16="http://schemas.microsoft.com/office/drawing/2014/main" id="{71E8E4A1-1584-4DAC-BC1D-3A8DDA061C3C}"/>
              </a:ext>
            </a:extLst>
          </p:cNvPr>
          <p:cNvSpPr txBox="1"/>
          <p:nvPr/>
        </p:nvSpPr>
        <p:spPr>
          <a:xfrm>
            <a:off x="1035549" y="4535004"/>
            <a:ext cx="5191018" cy="1323439"/>
          </a:xfrm>
          <a:prstGeom prst="rect">
            <a:avLst/>
          </a:prstGeom>
          <a:noFill/>
        </p:spPr>
        <p:txBody>
          <a:bodyPr wrap="square">
            <a:spAutoFit/>
          </a:bodyPr>
          <a:lstStyle/>
          <a:p>
            <a:r>
              <a:rPr lang="en-US" sz="2000" b="1" dirty="0"/>
              <a:t>Example</a:t>
            </a:r>
            <a:r>
              <a:rPr lang="en-US" sz="2000" dirty="0"/>
              <a:t>:</a:t>
            </a:r>
          </a:p>
          <a:p>
            <a:r>
              <a:rPr lang="en-US" sz="2000" dirty="0"/>
              <a:t>Suppose each patch is 16×16 with RGB color:</a:t>
            </a:r>
          </a:p>
          <a:p>
            <a:r>
              <a:rPr lang="en-US" sz="2000" dirty="0"/>
              <a:t>(16×16×3)=768 dimensions of each vector representation of a patch</a:t>
            </a:r>
          </a:p>
        </p:txBody>
      </p:sp>
    </p:spTree>
    <p:extLst>
      <p:ext uri="{BB962C8B-B14F-4D97-AF65-F5344CB8AC3E}">
        <p14:creationId xmlns:p14="http://schemas.microsoft.com/office/powerpoint/2010/main" val="36185898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B9397-5F1A-A693-2A50-EC6409C3F3FD}"/>
              </a:ext>
            </a:extLst>
          </p:cNvPr>
          <p:cNvSpPr>
            <a:spLocks noGrp="1"/>
          </p:cNvSpPr>
          <p:nvPr>
            <p:ph type="title"/>
          </p:nvPr>
        </p:nvSpPr>
        <p:spPr/>
        <p:txBody>
          <a:bodyPr/>
          <a:lstStyle/>
          <a:p>
            <a:r>
              <a:rPr lang="en-US" dirty="0"/>
              <a:t>Images in VIT </a:t>
            </a:r>
          </a:p>
        </p:txBody>
      </p:sp>
      <p:sp>
        <p:nvSpPr>
          <p:cNvPr id="4" name="Rectangle 1">
            <a:extLst>
              <a:ext uri="{FF2B5EF4-FFF2-40B4-BE49-F238E27FC236}">
                <a16:creationId xmlns:a16="http://schemas.microsoft.com/office/drawing/2014/main" id="{86BB84FD-FF84-78EE-F35B-AA097132CAC2}"/>
              </a:ext>
            </a:extLst>
          </p:cNvPr>
          <p:cNvSpPr>
            <a:spLocks noGrp="1" noChangeArrowheads="1"/>
          </p:cNvSpPr>
          <p:nvPr>
            <p:ph idx="1"/>
          </p:nvPr>
        </p:nvSpPr>
        <p:spPr bwMode="auto">
          <a:xfrm>
            <a:off x="910119" y="1870279"/>
            <a:ext cx="10515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cs typeface="Arial" panose="020B0604020202020204" pitchFamily="34" charset="0"/>
              </a:rPr>
              <a:t>Self-Attention</a:t>
            </a:r>
            <a:r>
              <a:rPr kumimoji="0" lang="en-US" altLang="en-US" sz="2400" b="0" i="0" u="none" strike="noStrike" cap="none" normalizeH="0" baseline="0" dirty="0">
                <a:ln>
                  <a:noFill/>
                </a:ln>
                <a:solidFill>
                  <a:schemeClr val="tx1"/>
                </a:solidFill>
                <a:effectLst/>
                <a:cs typeface="Arial" panose="020B0604020202020204" pitchFamily="34" charset="0"/>
              </a:rPr>
              <a:t>: Image transformers allow for </a:t>
            </a:r>
            <a:r>
              <a:rPr kumimoji="0" lang="en-US" altLang="en-US" sz="2400" b="0" i="0" u="none" strike="noStrike" cap="none" normalizeH="0" baseline="0" dirty="0">
                <a:ln>
                  <a:noFill/>
                </a:ln>
                <a:solidFill>
                  <a:srgbClr val="C00000"/>
                </a:solidFill>
                <a:effectLst/>
                <a:cs typeface="Arial" panose="020B0604020202020204" pitchFamily="34" charset="0"/>
              </a:rPr>
              <a:t>global relationships </a:t>
            </a:r>
            <a:r>
              <a:rPr kumimoji="0" lang="en-US" altLang="en-US" sz="2400" b="0" i="0" u="none" strike="noStrike" cap="none" normalizeH="0" baseline="0" dirty="0">
                <a:ln>
                  <a:noFill/>
                </a:ln>
                <a:solidFill>
                  <a:schemeClr val="tx1"/>
                </a:solidFill>
                <a:effectLst/>
                <a:cs typeface="Arial" panose="020B0604020202020204" pitchFamily="34" charset="0"/>
              </a:rPr>
              <a:t>between patches, enabling the model to understand </a:t>
            </a:r>
            <a:r>
              <a:rPr kumimoji="0" lang="en-US" altLang="en-US" sz="2400" b="0" i="0" u="none" strike="noStrike" cap="none" normalizeH="0" baseline="0" dirty="0">
                <a:ln>
                  <a:noFill/>
                </a:ln>
                <a:solidFill>
                  <a:srgbClr val="C00000"/>
                </a:solidFill>
                <a:effectLst/>
                <a:cs typeface="Arial" panose="020B0604020202020204" pitchFamily="34" charset="0"/>
              </a:rPr>
              <a:t>broader patterns </a:t>
            </a:r>
            <a:r>
              <a:rPr kumimoji="0" lang="en-US" altLang="en-US" sz="2400" b="0" i="0" u="none" strike="noStrike" cap="none" normalizeH="0" baseline="0" dirty="0">
                <a:ln>
                  <a:noFill/>
                </a:ln>
                <a:solidFill>
                  <a:schemeClr val="tx1"/>
                </a:solidFill>
                <a:effectLst/>
                <a:cs typeface="Arial" panose="020B0604020202020204" pitchFamily="34" charset="0"/>
              </a:rPr>
              <a:t>in the image.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cs typeface="Arial" panose="020B0604020202020204" pitchFamily="34" charset="0"/>
            </a:endParaRPr>
          </a:p>
        </p:txBody>
      </p:sp>
      <p:pic>
        <p:nvPicPr>
          <p:cNvPr id="9" name="Picture 8">
            <a:extLst>
              <a:ext uri="{FF2B5EF4-FFF2-40B4-BE49-F238E27FC236}">
                <a16:creationId xmlns:a16="http://schemas.microsoft.com/office/drawing/2014/main" id="{9A809EAA-36C0-40E1-50D8-4CCD1DBBCA58}"/>
              </a:ext>
            </a:extLst>
          </p:cNvPr>
          <p:cNvPicPr>
            <a:picLocks noChangeAspect="1"/>
          </p:cNvPicPr>
          <p:nvPr/>
        </p:nvPicPr>
        <p:blipFill>
          <a:blip r:embed="rId2"/>
          <a:stretch>
            <a:fillRect/>
          </a:stretch>
        </p:blipFill>
        <p:spPr>
          <a:xfrm>
            <a:off x="5059326" y="3011177"/>
            <a:ext cx="6222555" cy="3555746"/>
          </a:xfrm>
          <a:prstGeom prst="rect">
            <a:avLst/>
          </a:prstGeom>
        </p:spPr>
      </p:pic>
      <p:sp>
        <p:nvSpPr>
          <p:cNvPr id="11" name="TextBox 10">
            <a:extLst>
              <a:ext uri="{FF2B5EF4-FFF2-40B4-BE49-F238E27FC236}">
                <a16:creationId xmlns:a16="http://schemas.microsoft.com/office/drawing/2014/main" id="{D18742D8-CDB4-7B7C-81C9-C29BF92D7A9C}"/>
              </a:ext>
            </a:extLst>
          </p:cNvPr>
          <p:cNvSpPr txBox="1"/>
          <p:nvPr/>
        </p:nvSpPr>
        <p:spPr>
          <a:xfrm>
            <a:off x="1128445" y="5993317"/>
            <a:ext cx="6097712" cy="369332"/>
          </a:xfrm>
          <a:prstGeom prst="rect">
            <a:avLst/>
          </a:prstGeom>
          <a:noFill/>
        </p:spPr>
        <p:txBody>
          <a:bodyPr wrap="square">
            <a:spAutoFit/>
          </a:bodyPr>
          <a:lstStyle/>
          <a:p>
            <a:r>
              <a:rPr lang="en-US" dirty="0"/>
              <a:t>For each patch embedding, Q,K,V vectors are created</a:t>
            </a:r>
          </a:p>
        </p:txBody>
      </p:sp>
    </p:spTree>
    <p:extLst>
      <p:ext uri="{BB962C8B-B14F-4D97-AF65-F5344CB8AC3E}">
        <p14:creationId xmlns:p14="http://schemas.microsoft.com/office/powerpoint/2010/main" val="23341818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62A9634-9D7E-8813-E30C-E6D18873E998}"/>
              </a:ext>
            </a:extLst>
          </p:cNvPr>
          <p:cNvPicPr>
            <a:picLocks noChangeAspect="1"/>
          </p:cNvPicPr>
          <p:nvPr/>
        </p:nvPicPr>
        <p:blipFill>
          <a:blip r:embed="rId2"/>
          <a:stretch>
            <a:fillRect/>
          </a:stretch>
        </p:blipFill>
        <p:spPr>
          <a:xfrm>
            <a:off x="3652944" y="4592548"/>
            <a:ext cx="4514286" cy="2265452"/>
          </a:xfrm>
          <a:prstGeom prst="rect">
            <a:avLst/>
          </a:prstGeom>
        </p:spPr>
      </p:pic>
      <p:sp>
        <p:nvSpPr>
          <p:cNvPr id="2" name="Title 1">
            <a:extLst>
              <a:ext uri="{FF2B5EF4-FFF2-40B4-BE49-F238E27FC236}">
                <a16:creationId xmlns:a16="http://schemas.microsoft.com/office/drawing/2014/main" id="{77E7A6FF-FEB9-014E-0C5B-15430D6752AF}"/>
              </a:ext>
            </a:extLst>
          </p:cNvPr>
          <p:cNvSpPr>
            <a:spLocks noGrp="1"/>
          </p:cNvSpPr>
          <p:nvPr>
            <p:ph type="title"/>
          </p:nvPr>
        </p:nvSpPr>
        <p:spPr/>
        <p:txBody>
          <a:bodyPr/>
          <a:lstStyle/>
          <a:p>
            <a:r>
              <a:rPr lang="en-US" dirty="0"/>
              <a:t>VIT vs CNN</a:t>
            </a:r>
          </a:p>
        </p:txBody>
      </p:sp>
      <p:sp>
        <p:nvSpPr>
          <p:cNvPr id="4" name="Rectangle 1">
            <a:extLst>
              <a:ext uri="{FF2B5EF4-FFF2-40B4-BE49-F238E27FC236}">
                <a16:creationId xmlns:a16="http://schemas.microsoft.com/office/drawing/2014/main" id="{B0AAE2BA-482D-57D8-EED3-4494E59F8BC5}"/>
              </a:ext>
            </a:extLst>
          </p:cNvPr>
          <p:cNvSpPr>
            <a:spLocks noGrp="1" noChangeArrowheads="1"/>
          </p:cNvSpPr>
          <p:nvPr>
            <p:ph idx="1"/>
          </p:nvPr>
        </p:nvSpPr>
        <p:spPr bwMode="auto">
          <a:xfrm>
            <a:off x="926386" y="1377273"/>
            <a:ext cx="1059693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hangingPunct="0">
              <a:lnSpc>
                <a:spcPct val="100000"/>
              </a:lnSpc>
              <a:spcBef>
                <a:spcPct val="0"/>
              </a:spcBef>
              <a:buNone/>
            </a:pPr>
            <a:r>
              <a:rPr kumimoji="0" lang="en-US" altLang="en-US" sz="1800" b="1" i="0" u="none" strike="noStrike" cap="none" normalizeH="0" baseline="0" dirty="0">
                <a:ln>
                  <a:noFill/>
                </a:ln>
                <a:solidFill>
                  <a:schemeClr val="tx1"/>
                </a:solidFill>
                <a:effectLst/>
                <a:latin typeface="Arial" panose="020B0604020202020204" pitchFamily="34" charset="0"/>
              </a:rPr>
              <a:t>Feature exploration</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C00000"/>
                </a:solidFill>
                <a:effectLst/>
                <a:latin typeface="Arial" panose="020B0604020202020204" pitchFamily="34" charset="0"/>
              </a:rPr>
              <a:t>CNNs</a:t>
            </a:r>
            <a:r>
              <a:rPr kumimoji="0" lang="en-US" altLang="en-US" sz="1800" b="0" i="0" u="none" strike="noStrike" cap="none" normalizeH="0" baseline="0" dirty="0">
                <a:ln>
                  <a:noFill/>
                </a:ln>
                <a:solidFill>
                  <a:schemeClr val="tx1"/>
                </a:solidFill>
                <a:effectLst/>
                <a:latin typeface="Arial" panose="020B0604020202020204" pitchFamily="34" charset="0"/>
              </a:rPr>
              <a:t> are good at finding </a:t>
            </a:r>
            <a:r>
              <a:rPr kumimoji="0" lang="en-US" altLang="en-US" sz="1800" b="0" i="0" u="none" strike="noStrike" cap="none" normalizeH="0" baseline="0" dirty="0">
                <a:ln>
                  <a:noFill/>
                </a:ln>
                <a:solidFill>
                  <a:srgbClr val="C00000"/>
                </a:solidFill>
                <a:effectLst/>
                <a:latin typeface="Arial" panose="020B0604020202020204" pitchFamily="34" charset="0"/>
              </a:rPr>
              <a:t>local</a:t>
            </a:r>
            <a:r>
              <a:rPr kumimoji="0" lang="en-US" altLang="en-US" sz="1800" b="0" i="0" u="none" strike="noStrike" cap="none" normalizeH="0" baseline="0" dirty="0">
                <a:ln>
                  <a:noFill/>
                </a:ln>
                <a:solidFill>
                  <a:schemeClr val="tx1"/>
                </a:solidFill>
                <a:effectLst/>
                <a:latin typeface="Arial" panose="020B0604020202020204" pitchFamily="34" charset="0"/>
              </a:rPr>
              <a:t> features </a:t>
            </a:r>
            <a:r>
              <a:rPr lang="en-US" altLang="en-US" sz="1800" dirty="0">
                <a:latin typeface="Arial" panose="020B0604020202020204" pitchFamily="34" charset="0"/>
              </a:rPr>
              <a:t>through </a:t>
            </a:r>
            <a:r>
              <a:rPr lang="en-US" altLang="en-US" sz="1800" dirty="0">
                <a:solidFill>
                  <a:srgbClr val="C00000"/>
                </a:solidFill>
                <a:latin typeface="Arial" panose="020B0604020202020204" pitchFamily="34" charset="0"/>
              </a:rPr>
              <a:t>convolutions</a:t>
            </a:r>
            <a:r>
              <a:rPr kumimoji="0" lang="en-US" altLang="en-US" sz="1800" b="0" i="0" u="none" strike="noStrike" cap="none" normalizeH="0" baseline="0" dirty="0">
                <a:ln>
                  <a:noFill/>
                </a:ln>
                <a:solidFill>
                  <a:schemeClr val="tx1"/>
                </a:solidFill>
                <a:effectLst/>
                <a:latin typeface="Arial" panose="020B0604020202020204" pitchFamily="34" charset="0"/>
              </a:rPr>
              <a:t>, but not long-range features. </a:t>
            </a:r>
            <a:r>
              <a:rPr kumimoji="0" lang="en-US" altLang="en-US" sz="1800" b="0" i="0" u="none" strike="noStrike" cap="none" normalizeH="0" baseline="0" dirty="0">
                <a:ln>
                  <a:noFill/>
                </a:ln>
                <a:solidFill>
                  <a:srgbClr val="C00000"/>
                </a:solidFill>
                <a:effectLst/>
                <a:latin typeface="Arial" panose="020B0604020202020204" pitchFamily="34" charset="0"/>
              </a:rPr>
              <a:t>Self-attention</a:t>
            </a:r>
            <a:r>
              <a:rPr kumimoji="0" lang="en-US" altLang="en-US" sz="1800" b="0" i="0" u="none" strike="noStrike" cap="none" normalizeH="0" baseline="0" dirty="0">
                <a:ln>
                  <a:noFill/>
                </a:ln>
                <a:solidFill>
                  <a:schemeClr val="tx1"/>
                </a:solidFill>
                <a:effectLst/>
                <a:latin typeface="Arial" panose="020B0604020202020204" pitchFamily="34" charset="0"/>
              </a:rPr>
              <a:t> is good at finding </a:t>
            </a:r>
            <a:r>
              <a:rPr kumimoji="0" lang="en-US" altLang="en-US" sz="1800" b="0" i="0" u="none" strike="noStrike" cap="none" normalizeH="0" baseline="0" dirty="0">
                <a:ln>
                  <a:noFill/>
                </a:ln>
                <a:solidFill>
                  <a:srgbClr val="C00000"/>
                </a:solidFill>
                <a:effectLst/>
                <a:latin typeface="Arial" panose="020B0604020202020204" pitchFamily="34" charset="0"/>
              </a:rPr>
              <a:t>long-range</a:t>
            </a:r>
            <a:r>
              <a:rPr kumimoji="0" lang="en-US" altLang="en-US" sz="1800" b="0" i="0" u="none" strike="noStrike" cap="none" normalizeH="0" baseline="0" dirty="0">
                <a:ln>
                  <a:noFill/>
                </a:ln>
                <a:solidFill>
                  <a:schemeClr val="tx1"/>
                </a:solidFill>
                <a:effectLst/>
                <a:latin typeface="Arial" panose="020B0604020202020204" pitchFamily="34" charset="0"/>
              </a:rPr>
              <a:t> features, since self-attention in </a:t>
            </a:r>
            <a:r>
              <a:rPr kumimoji="0" lang="en-US" altLang="en-US" sz="1800" b="0" i="0" u="none" strike="noStrike" cap="none" normalizeH="0" baseline="0" dirty="0" err="1">
                <a:ln>
                  <a:noFill/>
                </a:ln>
                <a:solidFill>
                  <a:schemeClr val="tx1"/>
                </a:solidFill>
                <a:effectLst/>
                <a:latin typeface="Arial" panose="020B0604020202020204" pitchFamily="34" charset="0"/>
              </a:rPr>
              <a:t>ViT</a:t>
            </a:r>
            <a:r>
              <a:rPr kumimoji="0" lang="en-US" altLang="en-US" sz="1800" b="0" i="0" u="none" strike="noStrike" cap="none" normalizeH="0" baseline="0" dirty="0">
                <a:ln>
                  <a:noFill/>
                </a:ln>
                <a:solidFill>
                  <a:schemeClr val="tx1"/>
                </a:solidFill>
                <a:effectLst/>
                <a:latin typeface="Arial" panose="020B0604020202020204" pitchFamily="34" charset="0"/>
              </a:rPr>
              <a:t> allows each patch to interact with every other patch globally.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Computational complexity</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C00000"/>
                </a:solidFill>
                <a:effectLst/>
                <a:latin typeface="Arial" panose="020B0604020202020204" pitchFamily="34" charset="0"/>
              </a:rPr>
              <a:t>Self-attention</a:t>
            </a:r>
            <a:r>
              <a:rPr kumimoji="0" lang="en-US" altLang="en-US" sz="1800" b="0" i="0" u="none" strike="noStrike" cap="none" normalizeH="0" baseline="0" dirty="0">
                <a:ln>
                  <a:noFill/>
                </a:ln>
                <a:solidFill>
                  <a:schemeClr val="tx1"/>
                </a:solidFill>
                <a:effectLst/>
                <a:latin typeface="Arial" panose="020B0604020202020204" pitchFamily="34" charset="0"/>
              </a:rPr>
              <a:t> has quadratic </a:t>
            </a:r>
            <a:r>
              <a:rPr kumimoji="0" lang="en-US" altLang="en-US" sz="1800" b="0" i="0" u="none" strike="noStrike" cap="none" normalizeH="0" baseline="0" dirty="0">
                <a:ln>
                  <a:noFill/>
                </a:ln>
                <a:solidFill>
                  <a:srgbClr val="C00000"/>
                </a:solidFill>
                <a:effectLst/>
                <a:latin typeface="Arial" panose="020B0604020202020204" pitchFamily="34" charset="0"/>
              </a:rPr>
              <a:t>computational complexity </a:t>
            </a:r>
            <a:r>
              <a:rPr kumimoji="0" lang="en-US" altLang="en-US" sz="1800" b="0" i="0" u="none" strike="noStrike" cap="none" normalizeH="0" baseline="0" dirty="0">
                <a:ln>
                  <a:noFill/>
                </a:ln>
                <a:solidFill>
                  <a:schemeClr val="tx1"/>
                </a:solidFill>
                <a:effectLst/>
                <a:latin typeface="Arial" panose="020B0604020202020204" pitchFamily="34" charset="0"/>
              </a:rPr>
              <a:t>with respect to sequence length, which can make it </a:t>
            </a:r>
            <a:r>
              <a:rPr kumimoji="0" lang="en-US" altLang="en-US" sz="1800" b="0" i="0" u="none" strike="noStrike" cap="none" normalizeH="0" baseline="0" dirty="0">
                <a:ln>
                  <a:noFill/>
                </a:ln>
                <a:solidFill>
                  <a:srgbClr val="C00000"/>
                </a:solidFill>
                <a:effectLst/>
                <a:latin typeface="Arial" panose="020B0604020202020204" pitchFamily="34" charset="0"/>
              </a:rPr>
              <a:t>slow</a:t>
            </a:r>
            <a:r>
              <a:rPr kumimoji="0" lang="en-US" altLang="en-US" sz="1800" b="0" i="0" u="none" strike="noStrike" cap="none" normalizeH="0" baseline="0" dirty="0">
                <a:ln>
                  <a:noFill/>
                </a:ln>
                <a:solidFill>
                  <a:schemeClr val="tx1"/>
                </a:solidFill>
                <a:effectLst/>
                <a:latin typeface="Arial" panose="020B0604020202020204" pitchFamily="34" charset="0"/>
              </a:rPr>
              <a:t> for very long sequences.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b="1" dirty="0">
                <a:latin typeface="Arial" panose="020B0604020202020204" pitchFamily="34" charset="0"/>
              </a:rPr>
              <a:t>Data Requirements: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C00000"/>
                </a:solidFill>
                <a:effectLst/>
                <a:latin typeface="Arial" panose="020B0604020202020204" pitchFamily="34" charset="0"/>
              </a:rPr>
              <a:t>CNNs</a:t>
            </a:r>
            <a:r>
              <a:rPr kumimoji="0" lang="en-US" altLang="en-US" sz="1800" b="0" i="0" u="none" strike="noStrike" cap="none" normalizeH="0" baseline="0" dirty="0">
                <a:ln>
                  <a:noFill/>
                </a:ln>
                <a:solidFill>
                  <a:schemeClr val="tx1"/>
                </a:solidFill>
                <a:effectLst/>
                <a:latin typeface="Arial" panose="020B0604020202020204" pitchFamily="34" charset="0"/>
              </a:rPr>
              <a:t> need relatively small to </a:t>
            </a:r>
            <a:r>
              <a:rPr kumimoji="0" lang="en-US" altLang="en-US" sz="1800" b="0" i="0" u="none" strike="noStrike" cap="none" normalizeH="0" baseline="0" dirty="0">
                <a:ln>
                  <a:noFill/>
                </a:ln>
                <a:solidFill>
                  <a:srgbClr val="C00000"/>
                </a:solidFill>
                <a:effectLst/>
                <a:latin typeface="Arial" panose="020B0604020202020204" pitchFamily="34" charset="0"/>
              </a:rPr>
              <a:t>medium-sized </a:t>
            </a:r>
            <a:r>
              <a:rPr kumimoji="0" lang="en-US" altLang="en-US" sz="1800" b="0" i="0" u="none" strike="noStrike" cap="none" normalizeH="0" baseline="0" dirty="0">
                <a:ln>
                  <a:noFill/>
                </a:ln>
                <a:solidFill>
                  <a:schemeClr val="tx1"/>
                </a:solidFill>
                <a:effectLst/>
                <a:latin typeface="Arial" panose="020B0604020202020204" pitchFamily="34" charset="0"/>
              </a:rPr>
              <a:t>datasets since they exploit </a:t>
            </a:r>
            <a:r>
              <a:rPr kumimoji="0" lang="en-US" altLang="en-US" sz="1800" b="0" i="0" u="none" strike="noStrike" cap="none" normalizeH="0" baseline="0" dirty="0">
                <a:ln>
                  <a:noFill/>
                </a:ln>
                <a:solidFill>
                  <a:srgbClr val="C00000"/>
                </a:solidFill>
                <a:effectLst/>
                <a:latin typeface="Arial" panose="020B0604020202020204" pitchFamily="34" charset="0"/>
              </a:rPr>
              <a:t>local</a:t>
            </a:r>
            <a:r>
              <a:rPr kumimoji="0" lang="en-US" altLang="en-US" sz="1800" b="0" i="0" u="none" strike="noStrike" cap="none" normalizeH="0" baseline="0" dirty="0">
                <a:ln>
                  <a:noFill/>
                </a:ln>
                <a:solidFill>
                  <a:schemeClr val="tx1"/>
                </a:solidFill>
                <a:effectLst/>
                <a:latin typeface="Arial" panose="020B0604020202020204" pitchFamily="34" charset="0"/>
              </a:rPr>
              <a:t> spatial structures.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C00000"/>
                </a:solidFill>
                <a:effectLst/>
                <a:latin typeface="Arial" panose="020B0604020202020204" pitchFamily="34" charset="0"/>
              </a:rPr>
              <a:t>VITs</a:t>
            </a:r>
            <a:r>
              <a:rPr kumimoji="0" lang="en-US" altLang="en-US" sz="1800" b="0" i="0" u="none" strike="noStrike" cap="none" normalizeH="0" baseline="0" dirty="0">
                <a:ln>
                  <a:noFill/>
                </a:ln>
                <a:solidFill>
                  <a:schemeClr val="tx1"/>
                </a:solidFill>
                <a:effectLst/>
                <a:latin typeface="Arial" panose="020B0604020202020204" pitchFamily="34" charset="0"/>
              </a:rPr>
              <a:t> require much </a:t>
            </a:r>
            <a:r>
              <a:rPr kumimoji="0" lang="en-US" altLang="en-US" sz="1800" b="0" i="0" u="none" strike="noStrike" cap="none" normalizeH="0" baseline="0" dirty="0">
                <a:ln>
                  <a:noFill/>
                </a:ln>
                <a:solidFill>
                  <a:srgbClr val="C00000"/>
                </a:solidFill>
                <a:effectLst/>
                <a:latin typeface="Arial" panose="020B0604020202020204" pitchFamily="34" charset="0"/>
              </a:rPr>
              <a:t>larger</a:t>
            </a:r>
            <a:r>
              <a:rPr kumimoji="0" lang="en-US" altLang="en-US" sz="1800" b="0" i="0" u="none" strike="noStrike" cap="none" normalizeH="0" baseline="0" dirty="0">
                <a:ln>
                  <a:noFill/>
                </a:ln>
                <a:solidFill>
                  <a:schemeClr val="tx1"/>
                </a:solidFill>
                <a:effectLst/>
                <a:latin typeface="Arial" panose="020B0604020202020204" pitchFamily="34" charset="0"/>
              </a:rPr>
              <a:t> datasets since they need to extract all </a:t>
            </a:r>
            <a:r>
              <a:rPr kumimoji="0" lang="en-US" altLang="en-US" sz="1800" b="0" i="0" u="none" strike="noStrike" cap="none" normalizeH="0" baseline="0" dirty="0">
                <a:ln>
                  <a:noFill/>
                </a:ln>
                <a:solidFill>
                  <a:srgbClr val="C00000"/>
                </a:solidFill>
                <a:effectLst/>
                <a:latin typeface="Arial" panose="020B0604020202020204" pitchFamily="34" charset="0"/>
              </a:rPr>
              <a:t>global</a:t>
            </a:r>
            <a:r>
              <a:rPr kumimoji="0" lang="en-US" altLang="en-US" sz="1800" b="0" i="0" u="none" strike="noStrike" cap="none" normalizeH="0" baseline="0" dirty="0">
                <a:ln>
                  <a:noFill/>
                </a:ln>
                <a:solidFill>
                  <a:schemeClr val="tx1"/>
                </a:solidFill>
                <a:effectLst/>
                <a:latin typeface="Arial" panose="020B0604020202020204" pitchFamily="34" charset="0"/>
              </a:rPr>
              <a:t> patterns.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D19B0B1E-4502-97A3-B36E-53AA0F26F663}"/>
              </a:ext>
            </a:extLst>
          </p:cNvPr>
          <p:cNvPicPr>
            <a:picLocks noChangeAspect="1"/>
          </p:cNvPicPr>
          <p:nvPr/>
        </p:nvPicPr>
        <p:blipFill>
          <a:blip r:embed="rId3"/>
          <a:stretch>
            <a:fillRect/>
          </a:stretch>
        </p:blipFill>
        <p:spPr>
          <a:xfrm>
            <a:off x="9057365" y="4736386"/>
            <a:ext cx="2735771" cy="2109611"/>
          </a:xfrm>
          <a:prstGeom prst="rect">
            <a:avLst/>
          </a:prstGeom>
        </p:spPr>
      </p:pic>
    </p:spTree>
    <p:extLst>
      <p:ext uri="{BB962C8B-B14F-4D97-AF65-F5344CB8AC3E}">
        <p14:creationId xmlns:p14="http://schemas.microsoft.com/office/powerpoint/2010/main" val="4785816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A366C-DB3E-B88E-665B-5B153C59F264}"/>
              </a:ext>
            </a:extLst>
          </p:cNvPr>
          <p:cNvSpPr>
            <a:spLocks noGrp="1"/>
          </p:cNvSpPr>
          <p:nvPr>
            <p:ph type="title"/>
          </p:nvPr>
        </p:nvSpPr>
        <p:spPr>
          <a:xfrm>
            <a:off x="657547" y="154114"/>
            <a:ext cx="10515600" cy="1325563"/>
          </a:xfrm>
        </p:spPr>
        <p:txBody>
          <a:bodyPr/>
          <a:lstStyle/>
          <a:p>
            <a:r>
              <a:rPr lang="en-US" sz="4000" dirty="0"/>
              <a:t>CLIP (Contrastive Language-Image Pre-training)</a:t>
            </a:r>
          </a:p>
        </p:txBody>
      </p:sp>
      <p:sp>
        <p:nvSpPr>
          <p:cNvPr id="3" name="Content Placeholder 2">
            <a:extLst>
              <a:ext uri="{FF2B5EF4-FFF2-40B4-BE49-F238E27FC236}">
                <a16:creationId xmlns:a16="http://schemas.microsoft.com/office/drawing/2014/main" id="{14428CC0-8587-3061-CD10-15262BADF9B8}"/>
              </a:ext>
            </a:extLst>
          </p:cNvPr>
          <p:cNvSpPr>
            <a:spLocks noGrp="1"/>
          </p:cNvSpPr>
          <p:nvPr>
            <p:ph idx="1"/>
          </p:nvPr>
        </p:nvSpPr>
        <p:spPr>
          <a:xfrm>
            <a:off x="688370" y="1479677"/>
            <a:ext cx="11414588" cy="4351338"/>
          </a:xfrm>
        </p:spPr>
        <p:txBody>
          <a:bodyPr/>
          <a:lstStyle/>
          <a:p>
            <a:r>
              <a:rPr lang="en-US" sz="2600" dirty="0">
                <a:solidFill>
                  <a:srgbClr val="C00000"/>
                </a:solidFill>
              </a:rPr>
              <a:t>Transformers</a:t>
            </a:r>
            <a:r>
              <a:rPr lang="en-US" sz="2600" dirty="0"/>
              <a:t> can also be used for processing </a:t>
            </a:r>
            <a:r>
              <a:rPr lang="en-US" sz="2600" dirty="0">
                <a:solidFill>
                  <a:srgbClr val="C00000"/>
                </a:solidFill>
              </a:rPr>
              <a:t>multimodal </a:t>
            </a:r>
            <a:r>
              <a:rPr lang="en-US" sz="2600" dirty="0"/>
              <a:t>data </a:t>
            </a:r>
          </a:p>
          <a:p>
            <a:r>
              <a:rPr lang="en-US" sz="2600" dirty="0">
                <a:solidFill>
                  <a:srgbClr val="C00000"/>
                </a:solidFill>
              </a:rPr>
              <a:t>CLIP</a:t>
            </a:r>
            <a:r>
              <a:rPr lang="en-US" sz="2600" dirty="0"/>
              <a:t> is a multimodal LLM that learns to associate </a:t>
            </a:r>
            <a:r>
              <a:rPr lang="en-US" sz="2600" dirty="0">
                <a:solidFill>
                  <a:srgbClr val="C00000"/>
                </a:solidFill>
              </a:rPr>
              <a:t>images</a:t>
            </a:r>
            <a:r>
              <a:rPr lang="en-US" sz="2600" dirty="0"/>
              <a:t> with </a:t>
            </a:r>
            <a:r>
              <a:rPr lang="en-US" sz="2600" dirty="0">
                <a:solidFill>
                  <a:srgbClr val="C00000"/>
                </a:solidFill>
              </a:rPr>
              <a:t>textual</a:t>
            </a:r>
            <a:r>
              <a:rPr lang="en-US" sz="2600" dirty="0"/>
              <a:t> descriptions. </a:t>
            </a:r>
          </a:p>
          <a:p>
            <a:r>
              <a:rPr lang="en-US" sz="2600" dirty="0"/>
              <a:t>It is trained on </a:t>
            </a:r>
            <a:r>
              <a:rPr lang="en-US" sz="2600" dirty="0">
                <a:solidFill>
                  <a:srgbClr val="C00000"/>
                </a:solidFill>
              </a:rPr>
              <a:t>paired</a:t>
            </a:r>
            <a:r>
              <a:rPr lang="en-US" sz="2600" dirty="0"/>
              <a:t> text and images and can perform tasks like image recognition and </a:t>
            </a:r>
            <a:r>
              <a:rPr lang="en-US" sz="2600" dirty="0">
                <a:solidFill>
                  <a:srgbClr val="C00000"/>
                </a:solidFill>
              </a:rPr>
              <a:t>classification</a:t>
            </a:r>
            <a:r>
              <a:rPr lang="en-US" sz="2600" dirty="0"/>
              <a:t> without task-specific fine-tuning.</a:t>
            </a:r>
          </a:p>
          <a:p>
            <a:pPr>
              <a:buFont typeface="Arial" panose="020B0604020202020204" pitchFamily="34" charset="0"/>
              <a:buChar char="•"/>
            </a:pPr>
            <a:r>
              <a:rPr lang="en-US" sz="2600" dirty="0"/>
              <a:t>CLIP can be used for </a:t>
            </a:r>
            <a:r>
              <a:rPr lang="en-US" sz="2600" dirty="0">
                <a:solidFill>
                  <a:srgbClr val="C00000"/>
                </a:solidFill>
              </a:rPr>
              <a:t>multimodal search </a:t>
            </a:r>
            <a:r>
              <a:rPr lang="en-US" sz="2600" dirty="0"/>
              <a:t>systems where users can search for images using natural language queries.</a:t>
            </a:r>
          </a:p>
          <a:p>
            <a:pPr>
              <a:buFont typeface="Arial" panose="020B0604020202020204" pitchFamily="34" charset="0"/>
              <a:buChar char="•"/>
            </a:pPr>
            <a:r>
              <a:rPr lang="en-US" sz="2600" dirty="0"/>
              <a:t>It has been used to </a:t>
            </a:r>
            <a:r>
              <a:rPr lang="en-US" sz="2600" dirty="0">
                <a:solidFill>
                  <a:srgbClr val="C00000"/>
                </a:solidFill>
              </a:rPr>
              <a:t>generate</a:t>
            </a:r>
            <a:r>
              <a:rPr lang="en-US" sz="2600" dirty="0"/>
              <a:t> visual content guided by </a:t>
            </a:r>
            <a:r>
              <a:rPr lang="en-US" sz="2600" dirty="0">
                <a:solidFill>
                  <a:srgbClr val="C00000"/>
                </a:solidFill>
              </a:rPr>
              <a:t>textual descriptions </a:t>
            </a:r>
            <a:r>
              <a:rPr lang="en-US" sz="2600" dirty="0"/>
              <a:t> </a:t>
            </a:r>
          </a:p>
          <a:p>
            <a:endParaRPr lang="en-US" sz="2600" dirty="0"/>
          </a:p>
        </p:txBody>
      </p:sp>
      <p:pic>
        <p:nvPicPr>
          <p:cNvPr id="5" name="Picture 4">
            <a:extLst>
              <a:ext uri="{FF2B5EF4-FFF2-40B4-BE49-F238E27FC236}">
                <a16:creationId xmlns:a16="http://schemas.microsoft.com/office/drawing/2014/main" id="{00A2621B-D0B6-C1BA-C5E5-C08A8EDBC4B8}"/>
              </a:ext>
            </a:extLst>
          </p:cNvPr>
          <p:cNvPicPr>
            <a:picLocks noChangeAspect="1"/>
          </p:cNvPicPr>
          <p:nvPr/>
        </p:nvPicPr>
        <p:blipFill>
          <a:blip r:embed="rId2"/>
          <a:stretch>
            <a:fillRect/>
          </a:stretch>
        </p:blipFill>
        <p:spPr>
          <a:xfrm>
            <a:off x="7844172" y="4695289"/>
            <a:ext cx="3806722" cy="2008597"/>
          </a:xfrm>
          <a:prstGeom prst="rect">
            <a:avLst/>
          </a:prstGeom>
        </p:spPr>
      </p:pic>
    </p:spTree>
    <p:extLst>
      <p:ext uri="{BB962C8B-B14F-4D97-AF65-F5344CB8AC3E}">
        <p14:creationId xmlns:p14="http://schemas.microsoft.com/office/powerpoint/2010/main" val="30422001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F1554-BC90-1A4F-15AA-9989F835BCC4}"/>
              </a:ext>
            </a:extLst>
          </p:cNvPr>
          <p:cNvSpPr>
            <a:spLocks noGrp="1"/>
          </p:cNvSpPr>
          <p:nvPr>
            <p:ph type="title"/>
          </p:nvPr>
        </p:nvSpPr>
        <p:spPr/>
        <p:txBody>
          <a:bodyPr/>
          <a:lstStyle/>
          <a:p>
            <a:r>
              <a:rPr lang="en-US" sz="4400" dirty="0"/>
              <a:t>CLIP - </a:t>
            </a:r>
            <a:r>
              <a:rPr lang="en-US" dirty="0"/>
              <a:t>Image Classification (Inference)</a:t>
            </a:r>
          </a:p>
        </p:txBody>
      </p:sp>
      <p:sp>
        <p:nvSpPr>
          <p:cNvPr id="4" name="Rectangle 1">
            <a:extLst>
              <a:ext uri="{FF2B5EF4-FFF2-40B4-BE49-F238E27FC236}">
                <a16:creationId xmlns:a16="http://schemas.microsoft.com/office/drawing/2014/main" id="{0E86F8DA-FCCB-01FB-5CC5-F51CD355D8F0}"/>
              </a:ext>
            </a:extLst>
          </p:cNvPr>
          <p:cNvSpPr>
            <a:spLocks noGrp="1" noChangeArrowheads="1"/>
          </p:cNvSpPr>
          <p:nvPr>
            <p:ph idx="1"/>
          </p:nvPr>
        </p:nvSpPr>
        <p:spPr bwMode="auto">
          <a:xfrm>
            <a:off x="838200" y="1458298"/>
            <a:ext cx="10771598"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cs typeface="Arial" panose="020B0604020202020204" pitchFamily="34" charset="0"/>
              </a:rPr>
              <a:t>Input</a:t>
            </a:r>
            <a:r>
              <a:rPr kumimoji="0" lang="en-US" altLang="en-US" sz="2400" b="0" i="0" u="none" strike="noStrike" cap="none" normalizeH="0" baseline="0" dirty="0">
                <a:ln>
                  <a:noFill/>
                </a:ln>
                <a:solidFill>
                  <a:schemeClr val="tx1"/>
                </a:solidFill>
                <a:effectLst/>
                <a:cs typeface="Arial" panose="020B0604020202020204" pitchFamily="34" charset="0"/>
              </a:rPr>
              <a:t>: An </a:t>
            </a:r>
            <a:r>
              <a:rPr kumimoji="0" lang="en-US" altLang="en-US" sz="2400" b="0" i="0" u="none" strike="noStrike" cap="none" normalizeH="0" baseline="0" dirty="0">
                <a:ln>
                  <a:noFill/>
                </a:ln>
                <a:solidFill>
                  <a:srgbClr val="C00000"/>
                </a:solidFill>
                <a:effectLst/>
                <a:cs typeface="Arial" panose="020B0604020202020204" pitchFamily="34" charset="0"/>
              </a:rPr>
              <a:t>image</a:t>
            </a:r>
            <a:r>
              <a:rPr kumimoji="0" lang="en-US" altLang="en-US" sz="2400" b="0" i="0" u="none" strike="noStrike" cap="none" normalizeH="0" baseline="0" dirty="0">
                <a:ln>
                  <a:noFill/>
                </a:ln>
                <a:solidFill>
                  <a:schemeClr val="tx1"/>
                </a:solidFill>
                <a:effectLst/>
                <a:cs typeface="Arial" panose="020B0604020202020204" pitchFamily="34" charset="0"/>
              </a:rPr>
              <a:t> and a set of possible </a:t>
            </a:r>
            <a:r>
              <a:rPr kumimoji="0" lang="en-US" altLang="en-US" sz="2400" b="0" i="0" u="none" strike="noStrike" cap="none" normalizeH="0" baseline="0" dirty="0">
                <a:ln>
                  <a:noFill/>
                </a:ln>
                <a:solidFill>
                  <a:srgbClr val="C00000"/>
                </a:solidFill>
                <a:effectLst/>
                <a:cs typeface="Arial" panose="020B0604020202020204" pitchFamily="34" charset="0"/>
              </a:rPr>
              <a:t>textual</a:t>
            </a:r>
            <a:r>
              <a:rPr kumimoji="0" lang="en-US" altLang="en-US" sz="2400" b="0" i="0" u="none" strike="noStrike" cap="none" normalizeH="0" baseline="0" dirty="0">
                <a:ln>
                  <a:noFill/>
                </a:ln>
                <a:solidFill>
                  <a:schemeClr val="tx1"/>
                </a:solidFill>
                <a:effectLst/>
                <a:cs typeface="Arial" panose="020B0604020202020204" pitchFamily="34" charset="0"/>
              </a:rPr>
              <a:t> descriptions (such as class names or full sentences).</a:t>
            </a:r>
          </a:p>
          <a:p>
            <a:pPr marL="0" lvl="0" indent="0" eaLnBrk="0" hangingPunct="0">
              <a:lnSpc>
                <a:spcPct val="100000"/>
              </a:lnSpc>
              <a:spcBef>
                <a:spcPct val="0"/>
              </a:spcBef>
              <a:buFontTx/>
              <a:buChar char="•"/>
            </a:pPr>
            <a:r>
              <a:rPr lang="en-US" sz="2400" b="1" dirty="0"/>
              <a:t>Text Encoder</a:t>
            </a:r>
            <a:r>
              <a:rPr lang="en-US" sz="2400" dirty="0"/>
              <a:t>: Converts textual descriptions into </a:t>
            </a:r>
            <a:r>
              <a:rPr lang="en-US" sz="2400" dirty="0">
                <a:solidFill>
                  <a:srgbClr val="C00000"/>
                </a:solidFill>
              </a:rPr>
              <a:t>contextual embeddings</a:t>
            </a:r>
            <a:r>
              <a:rPr lang="en-US" sz="2400" dirty="0"/>
              <a:t>. </a:t>
            </a:r>
          </a:p>
          <a:p>
            <a:pPr marL="0" indent="0" eaLnBrk="0" hangingPunct="0">
              <a:lnSpc>
                <a:spcPct val="100000"/>
              </a:lnSpc>
              <a:spcBef>
                <a:spcPct val="0"/>
              </a:spcBef>
              <a:buFontTx/>
              <a:buChar char="•"/>
            </a:pPr>
            <a:r>
              <a:rPr lang="en-US" sz="2400" b="1" dirty="0"/>
              <a:t>Image Encoder</a:t>
            </a:r>
            <a:r>
              <a:rPr lang="en-US" sz="2400" dirty="0"/>
              <a:t>: typically, a </a:t>
            </a:r>
            <a:r>
              <a:rPr lang="en-US" sz="2400" dirty="0" err="1"/>
              <a:t>ViT</a:t>
            </a:r>
            <a:r>
              <a:rPr lang="en-US" sz="2400" dirty="0"/>
              <a:t> to encode images into image </a:t>
            </a:r>
            <a:r>
              <a:rPr lang="en-US" sz="2400" dirty="0">
                <a:solidFill>
                  <a:srgbClr val="C00000"/>
                </a:solidFill>
              </a:rPr>
              <a:t>embeddings</a:t>
            </a:r>
            <a:r>
              <a:rPr lang="en-US" sz="2400" dirty="0"/>
              <a:t>.</a:t>
            </a:r>
            <a:endParaRPr kumimoji="0" lang="en-US" altLang="en-US" sz="2400" b="1"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cs typeface="Arial" panose="020B0604020202020204" pitchFamily="34" charset="0"/>
              </a:rPr>
              <a:t>Similarity Matching </a:t>
            </a:r>
            <a:r>
              <a:rPr kumimoji="0" lang="en-US" altLang="en-US" sz="2400" b="0" i="0" u="none" strike="noStrike" cap="none" normalizeH="0" baseline="0" dirty="0">
                <a:ln>
                  <a:noFill/>
                </a:ln>
                <a:solidFill>
                  <a:schemeClr val="tx1"/>
                </a:solidFill>
                <a:effectLst/>
                <a:cs typeface="Arial" panose="020B0604020202020204" pitchFamily="34" charset="0"/>
              </a:rPr>
              <a:t>: The </a:t>
            </a:r>
            <a:r>
              <a:rPr kumimoji="0" lang="en-US" altLang="en-US" sz="2400" b="0" i="0" u="none" strike="noStrike" cap="none" normalizeH="0" baseline="0" dirty="0">
                <a:ln>
                  <a:noFill/>
                </a:ln>
                <a:solidFill>
                  <a:srgbClr val="C00000"/>
                </a:solidFill>
                <a:effectLst/>
                <a:cs typeface="Arial" panose="020B0604020202020204" pitchFamily="34" charset="0"/>
              </a:rPr>
              <a:t>similarity</a:t>
            </a:r>
            <a:r>
              <a:rPr kumimoji="0" lang="en-US" altLang="en-US" sz="2400" b="0" i="0" u="none" strike="noStrike" cap="none" normalizeH="0" baseline="0" dirty="0">
                <a:ln>
                  <a:noFill/>
                </a:ln>
                <a:solidFill>
                  <a:schemeClr val="tx1"/>
                </a:solidFill>
                <a:effectLst/>
                <a:cs typeface="Arial" panose="020B0604020202020204" pitchFamily="34" charset="0"/>
              </a:rPr>
              <a:t> between the </a:t>
            </a:r>
            <a:r>
              <a:rPr kumimoji="0" lang="en-US" altLang="en-US" sz="2400" b="0" i="0" u="none" strike="noStrike" cap="none" normalizeH="0" baseline="0" dirty="0">
                <a:ln>
                  <a:noFill/>
                </a:ln>
                <a:solidFill>
                  <a:srgbClr val="C00000"/>
                </a:solidFill>
                <a:effectLst/>
                <a:cs typeface="Arial" panose="020B0604020202020204" pitchFamily="34" charset="0"/>
              </a:rPr>
              <a:t>image</a:t>
            </a:r>
            <a:r>
              <a:rPr kumimoji="0" lang="en-US" altLang="en-US" sz="2400" b="0" i="0" u="none" strike="noStrike" cap="none" normalizeH="0" baseline="0" dirty="0">
                <a:ln>
                  <a:noFill/>
                </a:ln>
                <a:solidFill>
                  <a:schemeClr val="tx1"/>
                </a:solidFill>
                <a:effectLst/>
                <a:cs typeface="Arial" panose="020B0604020202020204" pitchFamily="34" charset="0"/>
              </a:rPr>
              <a:t> embedding and each </a:t>
            </a:r>
            <a:r>
              <a:rPr kumimoji="0" lang="en-US" altLang="en-US" sz="2400" b="0" i="0" u="none" strike="noStrike" cap="none" normalizeH="0" baseline="0" dirty="0">
                <a:ln>
                  <a:noFill/>
                </a:ln>
                <a:solidFill>
                  <a:srgbClr val="C00000"/>
                </a:solidFill>
                <a:effectLst/>
                <a:cs typeface="Arial" panose="020B0604020202020204" pitchFamily="34" charset="0"/>
              </a:rPr>
              <a:t>text</a:t>
            </a:r>
            <a:r>
              <a:rPr kumimoji="0" lang="en-US" altLang="en-US" sz="2400" b="0" i="0" u="none" strike="noStrike" cap="none" normalizeH="0" baseline="0" dirty="0">
                <a:ln>
                  <a:noFill/>
                </a:ln>
                <a:solidFill>
                  <a:schemeClr val="tx1"/>
                </a:solidFill>
                <a:effectLst/>
                <a:cs typeface="Arial" panose="020B0604020202020204" pitchFamily="34" charset="0"/>
              </a:rPr>
              <a:t> embedding is computed (vector alignment).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cs typeface="Arial" panose="020B0604020202020204" pitchFamily="34" charset="0"/>
              </a:rPr>
              <a:t>Prediction</a:t>
            </a:r>
            <a:r>
              <a:rPr kumimoji="0" lang="en-US" altLang="en-US" sz="2400" b="0" i="0" u="none" strike="noStrike" cap="none" normalizeH="0" baseline="0" dirty="0">
                <a:ln>
                  <a:noFill/>
                </a:ln>
                <a:solidFill>
                  <a:schemeClr val="tx1"/>
                </a:solidFill>
                <a:effectLst/>
                <a:cs typeface="Arial" panose="020B0604020202020204" pitchFamily="34" charset="0"/>
              </a:rPr>
              <a:t>: The text description (or label) with the </a:t>
            </a:r>
            <a:r>
              <a:rPr kumimoji="0" lang="en-US" altLang="en-US" sz="2400" b="0" i="0" u="none" strike="noStrike" cap="none" normalizeH="0" baseline="0" dirty="0">
                <a:ln>
                  <a:noFill/>
                </a:ln>
                <a:solidFill>
                  <a:srgbClr val="C00000"/>
                </a:solidFill>
                <a:effectLst/>
                <a:cs typeface="Arial" panose="020B0604020202020204" pitchFamily="34" charset="0"/>
              </a:rPr>
              <a:t>highest similarity </a:t>
            </a:r>
            <a:r>
              <a:rPr kumimoji="0" lang="en-US" altLang="en-US" sz="2400" b="0" i="0" u="none" strike="noStrike" cap="none" normalizeH="0" baseline="0" dirty="0">
                <a:ln>
                  <a:noFill/>
                </a:ln>
                <a:solidFill>
                  <a:schemeClr val="tx1"/>
                </a:solidFill>
                <a:effectLst/>
                <a:cs typeface="Arial" panose="020B0604020202020204" pitchFamily="34" charset="0"/>
              </a:rPr>
              <a:t>score is chosen as the prediction for the image. </a:t>
            </a:r>
          </a:p>
        </p:txBody>
      </p:sp>
      <p:pic>
        <p:nvPicPr>
          <p:cNvPr id="5" name="Picture 4">
            <a:extLst>
              <a:ext uri="{FF2B5EF4-FFF2-40B4-BE49-F238E27FC236}">
                <a16:creationId xmlns:a16="http://schemas.microsoft.com/office/drawing/2014/main" id="{4AC5148D-14AA-7E3B-9BD8-9DB12ED796C5}"/>
              </a:ext>
            </a:extLst>
          </p:cNvPr>
          <p:cNvPicPr>
            <a:picLocks noChangeAspect="1"/>
          </p:cNvPicPr>
          <p:nvPr/>
        </p:nvPicPr>
        <p:blipFill>
          <a:blip r:embed="rId2"/>
          <a:stretch>
            <a:fillRect/>
          </a:stretch>
        </p:blipFill>
        <p:spPr>
          <a:xfrm>
            <a:off x="6928616" y="4158207"/>
            <a:ext cx="3497646" cy="2584507"/>
          </a:xfrm>
          <a:prstGeom prst="rect">
            <a:avLst/>
          </a:prstGeom>
        </p:spPr>
      </p:pic>
      <p:sp>
        <p:nvSpPr>
          <p:cNvPr id="6" name="TextBox 5">
            <a:extLst>
              <a:ext uri="{FF2B5EF4-FFF2-40B4-BE49-F238E27FC236}">
                <a16:creationId xmlns:a16="http://schemas.microsoft.com/office/drawing/2014/main" id="{BB63235B-7079-6D16-5990-305B8C1E29C1}"/>
              </a:ext>
            </a:extLst>
          </p:cNvPr>
          <p:cNvSpPr txBox="1"/>
          <p:nvPr/>
        </p:nvSpPr>
        <p:spPr>
          <a:xfrm>
            <a:off x="951737" y="5173912"/>
            <a:ext cx="4875536" cy="1200329"/>
          </a:xfrm>
          <a:prstGeom prst="rect">
            <a:avLst/>
          </a:prstGeom>
          <a:noFill/>
        </p:spPr>
        <p:txBody>
          <a:bodyPr wrap="square">
            <a:spAutoFit/>
          </a:bodyPr>
          <a:lstStyle/>
          <a:p>
            <a:r>
              <a:rPr lang="en-US" dirty="0"/>
              <a:t>A </a:t>
            </a:r>
            <a:r>
              <a:rPr lang="en-US" dirty="0">
                <a:solidFill>
                  <a:srgbClr val="C00000"/>
                </a:solidFill>
              </a:rPr>
              <a:t>joint embedding </a:t>
            </a:r>
            <a:r>
              <a:rPr lang="en-US" dirty="0"/>
              <a:t>(multimodal embedding) is a learned representation that brings elements from different modalities (e.g., images and text) into the </a:t>
            </a:r>
            <a:r>
              <a:rPr lang="en-US" dirty="0">
                <a:solidFill>
                  <a:srgbClr val="C00000"/>
                </a:solidFill>
              </a:rPr>
              <a:t>same vector space</a:t>
            </a:r>
            <a:r>
              <a:rPr lang="en-US" dirty="0"/>
              <a:t>. </a:t>
            </a:r>
          </a:p>
        </p:txBody>
      </p:sp>
    </p:spTree>
    <p:extLst>
      <p:ext uri="{BB962C8B-B14F-4D97-AF65-F5344CB8AC3E}">
        <p14:creationId xmlns:p14="http://schemas.microsoft.com/office/powerpoint/2010/main" val="25233814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52755" y="197504"/>
            <a:ext cx="10808413" cy="619016"/>
          </a:xfrm>
          <a:prstGeom prst="rect">
            <a:avLst/>
          </a:prstGeom>
        </p:spPr>
        <p:txBody>
          <a:bodyPr vert="horz" wrap="square" lIns="0" tIns="9525" rIns="0" bIns="0" numCol="1" rtlCol="0" anchor="ctr" anchorCtr="0" compatLnSpc="1">
            <a:prstTxWarp prst="textNoShape">
              <a:avLst/>
            </a:prstTxWarp>
            <a:spAutoFit/>
          </a:bodyPr>
          <a:lstStyle/>
          <a:p>
            <a:pPr marL="9525">
              <a:spcBef>
                <a:spcPts val="75"/>
              </a:spcBef>
            </a:pPr>
            <a:r>
              <a:rPr lang="en-US" dirty="0"/>
              <a:t>Large Language Models</a:t>
            </a:r>
            <a:endParaRPr lang="en-US" spc="-8" dirty="0"/>
          </a:p>
        </p:txBody>
      </p:sp>
      <p:sp>
        <p:nvSpPr>
          <p:cNvPr id="4" name="TextBox 3">
            <a:extLst>
              <a:ext uri="{FF2B5EF4-FFF2-40B4-BE49-F238E27FC236}">
                <a16:creationId xmlns:a16="http://schemas.microsoft.com/office/drawing/2014/main" id="{58A353FF-3366-934C-1D30-F6A73DD1D385}"/>
              </a:ext>
            </a:extLst>
          </p:cNvPr>
          <p:cNvSpPr txBox="1"/>
          <p:nvPr/>
        </p:nvSpPr>
        <p:spPr>
          <a:xfrm>
            <a:off x="794961" y="977830"/>
            <a:ext cx="10923999" cy="3046988"/>
          </a:xfrm>
          <a:prstGeom prst="rect">
            <a:avLst/>
          </a:prstGeom>
          <a:noFill/>
        </p:spPr>
        <p:txBody>
          <a:bodyPr wrap="square">
            <a:spAutoFit/>
          </a:bodyPr>
          <a:lstStyle/>
          <a:p>
            <a:pPr lvl="0"/>
            <a:r>
              <a:rPr lang="en-US" sz="2400" b="1" dirty="0"/>
              <a:t>Large Language Model (LLM)</a:t>
            </a:r>
            <a:r>
              <a:rPr lang="en-US" sz="2400" dirty="0"/>
              <a:t>: </a:t>
            </a:r>
            <a:r>
              <a:rPr lang="en-US" sz="2400" dirty="0">
                <a:solidFill>
                  <a:srgbClr val="C00000"/>
                </a:solidFill>
              </a:rPr>
              <a:t>Deep neural networks </a:t>
            </a:r>
            <a:r>
              <a:rPr lang="en-US" sz="2400" dirty="0"/>
              <a:t>(mostly transformers) trained on </a:t>
            </a:r>
            <a:r>
              <a:rPr lang="en-US" sz="2400" dirty="0">
                <a:solidFill>
                  <a:srgbClr val="C00000"/>
                </a:solidFill>
              </a:rPr>
              <a:t>massive</a:t>
            </a:r>
            <a:r>
              <a:rPr lang="en-US" sz="2400" dirty="0"/>
              <a:t> amounts of </a:t>
            </a:r>
            <a:r>
              <a:rPr lang="en-US" sz="2400" dirty="0">
                <a:solidFill>
                  <a:srgbClr val="C00000"/>
                </a:solidFill>
              </a:rPr>
              <a:t>text data </a:t>
            </a:r>
            <a:r>
              <a:rPr lang="en-US" sz="2400" dirty="0"/>
              <a:t>to understand and generate human language.</a:t>
            </a:r>
          </a:p>
          <a:p>
            <a:pPr lvl="0"/>
            <a:endParaRPr kumimoji="0" lang="en-US" altLang="en-US" sz="2400" b="1" i="0" u="none" strike="noStrike" cap="none" normalizeH="0" baseline="0" dirty="0">
              <a:ln>
                <a:noFill/>
              </a:ln>
              <a:solidFill>
                <a:schemeClr val="tx1"/>
              </a:solidFill>
              <a:effectLst/>
              <a:latin typeface="+mn-l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mn-lt"/>
                <a:cs typeface="Arial" panose="020B0604020202020204" pitchFamily="34" charset="0"/>
              </a:rPr>
              <a:t>Problem</a:t>
            </a:r>
            <a:r>
              <a:rPr kumimoji="0" lang="en-US" altLang="en-US" sz="2400" b="0" i="0" u="none" strike="noStrike" cap="none" normalizeH="0" baseline="0" dirty="0">
                <a:ln>
                  <a:noFill/>
                </a:ln>
                <a:solidFill>
                  <a:schemeClr val="tx1"/>
                </a:solidFill>
                <a:effectLst/>
                <a:latin typeface="+mn-lt"/>
                <a:cs typeface="Arial" panose="020B0604020202020204" pitchFamily="34" charset="0"/>
              </a:rPr>
              <a:t>: As LLMs scaling up, </a:t>
            </a:r>
            <a:r>
              <a:rPr kumimoji="0" lang="en-US" altLang="en-US" sz="2400" b="0" i="0" u="none" strike="noStrike" cap="none" normalizeH="0" baseline="0" dirty="0">
                <a:ln>
                  <a:noFill/>
                </a:ln>
                <a:solidFill>
                  <a:srgbClr val="C00000"/>
                </a:solidFill>
                <a:effectLst/>
                <a:latin typeface="+mn-lt"/>
                <a:cs typeface="Arial" panose="020B0604020202020204" pitchFamily="34" charset="0"/>
              </a:rPr>
              <a:t>training</a:t>
            </a:r>
            <a:r>
              <a:rPr kumimoji="0" lang="en-US" altLang="en-US" sz="2400" b="0" i="0" u="none" strike="noStrike" cap="none" normalizeH="0" baseline="0" dirty="0">
                <a:ln>
                  <a:noFill/>
                </a:ln>
                <a:solidFill>
                  <a:schemeClr val="tx1"/>
                </a:solidFill>
                <a:effectLst/>
                <a:latin typeface="+mn-lt"/>
                <a:cs typeface="Arial" panose="020B0604020202020204" pitchFamily="34" charset="0"/>
              </a:rPr>
              <a:t> LLMs requires </a:t>
            </a:r>
            <a:r>
              <a:rPr kumimoji="0" lang="en-US" altLang="en-US" sz="2400" b="0" i="0" u="none" strike="noStrike" cap="none" normalizeH="0" baseline="0" dirty="0">
                <a:ln>
                  <a:noFill/>
                </a:ln>
                <a:solidFill>
                  <a:srgbClr val="C00000"/>
                </a:solidFill>
                <a:effectLst/>
                <a:latin typeface="+mn-lt"/>
                <a:cs typeface="Arial" panose="020B0604020202020204" pitchFamily="34" charset="0"/>
              </a:rPr>
              <a:t>enormous</a:t>
            </a:r>
            <a:r>
              <a:rPr kumimoji="0" lang="en-US" altLang="en-US" sz="2400" b="0" i="0" u="none" strike="noStrike" cap="none" normalizeH="0" baseline="0" dirty="0">
                <a:ln>
                  <a:noFill/>
                </a:ln>
                <a:solidFill>
                  <a:schemeClr val="tx1"/>
                </a:solidFill>
                <a:effectLst/>
                <a:latin typeface="+mn-lt"/>
                <a:cs typeface="Arial" panose="020B0604020202020204" pitchFamily="34" charset="0"/>
              </a:rPr>
              <a:t> </a:t>
            </a:r>
            <a:r>
              <a:rPr kumimoji="0" lang="en-US" altLang="en-US" sz="2400" b="0" i="0" u="none" strike="noStrike" cap="none" normalizeH="0" baseline="0" dirty="0">
                <a:ln>
                  <a:noFill/>
                </a:ln>
                <a:solidFill>
                  <a:srgbClr val="C00000"/>
                </a:solidFill>
                <a:effectLst/>
                <a:latin typeface="+mn-lt"/>
                <a:cs typeface="Arial" panose="020B0604020202020204" pitchFamily="34" charset="0"/>
              </a:rPr>
              <a:t>computational resources</a:t>
            </a:r>
            <a:r>
              <a:rPr kumimoji="0" lang="en-US" altLang="en-US" sz="2400" b="0" i="0" u="none" strike="noStrike" cap="none" normalizeH="0" baseline="0" dirty="0">
                <a:ln>
                  <a:noFill/>
                </a:ln>
                <a:solidFill>
                  <a:schemeClr val="tx1"/>
                </a:solidFill>
                <a:effectLst/>
                <a:latin typeface="+mn-lt"/>
                <a:cs typeface="Arial" panose="020B0604020202020204" pitchFamily="34" charset="0"/>
              </a:rPr>
              <a:t>, specialized hardware, and massive datasets, making them accessible only to organizations with significant financial and technical resources (e.g., big techs).</a:t>
            </a:r>
          </a:p>
          <a:p>
            <a:pPr marL="0" marR="0" lvl="0" indent="0" algn="l" defTabSz="914400" rtl="0" eaLnBrk="0" fontAlgn="base" latinLnBrk="0" hangingPunct="0">
              <a:lnSpc>
                <a:spcPct val="100000"/>
              </a:lnSpc>
              <a:spcBef>
                <a:spcPct val="0"/>
              </a:spcBef>
              <a:spcAft>
                <a:spcPct val="0"/>
              </a:spcAft>
              <a:buClrTx/>
              <a:buSzTx/>
              <a:buNone/>
              <a:tabLst/>
            </a:pPr>
            <a:endParaRPr lang="en-US" altLang="en-US" sz="2400" dirty="0">
              <a:latin typeface="+mn-l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mn-lt"/>
                <a:cs typeface="Arial" panose="020B0604020202020204" pitchFamily="34" charset="0"/>
              </a:rPr>
              <a:t>Solution</a:t>
            </a:r>
            <a:r>
              <a:rPr kumimoji="0" lang="en-US" altLang="en-US" sz="2400" b="0" i="0" u="none" strike="noStrike" cap="none" normalizeH="0" baseline="0" dirty="0">
                <a:ln>
                  <a:noFill/>
                </a:ln>
                <a:solidFill>
                  <a:schemeClr val="tx1"/>
                </a:solidFill>
                <a:effectLst/>
                <a:latin typeface="+mn-lt"/>
                <a:cs typeface="Arial" panose="020B0604020202020204" pitchFamily="34" charset="0"/>
              </a:rPr>
              <a:t>: </a:t>
            </a:r>
            <a:r>
              <a:rPr kumimoji="0" lang="en-US" altLang="en-US" sz="2400" b="0" i="0" u="none" strike="noStrike" cap="none" normalizeH="0" baseline="0" dirty="0">
                <a:ln>
                  <a:noFill/>
                </a:ln>
                <a:solidFill>
                  <a:srgbClr val="C00000"/>
                </a:solidFill>
                <a:effectLst/>
                <a:latin typeface="+mn-lt"/>
                <a:cs typeface="Arial" panose="020B0604020202020204" pitchFamily="34" charset="0"/>
              </a:rPr>
              <a:t>Fine-tuning</a:t>
            </a:r>
            <a:r>
              <a:rPr kumimoji="0" lang="en-US" altLang="en-US" sz="2400" b="0" i="0" u="none" strike="noStrike" cap="none" normalizeH="0" baseline="0" dirty="0">
                <a:ln>
                  <a:noFill/>
                </a:ln>
                <a:solidFill>
                  <a:schemeClr val="tx1"/>
                </a:solidFill>
                <a:effectLst/>
                <a:latin typeface="+mn-lt"/>
                <a:cs typeface="Arial" panose="020B0604020202020204" pitchFamily="34" charset="0"/>
              </a:rPr>
              <a:t> </a:t>
            </a:r>
            <a:r>
              <a:rPr kumimoji="0" lang="en-US" altLang="en-US" sz="2400" b="0" i="0" u="none" strike="noStrike" cap="none" normalizeH="0" baseline="0" dirty="0">
                <a:ln>
                  <a:noFill/>
                </a:ln>
                <a:solidFill>
                  <a:srgbClr val="C00000"/>
                </a:solidFill>
                <a:effectLst/>
                <a:latin typeface="+mn-lt"/>
                <a:cs typeface="Arial" panose="020B0604020202020204" pitchFamily="34" charset="0"/>
              </a:rPr>
              <a:t>pre-trained LLMs </a:t>
            </a:r>
            <a:r>
              <a:rPr kumimoji="0" lang="en-US" altLang="en-US" sz="2400" b="0" i="0" u="none" strike="noStrike" cap="none" normalizeH="0" baseline="0" dirty="0">
                <a:ln>
                  <a:noFill/>
                </a:ln>
                <a:solidFill>
                  <a:schemeClr val="tx1"/>
                </a:solidFill>
                <a:effectLst/>
                <a:latin typeface="+mn-lt"/>
                <a:cs typeface="Arial" panose="020B0604020202020204" pitchFamily="34" charset="0"/>
              </a:rPr>
              <a:t>rather than training </a:t>
            </a:r>
            <a:r>
              <a:rPr kumimoji="0" lang="en-US" altLang="en-US" sz="2400" b="0" i="0" u="none" strike="noStrike" cap="none" normalizeH="0" baseline="0" dirty="0">
                <a:ln>
                  <a:noFill/>
                </a:ln>
                <a:solidFill>
                  <a:srgbClr val="C00000"/>
                </a:solidFill>
                <a:effectLst/>
                <a:latin typeface="+mn-lt"/>
                <a:cs typeface="Arial" panose="020B0604020202020204" pitchFamily="34" charset="0"/>
              </a:rPr>
              <a:t>from scratch</a:t>
            </a:r>
          </a:p>
        </p:txBody>
      </p:sp>
      <p:graphicFrame>
        <p:nvGraphicFramePr>
          <p:cNvPr id="8" name="Content Placeholder 3">
            <a:extLst>
              <a:ext uri="{FF2B5EF4-FFF2-40B4-BE49-F238E27FC236}">
                <a16:creationId xmlns:a16="http://schemas.microsoft.com/office/drawing/2014/main" id="{391905D1-A048-213E-5289-49C58A7D7F35}"/>
              </a:ext>
            </a:extLst>
          </p:cNvPr>
          <p:cNvGraphicFramePr>
            <a:graphicFrameLocks noGrp="1"/>
          </p:cNvGraphicFramePr>
          <p:nvPr>
            <p:ph idx="1"/>
            <p:extLst>
              <p:ext uri="{D42A27DB-BD31-4B8C-83A1-F6EECF244321}">
                <p14:modId xmlns:p14="http://schemas.microsoft.com/office/powerpoint/2010/main" val="3082046156"/>
              </p:ext>
            </p:extLst>
          </p:nvPr>
        </p:nvGraphicFramePr>
        <p:xfrm>
          <a:off x="965946" y="4186128"/>
          <a:ext cx="10260108" cy="2474368"/>
        </p:xfrm>
        <a:graphic>
          <a:graphicData uri="http://schemas.openxmlformats.org/drawingml/2006/table">
            <a:tbl>
              <a:tblPr/>
              <a:tblGrid>
                <a:gridCol w="895428">
                  <a:extLst>
                    <a:ext uri="{9D8B030D-6E8A-4147-A177-3AD203B41FA5}">
                      <a16:colId xmlns:a16="http://schemas.microsoft.com/office/drawing/2014/main" val="2331668769"/>
                    </a:ext>
                  </a:extLst>
                </a:gridCol>
                <a:gridCol w="2723592">
                  <a:extLst>
                    <a:ext uri="{9D8B030D-6E8A-4147-A177-3AD203B41FA5}">
                      <a16:colId xmlns:a16="http://schemas.microsoft.com/office/drawing/2014/main" val="3101029977"/>
                    </a:ext>
                  </a:extLst>
                </a:gridCol>
                <a:gridCol w="1828165">
                  <a:extLst>
                    <a:ext uri="{9D8B030D-6E8A-4147-A177-3AD203B41FA5}">
                      <a16:colId xmlns:a16="http://schemas.microsoft.com/office/drawing/2014/main" val="2439860774"/>
                    </a:ext>
                  </a:extLst>
                </a:gridCol>
                <a:gridCol w="4812923">
                  <a:extLst>
                    <a:ext uri="{9D8B030D-6E8A-4147-A177-3AD203B41FA5}">
                      <a16:colId xmlns:a16="http://schemas.microsoft.com/office/drawing/2014/main" val="3224273894"/>
                    </a:ext>
                  </a:extLst>
                </a:gridCol>
              </a:tblGrid>
              <a:tr h="309296">
                <a:tc>
                  <a:txBody>
                    <a:bodyPr/>
                    <a:lstStyle/>
                    <a:p>
                      <a:pPr algn="ctr" fontAlgn="ctr">
                        <a:buNone/>
                      </a:pPr>
                      <a:r>
                        <a:rPr lang="en-US" sz="1600" b="1" i="0" u="none" strike="noStrike" dirty="0">
                          <a:solidFill>
                            <a:srgbClr val="000000"/>
                          </a:solidFill>
                          <a:effectLst/>
                          <a:latin typeface="Aptos Narrow" panose="020B0004020202020204" pitchFamily="34" charset="0"/>
                        </a:rPr>
                        <a:t>Year</a:t>
                      </a:r>
                      <a:endParaRPr lang="en-US" sz="2600" b="0" i="0" u="none" strike="noStrike" dirty="0">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1600" b="1" i="0" u="none" strike="noStrike" dirty="0">
                          <a:solidFill>
                            <a:srgbClr val="000000"/>
                          </a:solidFill>
                          <a:effectLst/>
                          <a:latin typeface="Aptos Narrow" panose="020B0004020202020204" pitchFamily="34" charset="0"/>
                        </a:rPr>
                        <a:t>Model</a:t>
                      </a:r>
                      <a:endParaRPr lang="en-US" sz="2600" b="0" i="0" u="none" strike="noStrike" dirty="0">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1600" b="1" i="0" u="none" strike="noStrike">
                          <a:solidFill>
                            <a:srgbClr val="000000"/>
                          </a:solidFill>
                          <a:effectLst/>
                          <a:latin typeface="Aptos Narrow" panose="020B0004020202020204" pitchFamily="34" charset="0"/>
                        </a:rPr>
                        <a:t>Parameters</a:t>
                      </a:r>
                      <a:endParaRPr lang="en-US" sz="2600" b="0" i="0" u="none" strike="noStrike">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1600" b="1" i="0" u="none" strike="noStrike" dirty="0">
                          <a:solidFill>
                            <a:srgbClr val="000000"/>
                          </a:solidFill>
                          <a:effectLst/>
                          <a:latin typeface="Aptos Narrow" panose="020B0004020202020204" pitchFamily="34" charset="0"/>
                        </a:rPr>
                        <a:t>Notes</a:t>
                      </a:r>
                      <a:endParaRPr lang="en-US" sz="2600" b="0" i="0" u="none" strike="noStrike" dirty="0">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4216812162"/>
                  </a:ext>
                </a:extLst>
              </a:tr>
              <a:tr h="309296">
                <a:tc>
                  <a:txBody>
                    <a:bodyPr/>
                    <a:lstStyle/>
                    <a:p>
                      <a:pPr algn="ctr" fontAlgn="ctr">
                        <a:buNone/>
                      </a:pPr>
                      <a:r>
                        <a:rPr lang="en-US" sz="1600" b="0" i="0" u="none" strike="noStrike" dirty="0">
                          <a:solidFill>
                            <a:srgbClr val="000000"/>
                          </a:solidFill>
                          <a:effectLst/>
                          <a:latin typeface="Aptos Narrow" panose="020B0004020202020204" pitchFamily="34" charset="0"/>
                        </a:rPr>
                        <a:t>2018</a:t>
                      </a:r>
                      <a:endParaRPr lang="en-US" sz="2600" b="0" i="0" u="none" strike="noStrike" dirty="0">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1" i="0" u="none" strike="noStrike">
                          <a:solidFill>
                            <a:srgbClr val="000000"/>
                          </a:solidFill>
                          <a:effectLst/>
                          <a:latin typeface="Aptos Narrow" panose="020B0004020202020204" pitchFamily="34" charset="0"/>
                        </a:rPr>
                        <a:t>GPT-1</a:t>
                      </a:r>
                      <a:endParaRPr lang="en-US" sz="2600" b="0" i="0" u="none" strike="noStrike">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a:solidFill>
                            <a:srgbClr val="000000"/>
                          </a:solidFill>
                          <a:effectLst/>
                          <a:latin typeface="Aptos Narrow" panose="020B0004020202020204" pitchFamily="34" charset="0"/>
                        </a:rPr>
                        <a:t>117M</a:t>
                      </a:r>
                      <a:endParaRPr lang="en-US" sz="2600" b="0" i="0" u="none" strike="noStrike">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a:solidFill>
                            <a:srgbClr val="000000"/>
                          </a:solidFill>
                          <a:effectLst/>
                          <a:latin typeface="Aptos Narrow" panose="020B0004020202020204" pitchFamily="34" charset="0"/>
                        </a:rPr>
                        <a:t>First transformer-based LLM from OpenAI.</a:t>
                      </a:r>
                      <a:endParaRPr lang="en-US" sz="2600" b="0" i="0" u="none" strike="noStrike">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7209344"/>
                  </a:ext>
                </a:extLst>
              </a:tr>
              <a:tr h="309296">
                <a:tc>
                  <a:txBody>
                    <a:bodyPr/>
                    <a:lstStyle/>
                    <a:p>
                      <a:pPr algn="ctr" fontAlgn="ctr">
                        <a:buNone/>
                      </a:pPr>
                      <a:r>
                        <a:rPr lang="en-US" sz="1600" b="0" i="0" u="none" strike="noStrike">
                          <a:solidFill>
                            <a:srgbClr val="000000"/>
                          </a:solidFill>
                          <a:effectLst/>
                          <a:latin typeface="Aptos Narrow" panose="020B0004020202020204" pitchFamily="34" charset="0"/>
                        </a:rPr>
                        <a:t>2019</a:t>
                      </a:r>
                      <a:endParaRPr lang="en-US" sz="2600" b="0" i="0" u="none" strike="noStrike">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1" i="0" u="none" strike="noStrike">
                          <a:solidFill>
                            <a:srgbClr val="000000"/>
                          </a:solidFill>
                          <a:effectLst/>
                          <a:latin typeface="Aptos Narrow" panose="020B0004020202020204" pitchFamily="34" charset="0"/>
                        </a:rPr>
                        <a:t>GPT-2</a:t>
                      </a:r>
                      <a:endParaRPr lang="en-US" sz="2600" b="0" i="0" u="none" strike="noStrike">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dirty="0">
                          <a:solidFill>
                            <a:srgbClr val="000000"/>
                          </a:solidFill>
                          <a:effectLst/>
                          <a:latin typeface="Aptos Narrow" panose="020B0004020202020204" pitchFamily="34" charset="0"/>
                        </a:rPr>
                        <a:t>1.5B</a:t>
                      </a:r>
                      <a:endParaRPr lang="en-US" sz="2600" b="0" i="0" u="none" strike="noStrike" dirty="0">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a:solidFill>
                            <a:srgbClr val="000000"/>
                          </a:solidFill>
                          <a:effectLst/>
                          <a:latin typeface="Aptos Narrow" panose="020B0004020202020204" pitchFamily="34" charset="0"/>
                        </a:rPr>
                        <a:t>Not initially released due to concerns about misuse.</a:t>
                      </a:r>
                      <a:endParaRPr lang="en-US" sz="2600" b="0" i="0" u="none" strike="noStrike">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94984625"/>
                  </a:ext>
                </a:extLst>
              </a:tr>
              <a:tr h="309296">
                <a:tc>
                  <a:txBody>
                    <a:bodyPr/>
                    <a:lstStyle/>
                    <a:p>
                      <a:pPr algn="ctr" fontAlgn="ctr">
                        <a:buNone/>
                      </a:pPr>
                      <a:r>
                        <a:rPr lang="en-US" sz="1600" b="0" i="0" u="none" strike="noStrike" dirty="0">
                          <a:solidFill>
                            <a:srgbClr val="000000"/>
                          </a:solidFill>
                          <a:effectLst/>
                          <a:latin typeface="Aptos Narrow" panose="020B0004020202020204" pitchFamily="34" charset="0"/>
                        </a:rPr>
                        <a:t>2020</a:t>
                      </a:r>
                      <a:endParaRPr lang="en-US" sz="2600" b="0" i="0" u="none" strike="noStrike" dirty="0">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1" i="0" u="none" strike="noStrike">
                          <a:solidFill>
                            <a:srgbClr val="000000"/>
                          </a:solidFill>
                          <a:effectLst/>
                          <a:latin typeface="Aptos Narrow" panose="020B0004020202020204" pitchFamily="34" charset="0"/>
                        </a:rPr>
                        <a:t>T5-11B</a:t>
                      </a:r>
                      <a:endParaRPr lang="en-US" sz="2600" b="0" i="0" u="none" strike="noStrike">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a:solidFill>
                            <a:srgbClr val="000000"/>
                          </a:solidFill>
                          <a:effectLst/>
                          <a:latin typeface="Aptos Narrow" panose="020B0004020202020204" pitchFamily="34" charset="0"/>
                        </a:rPr>
                        <a:t>11B</a:t>
                      </a:r>
                      <a:endParaRPr lang="en-US" sz="2600" b="0" i="0" u="none" strike="noStrike">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dirty="0">
                          <a:solidFill>
                            <a:srgbClr val="000000"/>
                          </a:solidFill>
                          <a:effectLst/>
                          <a:latin typeface="Aptos Narrow" panose="020B0004020202020204" pitchFamily="34" charset="0"/>
                        </a:rPr>
                        <a:t>Google's Text-to-Text Transfer Transformer (T5).</a:t>
                      </a:r>
                      <a:endParaRPr lang="en-US" sz="2600" b="0" i="0" u="none" strike="noStrike" dirty="0">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84524516"/>
                  </a:ext>
                </a:extLst>
              </a:tr>
              <a:tr h="309296">
                <a:tc>
                  <a:txBody>
                    <a:bodyPr/>
                    <a:lstStyle/>
                    <a:p>
                      <a:pPr algn="ctr" fontAlgn="ctr">
                        <a:buNone/>
                      </a:pPr>
                      <a:r>
                        <a:rPr lang="en-US" sz="1600" b="0" i="0" u="none" strike="noStrike" dirty="0">
                          <a:solidFill>
                            <a:srgbClr val="000000"/>
                          </a:solidFill>
                          <a:effectLst/>
                          <a:latin typeface="Aptos Narrow" panose="020B0004020202020204" pitchFamily="34" charset="0"/>
                        </a:rPr>
                        <a:t>2020</a:t>
                      </a:r>
                      <a:endParaRPr lang="en-US" sz="2600" b="0" i="0" u="none" strike="noStrike" dirty="0">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1" i="0" u="none" strike="noStrike">
                          <a:solidFill>
                            <a:srgbClr val="000000"/>
                          </a:solidFill>
                          <a:effectLst/>
                          <a:latin typeface="Aptos Narrow" panose="020B0004020202020204" pitchFamily="34" charset="0"/>
                        </a:rPr>
                        <a:t>GPT-3</a:t>
                      </a:r>
                      <a:endParaRPr lang="en-US" sz="2600" b="0" i="0" u="none" strike="noStrike">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dirty="0">
                          <a:solidFill>
                            <a:srgbClr val="000000"/>
                          </a:solidFill>
                          <a:effectLst/>
                          <a:latin typeface="Aptos Narrow" panose="020B0004020202020204" pitchFamily="34" charset="0"/>
                        </a:rPr>
                        <a:t>175B</a:t>
                      </a:r>
                      <a:endParaRPr lang="en-US" sz="2600" b="0" i="0" u="none" strike="noStrike" dirty="0">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a:solidFill>
                            <a:srgbClr val="000000"/>
                          </a:solidFill>
                          <a:effectLst/>
                          <a:latin typeface="Aptos Narrow" panose="020B0004020202020204" pitchFamily="34" charset="0"/>
                        </a:rPr>
                        <a:t>First LLM to gain widespread adoption in AI applications.</a:t>
                      </a:r>
                      <a:endParaRPr lang="en-US" sz="2600" b="0" i="0" u="none" strike="noStrike">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04802480"/>
                  </a:ext>
                </a:extLst>
              </a:tr>
              <a:tr h="309296">
                <a:tc>
                  <a:txBody>
                    <a:bodyPr/>
                    <a:lstStyle/>
                    <a:p>
                      <a:pPr algn="ctr" fontAlgn="ctr">
                        <a:buNone/>
                      </a:pPr>
                      <a:r>
                        <a:rPr lang="en-US" sz="1600" b="0" i="0" u="none" strike="noStrike" dirty="0">
                          <a:solidFill>
                            <a:srgbClr val="000000"/>
                          </a:solidFill>
                          <a:effectLst/>
                          <a:latin typeface="Aptos Narrow" panose="020B0004020202020204" pitchFamily="34" charset="0"/>
                        </a:rPr>
                        <a:t>2022</a:t>
                      </a:r>
                      <a:endParaRPr lang="en-US" sz="2600" b="0" i="0" u="none" strike="noStrike" dirty="0">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1" i="0" u="none" strike="noStrike" dirty="0" err="1">
                          <a:solidFill>
                            <a:srgbClr val="000000"/>
                          </a:solidFill>
                          <a:effectLst/>
                          <a:latin typeface="Aptos Narrow" panose="020B0004020202020204" pitchFamily="34" charset="0"/>
                        </a:rPr>
                        <a:t>PaLM</a:t>
                      </a:r>
                      <a:endParaRPr lang="en-US" sz="2600" b="0" i="0" u="none" strike="noStrike" dirty="0">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dirty="0">
                          <a:solidFill>
                            <a:srgbClr val="000000"/>
                          </a:solidFill>
                          <a:effectLst/>
                          <a:latin typeface="Aptos Narrow" panose="020B0004020202020204" pitchFamily="34" charset="0"/>
                        </a:rPr>
                        <a:t>540B</a:t>
                      </a:r>
                      <a:endParaRPr lang="en-US" sz="2600" b="0" i="0" u="none" strike="noStrike" dirty="0">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dirty="0">
                          <a:solidFill>
                            <a:srgbClr val="000000"/>
                          </a:solidFill>
                          <a:effectLst/>
                          <a:latin typeface="Aptos Narrow" panose="020B0004020202020204" pitchFamily="34" charset="0"/>
                        </a:rPr>
                        <a:t>Google's dense transformer model.</a:t>
                      </a:r>
                      <a:endParaRPr lang="en-US" sz="2600" b="0" i="0" u="none" strike="noStrike" dirty="0">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0436791"/>
                  </a:ext>
                </a:extLst>
              </a:tr>
              <a:tr h="309296">
                <a:tc>
                  <a:txBody>
                    <a:bodyPr/>
                    <a:lstStyle/>
                    <a:p>
                      <a:pPr algn="ctr" fontAlgn="ctr">
                        <a:buNone/>
                      </a:pPr>
                      <a:r>
                        <a:rPr lang="en-US" sz="1600" b="0" i="0" u="none" strike="noStrike" dirty="0">
                          <a:solidFill>
                            <a:srgbClr val="000000"/>
                          </a:solidFill>
                          <a:effectLst/>
                          <a:latin typeface="Aptos Narrow" panose="020B0004020202020204" pitchFamily="34" charset="0"/>
                        </a:rPr>
                        <a:t>2023</a:t>
                      </a:r>
                      <a:endParaRPr lang="en-US" sz="2600" b="0" i="0" u="none" strike="noStrike" dirty="0">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1" i="0" u="none" strike="noStrike">
                          <a:solidFill>
                            <a:srgbClr val="000000"/>
                          </a:solidFill>
                          <a:effectLst/>
                          <a:latin typeface="Aptos Narrow" panose="020B0004020202020204" pitchFamily="34" charset="0"/>
                        </a:rPr>
                        <a:t>GPT-4 </a:t>
                      </a:r>
                      <a:endParaRPr lang="en-US" sz="2600" b="0" i="0" u="none" strike="noStrike">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dirty="0">
                          <a:solidFill>
                            <a:srgbClr val="000000"/>
                          </a:solidFill>
                          <a:effectLst/>
                          <a:latin typeface="Aptos Narrow" panose="020B0004020202020204" pitchFamily="34" charset="0"/>
                        </a:rPr>
                        <a:t>1.7T (Estimate)</a:t>
                      </a:r>
                      <a:endParaRPr lang="en-US" sz="2600" b="0" i="0" u="none" strike="noStrike" dirty="0">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a:solidFill>
                            <a:srgbClr val="000000"/>
                          </a:solidFill>
                          <a:effectLst/>
                          <a:latin typeface="Aptos Narrow" panose="020B0004020202020204" pitchFamily="34" charset="0"/>
                        </a:rPr>
                        <a:t>Uses Mixture-of-Experts (MoE)</a:t>
                      </a:r>
                      <a:endParaRPr lang="en-US" sz="2600" b="0" i="0" u="none" strike="noStrike">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2801172"/>
                  </a:ext>
                </a:extLst>
              </a:tr>
              <a:tr h="309296">
                <a:tc>
                  <a:txBody>
                    <a:bodyPr/>
                    <a:lstStyle/>
                    <a:p>
                      <a:pPr algn="ctr" fontAlgn="ctr">
                        <a:buNone/>
                      </a:pPr>
                      <a:r>
                        <a:rPr lang="en-US" sz="1600" b="0" i="0" u="none" strike="noStrike" dirty="0">
                          <a:solidFill>
                            <a:srgbClr val="000000"/>
                          </a:solidFill>
                          <a:effectLst/>
                          <a:latin typeface="Aptos Narrow" panose="020B0004020202020204" pitchFamily="34" charset="0"/>
                        </a:rPr>
                        <a:t>2025</a:t>
                      </a:r>
                      <a:endParaRPr lang="en-US" sz="2600" b="0" i="0" u="none" strike="noStrike" dirty="0">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1" i="0" u="none" strike="noStrike" dirty="0">
                          <a:solidFill>
                            <a:srgbClr val="000000"/>
                          </a:solidFill>
                          <a:effectLst/>
                          <a:latin typeface="Aptos Narrow" panose="020B0004020202020204" pitchFamily="34" charset="0"/>
                        </a:rPr>
                        <a:t>Grok-3</a:t>
                      </a:r>
                      <a:endParaRPr lang="en-US" sz="2600" b="0" i="0" u="none" strike="noStrike" dirty="0">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dirty="0">
                          <a:solidFill>
                            <a:srgbClr val="000000"/>
                          </a:solidFill>
                          <a:effectLst/>
                          <a:latin typeface="Aptos Narrow" panose="020B0004020202020204" pitchFamily="34" charset="0"/>
                        </a:rPr>
                        <a:t>2.7T (Estimate)</a:t>
                      </a:r>
                      <a:endParaRPr lang="en-US" sz="2600" b="0" i="0" u="none" strike="noStrike" dirty="0">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dirty="0" err="1">
                          <a:solidFill>
                            <a:srgbClr val="000000"/>
                          </a:solidFill>
                          <a:effectLst/>
                          <a:latin typeface="Aptos Narrow" panose="020B0004020202020204" pitchFamily="34" charset="0"/>
                        </a:rPr>
                        <a:t>xAI's</a:t>
                      </a:r>
                      <a:r>
                        <a:rPr lang="en-US" sz="1600" b="0" i="0" u="none" strike="noStrike" dirty="0">
                          <a:solidFill>
                            <a:srgbClr val="000000"/>
                          </a:solidFill>
                          <a:effectLst/>
                          <a:latin typeface="Aptos Narrow" panose="020B0004020202020204" pitchFamily="34" charset="0"/>
                        </a:rPr>
                        <a:t> multimodal LLM </a:t>
                      </a:r>
                      <a:endParaRPr lang="en-US" sz="2600" b="0" i="0" u="none" strike="noStrike" dirty="0">
                        <a:effectLst/>
                        <a:latin typeface="Arial" panose="020B0604020202020204" pitchFamily="34" charset="0"/>
                      </a:endParaRPr>
                    </a:p>
                  </a:txBody>
                  <a:tcPr marL="9327" marR="9327" marT="93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5439245"/>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43FAF-2B63-BB23-A75D-609C21614D44}"/>
              </a:ext>
            </a:extLst>
          </p:cNvPr>
          <p:cNvSpPr>
            <a:spLocks noGrp="1"/>
          </p:cNvSpPr>
          <p:nvPr>
            <p:ph type="title"/>
          </p:nvPr>
        </p:nvSpPr>
        <p:spPr>
          <a:xfrm>
            <a:off x="595902" y="357012"/>
            <a:ext cx="8576744" cy="461665"/>
          </a:xfrm>
        </p:spPr>
        <p:txBody>
          <a:bodyPr/>
          <a:lstStyle/>
          <a:p>
            <a:r>
              <a:rPr lang="en-US" spc="-19" dirty="0"/>
              <a:t>Training</a:t>
            </a:r>
            <a:r>
              <a:rPr lang="en-US" spc="-124" dirty="0"/>
              <a:t> Large </a:t>
            </a:r>
            <a:r>
              <a:rPr lang="en-US" spc="-15" dirty="0"/>
              <a:t>Language</a:t>
            </a:r>
            <a:r>
              <a:rPr lang="en-US" spc="-120" dirty="0"/>
              <a:t> </a:t>
            </a:r>
            <a:r>
              <a:rPr lang="en-US" spc="-8" dirty="0"/>
              <a:t>Models</a:t>
            </a:r>
            <a:endParaRPr lang="en-US" dirty="0"/>
          </a:p>
        </p:txBody>
      </p:sp>
      <p:sp>
        <p:nvSpPr>
          <p:cNvPr id="3" name="Text Placeholder 2">
            <a:extLst>
              <a:ext uri="{FF2B5EF4-FFF2-40B4-BE49-F238E27FC236}">
                <a16:creationId xmlns:a16="http://schemas.microsoft.com/office/drawing/2014/main" id="{831C437C-CE0B-C7C3-5522-D646A3F01B66}"/>
              </a:ext>
            </a:extLst>
          </p:cNvPr>
          <p:cNvSpPr>
            <a:spLocks noGrp="1"/>
          </p:cNvSpPr>
          <p:nvPr>
            <p:ph type="body" idx="1"/>
          </p:nvPr>
        </p:nvSpPr>
        <p:spPr>
          <a:xfrm>
            <a:off x="708916" y="1187862"/>
            <a:ext cx="11044719" cy="4001095"/>
          </a:xfrm>
        </p:spPr>
        <p:txBody>
          <a:bodyPr/>
          <a:lstStyle/>
          <a:p>
            <a:pPr marL="0" indent="0">
              <a:buNone/>
            </a:pPr>
            <a:r>
              <a:rPr lang="en-US" sz="2600" dirty="0"/>
              <a:t>LLMs undergo a </a:t>
            </a:r>
            <a:r>
              <a:rPr lang="en-US" sz="2600" dirty="0">
                <a:solidFill>
                  <a:srgbClr val="C00000"/>
                </a:solidFill>
              </a:rPr>
              <a:t>two-stage </a:t>
            </a:r>
            <a:r>
              <a:rPr lang="en-US" sz="2600" dirty="0"/>
              <a:t>training process:</a:t>
            </a:r>
          </a:p>
          <a:p>
            <a:pPr marL="514350" indent="-514350">
              <a:buFont typeface="+mj-lt"/>
              <a:buAutoNum type="arabicPeriod"/>
            </a:pPr>
            <a:r>
              <a:rPr lang="en-US" sz="2600" b="1" dirty="0"/>
              <a:t>Pre-Training</a:t>
            </a:r>
            <a:r>
              <a:rPr lang="en-US" sz="2600" dirty="0"/>
              <a:t>: The model learns </a:t>
            </a:r>
            <a:r>
              <a:rPr lang="en-US" sz="2600" dirty="0">
                <a:solidFill>
                  <a:srgbClr val="C00000"/>
                </a:solidFill>
              </a:rPr>
              <a:t>general patterns </a:t>
            </a:r>
            <a:r>
              <a:rPr lang="en-US" sz="2600" dirty="0"/>
              <a:t>from a vast corpus of data. This phase helps the model encode generic </a:t>
            </a:r>
            <a:r>
              <a:rPr lang="en-US" sz="2600" dirty="0">
                <a:solidFill>
                  <a:srgbClr val="C00000"/>
                </a:solidFill>
              </a:rPr>
              <a:t>linguistic features </a:t>
            </a:r>
            <a:r>
              <a:rPr lang="en-US" sz="2600" dirty="0"/>
              <a:t>and knowledge which can be effectively </a:t>
            </a:r>
            <a:r>
              <a:rPr lang="en-US" sz="2600" dirty="0">
                <a:solidFill>
                  <a:srgbClr val="C00000"/>
                </a:solidFill>
              </a:rPr>
              <a:t>transferred </a:t>
            </a:r>
            <a:r>
              <a:rPr lang="en-US" sz="2600" dirty="0"/>
              <a:t>to the target applications</a:t>
            </a:r>
          </a:p>
          <a:p>
            <a:pPr marL="514350" indent="-514350">
              <a:buFont typeface="+mj-lt"/>
              <a:buAutoNum type="arabicPeriod"/>
            </a:pPr>
            <a:endParaRPr lang="en-US" sz="2600" dirty="0"/>
          </a:p>
          <a:p>
            <a:pPr marL="514350" indent="-514350">
              <a:buFont typeface="+mj-lt"/>
              <a:buAutoNum type="arabicPeriod"/>
            </a:pPr>
            <a:r>
              <a:rPr lang="en-US" sz="2600" b="1" dirty="0"/>
              <a:t>Fine-tuning</a:t>
            </a:r>
            <a:r>
              <a:rPr lang="en-US" sz="2600" dirty="0"/>
              <a:t>: The pre-trained model is fine-tuned on a smaller, </a:t>
            </a:r>
            <a:r>
              <a:rPr lang="en-US" sz="2600" dirty="0">
                <a:solidFill>
                  <a:srgbClr val="C00000"/>
                </a:solidFill>
              </a:rPr>
              <a:t>task-specific </a:t>
            </a:r>
            <a:r>
              <a:rPr lang="en-US" sz="2600" dirty="0"/>
              <a:t>dataset, </a:t>
            </a:r>
            <a:r>
              <a:rPr lang="en-US" sz="2600" dirty="0">
                <a:solidFill>
                  <a:srgbClr val="C00000"/>
                </a:solidFill>
              </a:rPr>
              <a:t>adjusting</a:t>
            </a:r>
            <a:r>
              <a:rPr lang="en-US" sz="2600" dirty="0"/>
              <a:t> its general knowledge to perform well on specific task (</a:t>
            </a:r>
            <a:r>
              <a:rPr lang="en-US" sz="2600" kern="100" dirty="0">
                <a:solidFill>
                  <a:srgbClr val="C00000"/>
                </a:solidFill>
                <a:latin typeface="Aptos" panose="020B0004020202020204" pitchFamily="34" charset="0"/>
                <a:ea typeface="Aptos" panose="020B0004020202020204" pitchFamily="34" charset="0"/>
                <a:cs typeface="Times New Roman" panose="02020603050405020304" pitchFamily="18" charset="0"/>
              </a:rPr>
              <a:t>downstream</a:t>
            </a:r>
            <a:r>
              <a:rPr lang="en-US" sz="2600" kern="100" dirty="0">
                <a:latin typeface="Aptos" panose="020B0004020202020204" pitchFamily="34" charset="0"/>
                <a:ea typeface="Aptos" panose="020B0004020202020204" pitchFamily="34" charset="0"/>
                <a:cs typeface="Times New Roman" panose="02020603050405020304" pitchFamily="18" charset="0"/>
              </a:rPr>
              <a:t> tasks</a:t>
            </a:r>
            <a:r>
              <a:rPr lang="en-US" sz="2600" dirty="0"/>
              <a:t>), improving its performance.  </a:t>
            </a:r>
          </a:p>
          <a:p>
            <a:endParaRPr lang="en-US" sz="2600" dirty="0"/>
          </a:p>
        </p:txBody>
      </p:sp>
      <p:pic>
        <p:nvPicPr>
          <p:cNvPr id="4" name="object 9">
            <a:extLst>
              <a:ext uri="{FF2B5EF4-FFF2-40B4-BE49-F238E27FC236}">
                <a16:creationId xmlns:a16="http://schemas.microsoft.com/office/drawing/2014/main" id="{C92C4863-8B2D-97AA-DE14-7AE1B08A2E79}"/>
              </a:ext>
            </a:extLst>
          </p:cNvPr>
          <p:cNvPicPr/>
          <p:nvPr/>
        </p:nvPicPr>
        <p:blipFill>
          <a:blip r:embed="rId2" cstate="print"/>
          <a:stretch>
            <a:fillRect/>
          </a:stretch>
        </p:blipFill>
        <p:spPr>
          <a:xfrm>
            <a:off x="2848983" y="4721664"/>
            <a:ext cx="6791744" cy="1896947"/>
          </a:xfrm>
          <a:prstGeom prst="rect">
            <a:avLst/>
          </a:prstGeom>
        </p:spPr>
      </p:pic>
    </p:spTree>
    <p:extLst>
      <p:ext uri="{BB962C8B-B14F-4D97-AF65-F5344CB8AC3E}">
        <p14:creationId xmlns:p14="http://schemas.microsoft.com/office/powerpoint/2010/main" val="12457847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8FD32-7F73-2ABA-002D-FC39ECB07CEA}"/>
              </a:ext>
            </a:extLst>
          </p:cNvPr>
          <p:cNvSpPr>
            <a:spLocks noGrp="1"/>
          </p:cNvSpPr>
          <p:nvPr>
            <p:ph type="title"/>
          </p:nvPr>
        </p:nvSpPr>
        <p:spPr/>
        <p:txBody>
          <a:bodyPr/>
          <a:lstStyle/>
          <a:p>
            <a:r>
              <a:rPr lang="en-US" dirty="0"/>
              <a:t>Pretraining LLM</a:t>
            </a:r>
          </a:p>
        </p:txBody>
      </p:sp>
      <p:sp>
        <p:nvSpPr>
          <p:cNvPr id="3" name="Content Placeholder 2">
            <a:extLst>
              <a:ext uri="{FF2B5EF4-FFF2-40B4-BE49-F238E27FC236}">
                <a16:creationId xmlns:a16="http://schemas.microsoft.com/office/drawing/2014/main" id="{80BCEF3B-AAAC-3992-BB47-A53F5DC41A3F}"/>
              </a:ext>
            </a:extLst>
          </p:cNvPr>
          <p:cNvSpPr>
            <a:spLocks noGrp="1"/>
          </p:cNvSpPr>
          <p:nvPr>
            <p:ph idx="1"/>
          </p:nvPr>
        </p:nvSpPr>
        <p:spPr/>
        <p:txBody>
          <a:bodyPr/>
          <a:lstStyle/>
          <a:p>
            <a:pPr marL="514350" indent="-514350">
              <a:buFont typeface="+mj-lt"/>
              <a:buAutoNum type="arabicPeriod"/>
            </a:pPr>
            <a:r>
              <a:rPr lang="en-US" sz="2600" dirty="0"/>
              <a:t>LLM needs </a:t>
            </a:r>
            <a:r>
              <a:rPr lang="en-US" sz="2600" dirty="0">
                <a:solidFill>
                  <a:srgbClr val="C00000"/>
                </a:solidFill>
              </a:rPr>
              <a:t>huge data </a:t>
            </a:r>
            <a:r>
              <a:rPr lang="en-US" sz="2600" dirty="0"/>
              <a:t>for pre-training  </a:t>
            </a:r>
          </a:p>
          <a:p>
            <a:pPr marL="514350" indent="-514350">
              <a:buFont typeface="+mj-lt"/>
              <a:buAutoNum type="arabicPeriod"/>
            </a:pPr>
            <a:r>
              <a:rPr lang="en-US" sz="2600" dirty="0">
                <a:solidFill>
                  <a:srgbClr val="C00000"/>
                </a:solidFill>
              </a:rPr>
              <a:t>Labeled</a:t>
            </a:r>
            <a:r>
              <a:rPr lang="en-US" sz="2600" dirty="0"/>
              <a:t> data is very </a:t>
            </a:r>
            <a:r>
              <a:rPr lang="en-US" sz="2600" dirty="0">
                <a:solidFill>
                  <a:srgbClr val="C00000"/>
                </a:solidFill>
              </a:rPr>
              <a:t>limited</a:t>
            </a:r>
            <a:r>
              <a:rPr lang="en-US" sz="2600" dirty="0"/>
              <a:t> </a:t>
            </a:r>
          </a:p>
          <a:p>
            <a:pPr marL="514350" indent="-514350">
              <a:buFont typeface="+mj-lt"/>
              <a:buAutoNum type="arabicPeriod"/>
            </a:pPr>
            <a:r>
              <a:rPr lang="en-US" sz="2600" dirty="0">
                <a:solidFill>
                  <a:srgbClr val="C00000"/>
                </a:solidFill>
              </a:rPr>
              <a:t>Annotating</a:t>
            </a:r>
            <a:r>
              <a:rPr lang="en-US" sz="2600" dirty="0"/>
              <a:t> data can be </a:t>
            </a:r>
            <a:r>
              <a:rPr lang="en-US" sz="2600" dirty="0">
                <a:solidFill>
                  <a:srgbClr val="C00000"/>
                </a:solidFill>
              </a:rPr>
              <a:t>expensive</a:t>
            </a:r>
          </a:p>
          <a:p>
            <a:endParaRPr lang="en-US" sz="2600" dirty="0"/>
          </a:p>
          <a:p>
            <a:pPr marL="0" indent="0">
              <a:buNone/>
            </a:pPr>
            <a:r>
              <a:rPr lang="en-US" sz="2600" b="1" dirty="0"/>
              <a:t>Solution</a:t>
            </a:r>
            <a:r>
              <a:rPr lang="en-US" sz="2600" dirty="0"/>
              <a:t>:</a:t>
            </a:r>
            <a:r>
              <a:rPr lang="en-US" sz="2600" dirty="0">
                <a:solidFill>
                  <a:srgbClr val="C00000"/>
                </a:solidFill>
              </a:rPr>
              <a:t> Self-supervised </a:t>
            </a:r>
            <a:r>
              <a:rPr lang="en-US" sz="2600" dirty="0"/>
              <a:t>Learning </a:t>
            </a:r>
          </a:p>
          <a:p>
            <a:pPr marL="0" indent="0">
              <a:buNone/>
            </a:pPr>
            <a:r>
              <a:rPr lang="en-US" sz="2600" dirty="0"/>
              <a:t>In self-supervised learning, the </a:t>
            </a:r>
            <a:r>
              <a:rPr lang="en-US" sz="2600" dirty="0">
                <a:solidFill>
                  <a:srgbClr val="C00000"/>
                </a:solidFill>
              </a:rPr>
              <a:t>labels are derived from the data itself</a:t>
            </a:r>
            <a:r>
              <a:rPr lang="en-US" sz="2600" dirty="0"/>
              <a:t>, rather than relying on manually labeled data. </a:t>
            </a:r>
          </a:p>
          <a:p>
            <a:pPr marL="0" indent="0">
              <a:buNone/>
            </a:pPr>
            <a:endParaRPr lang="en-US" sz="2600" dirty="0"/>
          </a:p>
          <a:p>
            <a:pPr marL="0" indent="0">
              <a:buNone/>
            </a:pPr>
            <a:r>
              <a:rPr lang="en-US" sz="2600" b="1" dirty="0"/>
              <a:t>Unlabeled data</a:t>
            </a:r>
            <a:r>
              <a:rPr lang="en-US" sz="2600" dirty="0"/>
              <a:t>: Capital of France is Paris</a:t>
            </a:r>
          </a:p>
          <a:p>
            <a:pPr marL="0" indent="0">
              <a:buNone/>
            </a:pPr>
            <a:r>
              <a:rPr lang="en-US" sz="2600" b="1" dirty="0"/>
              <a:t>Labeled data</a:t>
            </a:r>
            <a:r>
              <a:rPr lang="en-US" sz="2600" dirty="0"/>
              <a:t>: Capital of France is [</a:t>
            </a:r>
            <a:r>
              <a:rPr lang="en-US" sz="2600" dirty="0">
                <a:solidFill>
                  <a:srgbClr val="C00000"/>
                </a:solidFill>
              </a:rPr>
              <a:t>…</a:t>
            </a:r>
            <a:r>
              <a:rPr lang="en-US" sz="2600" dirty="0"/>
              <a:t>] , Label = Paris</a:t>
            </a:r>
          </a:p>
          <a:p>
            <a:pPr marL="0" indent="0">
              <a:buNone/>
            </a:pPr>
            <a:endParaRPr lang="en-US" sz="2600" dirty="0"/>
          </a:p>
          <a:p>
            <a:pPr marL="0" indent="0">
              <a:buNone/>
            </a:pPr>
            <a:endParaRPr lang="en-US" sz="2600" dirty="0"/>
          </a:p>
          <a:p>
            <a:endParaRPr lang="en-US" sz="2600" dirty="0"/>
          </a:p>
        </p:txBody>
      </p:sp>
      <p:pic>
        <p:nvPicPr>
          <p:cNvPr id="8" name="Picture 7">
            <a:extLst>
              <a:ext uri="{FF2B5EF4-FFF2-40B4-BE49-F238E27FC236}">
                <a16:creationId xmlns:a16="http://schemas.microsoft.com/office/drawing/2014/main" id="{6B0AE0FA-28F7-D0CF-DFED-A7D8C0B8C982}"/>
              </a:ext>
            </a:extLst>
          </p:cNvPr>
          <p:cNvPicPr>
            <a:picLocks noChangeAspect="1"/>
          </p:cNvPicPr>
          <p:nvPr/>
        </p:nvPicPr>
        <p:blipFill>
          <a:blip r:embed="rId2"/>
          <a:stretch>
            <a:fillRect/>
          </a:stretch>
        </p:blipFill>
        <p:spPr>
          <a:xfrm>
            <a:off x="6680767" y="970500"/>
            <a:ext cx="4774324" cy="3327866"/>
          </a:xfrm>
          <a:prstGeom prst="rect">
            <a:avLst/>
          </a:prstGeom>
        </p:spPr>
      </p:pic>
    </p:spTree>
    <p:extLst>
      <p:ext uri="{BB962C8B-B14F-4D97-AF65-F5344CB8AC3E}">
        <p14:creationId xmlns:p14="http://schemas.microsoft.com/office/powerpoint/2010/main" val="2433482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0F5D5-0299-5823-18FB-4553F804384B}"/>
              </a:ext>
            </a:extLst>
          </p:cNvPr>
          <p:cNvSpPr>
            <a:spLocks noGrp="1"/>
          </p:cNvSpPr>
          <p:nvPr>
            <p:ph type="title"/>
          </p:nvPr>
        </p:nvSpPr>
        <p:spPr>
          <a:xfrm>
            <a:off x="698643" y="418657"/>
            <a:ext cx="10734377" cy="461665"/>
          </a:xfrm>
        </p:spPr>
        <p:txBody>
          <a:bodyPr/>
          <a:lstStyle/>
          <a:p>
            <a:r>
              <a:rPr lang="en-US" dirty="0"/>
              <a:t>Self-Supervised Learning - Advantages</a:t>
            </a:r>
          </a:p>
        </p:txBody>
      </p:sp>
      <p:sp>
        <p:nvSpPr>
          <p:cNvPr id="3" name="Text Placeholder 2">
            <a:extLst>
              <a:ext uri="{FF2B5EF4-FFF2-40B4-BE49-F238E27FC236}">
                <a16:creationId xmlns:a16="http://schemas.microsoft.com/office/drawing/2014/main" id="{1F805784-8056-C8F9-2B87-BEB67A4975F7}"/>
              </a:ext>
            </a:extLst>
          </p:cNvPr>
          <p:cNvSpPr>
            <a:spLocks noGrp="1"/>
          </p:cNvSpPr>
          <p:nvPr>
            <p:ph type="body" idx="1"/>
          </p:nvPr>
        </p:nvSpPr>
        <p:spPr>
          <a:xfrm>
            <a:off x="472610" y="1187862"/>
            <a:ext cx="11719389" cy="2462213"/>
          </a:xfrm>
        </p:spPr>
        <p:txBody>
          <a:bodyPr/>
          <a:lstStyle/>
          <a:p>
            <a:pPr marL="342900" indent="-342900"/>
            <a:r>
              <a:rPr lang="en-US" sz="2600" dirty="0"/>
              <a:t>Most of available data is unlabeled and </a:t>
            </a:r>
            <a:r>
              <a:rPr lang="en-US" sz="2600" dirty="0">
                <a:solidFill>
                  <a:srgbClr val="C00000"/>
                </a:solidFill>
              </a:rPr>
              <a:t>unstructured</a:t>
            </a:r>
            <a:r>
              <a:rPr lang="en-US" sz="2600" dirty="0"/>
              <a:t> (e.g., free format text)</a:t>
            </a:r>
          </a:p>
          <a:p>
            <a:pPr marL="342900" indent="-342900"/>
            <a:r>
              <a:rPr lang="en-US" sz="2600" dirty="0"/>
              <a:t>SSL can be used on </a:t>
            </a:r>
            <a:r>
              <a:rPr lang="en-US" sz="2600" dirty="0">
                <a:solidFill>
                  <a:srgbClr val="C00000"/>
                </a:solidFill>
              </a:rPr>
              <a:t>massive </a:t>
            </a:r>
            <a:r>
              <a:rPr lang="en-US" sz="2600" dirty="0"/>
              <a:t>unlabeled</a:t>
            </a:r>
            <a:r>
              <a:rPr lang="en-US" sz="2600" dirty="0">
                <a:solidFill>
                  <a:srgbClr val="C00000"/>
                </a:solidFill>
              </a:rPr>
              <a:t> </a:t>
            </a:r>
            <a:r>
              <a:rPr lang="en-US" sz="2600" dirty="0"/>
              <a:t>and </a:t>
            </a:r>
            <a:r>
              <a:rPr lang="en-US" sz="2600" dirty="0">
                <a:solidFill>
                  <a:srgbClr val="C00000"/>
                </a:solidFill>
              </a:rPr>
              <a:t>unstructured</a:t>
            </a:r>
            <a:r>
              <a:rPr lang="en-US" sz="2600" dirty="0"/>
              <a:t> data (e.g., web)</a:t>
            </a:r>
          </a:p>
          <a:p>
            <a:pPr marL="342900" indent="-342900"/>
            <a:r>
              <a:rPr lang="en-US" sz="2600" dirty="0"/>
              <a:t>LLMs can </a:t>
            </a:r>
            <a:r>
              <a:rPr lang="en-US" sz="2600" dirty="0">
                <a:solidFill>
                  <a:srgbClr val="C00000"/>
                </a:solidFill>
              </a:rPr>
              <a:t>learn</a:t>
            </a:r>
            <a:r>
              <a:rPr lang="en-US" sz="2600" dirty="0"/>
              <a:t> general representations of </a:t>
            </a:r>
            <a:r>
              <a:rPr lang="en-US" sz="2600" dirty="0">
                <a:solidFill>
                  <a:srgbClr val="C00000"/>
                </a:solidFill>
              </a:rPr>
              <a:t>language</a:t>
            </a:r>
            <a:r>
              <a:rPr lang="en-US" sz="2600" dirty="0"/>
              <a:t> from </a:t>
            </a:r>
            <a:r>
              <a:rPr lang="en-US" sz="2600" dirty="0">
                <a:solidFill>
                  <a:srgbClr val="C00000"/>
                </a:solidFill>
              </a:rPr>
              <a:t>textual data</a:t>
            </a:r>
            <a:r>
              <a:rPr lang="en-US" sz="2600" dirty="0"/>
              <a:t> using SSL</a:t>
            </a:r>
          </a:p>
          <a:p>
            <a:pPr marL="342900" indent="-342900"/>
            <a:r>
              <a:rPr lang="en-US" sz="2600" dirty="0"/>
              <a:t>Using SSL, LLMs can learn </a:t>
            </a:r>
            <a:r>
              <a:rPr lang="en-US" sz="2600" dirty="0">
                <a:solidFill>
                  <a:srgbClr val="C00000"/>
                </a:solidFill>
              </a:rPr>
              <a:t>general knowledge </a:t>
            </a:r>
            <a:r>
              <a:rPr lang="en-US" sz="2600" dirty="0"/>
              <a:t>from </a:t>
            </a:r>
            <a:r>
              <a:rPr lang="en-US" sz="2600" dirty="0">
                <a:solidFill>
                  <a:srgbClr val="C00000"/>
                </a:solidFill>
              </a:rPr>
              <a:t>large amounts </a:t>
            </a:r>
            <a:r>
              <a:rPr lang="en-US" sz="2600" dirty="0"/>
              <a:t>of unstructured data (e.g., Wikipedia), which can be used across </a:t>
            </a:r>
            <a:r>
              <a:rPr lang="en-US" sz="2600" dirty="0">
                <a:solidFill>
                  <a:srgbClr val="C00000"/>
                </a:solidFill>
              </a:rPr>
              <a:t>various tasks</a:t>
            </a:r>
          </a:p>
          <a:p>
            <a:pPr marL="342900" indent="-342900"/>
            <a:endParaRPr lang="en-US" sz="2600" dirty="0"/>
          </a:p>
          <a:p>
            <a:pPr marL="342900" indent="-342900"/>
            <a:endParaRPr lang="en-US" sz="2600" dirty="0"/>
          </a:p>
          <a:p>
            <a:pPr marL="342900" indent="-342900"/>
            <a:endParaRPr lang="en-US" sz="2600" dirty="0"/>
          </a:p>
        </p:txBody>
      </p:sp>
      <p:sp>
        <p:nvSpPr>
          <p:cNvPr id="8" name="TextBox 7">
            <a:extLst>
              <a:ext uri="{FF2B5EF4-FFF2-40B4-BE49-F238E27FC236}">
                <a16:creationId xmlns:a16="http://schemas.microsoft.com/office/drawing/2014/main" id="{130A4129-BC8B-9EFA-DABD-BEB1E2B473ED}"/>
              </a:ext>
            </a:extLst>
          </p:cNvPr>
          <p:cNvSpPr txBox="1"/>
          <p:nvPr/>
        </p:nvSpPr>
        <p:spPr>
          <a:xfrm>
            <a:off x="1895475" y="4921640"/>
            <a:ext cx="2657475" cy="646331"/>
          </a:xfrm>
          <a:prstGeom prst="rect">
            <a:avLst/>
          </a:prstGeom>
          <a:noFill/>
        </p:spPr>
        <p:txBody>
          <a:bodyPr wrap="square">
            <a:spAutoFit/>
          </a:bodyPr>
          <a:lstStyle/>
          <a:p>
            <a:r>
              <a:rPr lang="en-US" dirty="0">
                <a:solidFill>
                  <a:srgbClr val="C00000"/>
                </a:solidFill>
              </a:rPr>
              <a:t>Three</a:t>
            </a:r>
            <a:r>
              <a:rPr lang="en-US" dirty="0"/>
              <a:t> main approaches of Self-supervised Learning:</a:t>
            </a:r>
          </a:p>
        </p:txBody>
      </p:sp>
      <p:pic>
        <p:nvPicPr>
          <p:cNvPr id="5" name="Picture 4">
            <a:extLst>
              <a:ext uri="{FF2B5EF4-FFF2-40B4-BE49-F238E27FC236}">
                <a16:creationId xmlns:a16="http://schemas.microsoft.com/office/drawing/2014/main" id="{E506D04A-4348-5205-46FC-0C29AC462C7D}"/>
              </a:ext>
            </a:extLst>
          </p:cNvPr>
          <p:cNvPicPr>
            <a:picLocks noChangeAspect="1"/>
          </p:cNvPicPr>
          <p:nvPr/>
        </p:nvPicPr>
        <p:blipFill>
          <a:blip r:embed="rId2"/>
          <a:stretch>
            <a:fillRect/>
          </a:stretch>
        </p:blipFill>
        <p:spPr>
          <a:xfrm>
            <a:off x="4673413" y="3650075"/>
            <a:ext cx="7168963" cy="3152699"/>
          </a:xfrm>
          <a:prstGeom prst="rect">
            <a:avLst/>
          </a:prstGeom>
        </p:spPr>
      </p:pic>
    </p:spTree>
    <p:extLst>
      <p:ext uri="{BB962C8B-B14F-4D97-AF65-F5344CB8AC3E}">
        <p14:creationId xmlns:p14="http://schemas.microsoft.com/office/powerpoint/2010/main" val="26929441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E328B-DC38-7953-D5CD-AACB1BC2FBF8}"/>
              </a:ext>
            </a:extLst>
          </p:cNvPr>
          <p:cNvSpPr>
            <a:spLocks noGrp="1"/>
          </p:cNvSpPr>
          <p:nvPr>
            <p:ph type="title"/>
          </p:nvPr>
        </p:nvSpPr>
        <p:spPr>
          <a:xfrm>
            <a:off x="806312" y="512251"/>
            <a:ext cx="10230056" cy="1054298"/>
          </a:xfrm>
        </p:spPr>
        <p:txBody>
          <a:bodyPr/>
          <a:lstStyle/>
          <a:p>
            <a:r>
              <a:rPr lang="en-US" dirty="0"/>
              <a:t>Self-Supervised</a:t>
            </a:r>
            <a:r>
              <a:rPr lang="en-US" sz="1800" b="1" dirty="0">
                <a:latin typeface="Aptos" panose="020B0004020202020204" pitchFamily="34" charset="0"/>
                <a:ea typeface="Aptos" panose="020B0004020202020204" pitchFamily="34" charset="0"/>
                <a:cs typeface="Arial" panose="020B0604020202020204" pitchFamily="34" charset="0"/>
              </a:rPr>
              <a:t> </a:t>
            </a:r>
            <a:r>
              <a:rPr lang="en-US" dirty="0"/>
              <a:t>Pretraining - CLM</a:t>
            </a:r>
          </a:p>
        </p:txBody>
      </p:sp>
      <p:sp>
        <p:nvSpPr>
          <p:cNvPr id="3" name="Text Placeholder 2">
            <a:extLst>
              <a:ext uri="{FF2B5EF4-FFF2-40B4-BE49-F238E27FC236}">
                <a16:creationId xmlns:a16="http://schemas.microsoft.com/office/drawing/2014/main" id="{DD42E4AD-8421-9B0E-31FB-638A1FDABAA4}"/>
              </a:ext>
            </a:extLst>
          </p:cNvPr>
          <p:cNvSpPr>
            <a:spLocks noGrp="1"/>
          </p:cNvSpPr>
          <p:nvPr>
            <p:ph type="body" idx="1"/>
          </p:nvPr>
        </p:nvSpPr>
        <p:spPr>
          <a:xfrm>
            <a:off x="450350" y="1566549"/>
            <a:ext cx="11537879" cy="4083041"/>
          </a:xfrm>
        </p:spPr>
        <p:txBody>
          <a:bodyPr/>
          <a:lstStyle/>
          <a:p>
            <a:pPr marL="457200" lvl="1" indent="0">
              <a:lnSpc>
                <a:spcPct val="107000"/>
              </a:lnSpc>
              <a:spcBef>
                <a:spcPts val="0"/>
              </a:spcBef>
              <a:spcAft>
                <a:spcPts val="800"/>
              </a:spcAft>
              <a:buSzPts val="1000"/>
              <a:buNone/>
              <a:tabLst>
                <a:tab pos="914400" algn="l"/>
              </a:tabLst>
            </a:pPr>
            <a:r>
              <a:rPr lang="en-US" b="1" kern="100" dirty="0">
                <a:effectLst/>
                <a:ea typeface="Aptos" panose="020B0004020202020204" pitchFamily="34" charset="0"/>
                <a:cs typeface="Times New Roman" panose="02020603050405020304" pitchFamily="18" charset="0"/>
              </a:rPr>
              <a:t>Causal Language Modeling (CLM)</a:t>
            </a:r>
            <a:r>
              <a:rPr lang="en-US" kern="100" dirty="0">
                <a:effectLst/>
                <a:ea typeface="Aptos" panose="020B0004020202020204" pitchFamily="34" charset="0"/>
                <a:cs typeface="Times New Roman" panose="02020603050405020304" pitchFamily="18" charset="0"/>
              </a:rPr>
              <a:t>: </a:t>
            </a:r>
          </a:p>
          <a:p>
            <a:pPr marL="457200" lvl="1" indent="0">
              <a:lnSpc>
                <a:spcPct val="107000"/>
              </a:lnSpc>
              <a:spcBef>
                <a:spcPts val="0"/>
              </a:spcBef>
              <a:spcAft>
                <a:spcPts val="800"/>
              </a:spcAft>
              <a:buSzPts val="1000"/>
              <a:buNone/>
              <a:tabLst>
                <a:tab pos="914400" algn="l"/>
              </a:tabLst>
            </a:pPr>
            <a:r>
              <a:rPr lang="en-US" kern="100" dirty="0">
                <a:effectLst/>
                <a:ea typeface="Aptos" panose="020B0004020202020204" pitchFamily="34" charset="0"/>
                <a:cs typeface="Times New Roman" panose="02020603050405020304" pitchFamily="18" charset="0"/>
              </a:rPr>
              <a:t>Used to train </a:t>
            </a:r>
            <a:r>
              <a:rPr lang="en-US" kern="100" dirty="0">
                <a:solidFill>
                  <a:srgbClr val="C00000"/>
                </a:solidFill>
                <a:effectLst/>
                <a:ea typeface="Aptos" panose="020B0004020202020204" pitchFamily="34" charset="0"/>
                <a:cs typeface="Times New Roman" panose="02020603050405020304" pitchFamily="18" charset="0"/>
              </a:rPr>
              <a:t>text generation </a:t>
            </a:r>
            <a:r>
              <a:rPr lang="en-US" kern="100" dirty="0">
                <a:effectLst/>
                <a:ea typeface="Aptos" panose="020B0004020202020204" pitchFamily="34" charset="0"/>
                <a:cs typeface="Times New Roman" panose="02020603050405020304" pitchFamily="18" charset="0"/>
              </a:rPr>
              <a:t>in models like </a:t>
            </a:r>
            <a:r>
              <a:rPr lang="en-US" kern="100" dirty="0">
                <a:solidFill>
                  <a:srgbClr val="C00000"/>
                </a:solidFill>
                <a:effectLst/>
                <a:ea typeface="Aptos" panose="020B0004020202020204" pitchFamily="34" charset="0"/>
                <a:cs typeface="Times New Roman" panose="02020603050405020304" pitchFamily="18" charset="0"/>
              </a:rPr>
              <a:t>GPT</a:t>
            </a:r>
            <a:r>
              <a:rPr lang="en-US" kern="100" dirty="0">
                <a:effectLst/>
                <a:ea typeface="Aptos" panose="020B0004020202020204" pitchFamily="34" charset="0"/>
                <a:cs typeface="Times New Roman" panose="02020603050405020304" pitchFamily="18" charset="0"/>
              </a:rPr>
              <a:t> and other autoregressive models, where the model is trained to </a:t>
            </a:r>
            <a:r>
              <a:rPr lang="en-US" kern="100" dirty="0">
                <a:solidFill>
                  <a:srgbClr val="C00000"/>
                </a:solidFill>
                <a:effectLst/>
                <a:ea typeface="Aptos" panose="020B0004020202020204" pitchFamily="34" charset="0"/>
                <a:cs typeface="Times New Roman" panose="02020603050405020304" pitchFamily="18" charset="0"/>
              </a:rPr>
              <a:t>predict the next word </a:t>
            </a:r>
            <a:r>
              <a:rPr lang="en-US" kern="100" dirty="0">
                <a:effectLst/>
                <a:ea typeface="Aptos" panose="020B0004020202020204" pitchFamily="34" charset="0"/>
                <a:cs typeface="Times New Roman" panose="02020603050405020304" pitchFamily="18" charset="0"/>
              </a:rPr>
              <a:t>in a sequence, given the </a:t>
            </a:r>
            <a:r>
              <a:rPr lang="en-US" kern="100" dirty="0">
                <a:solidFill>
                  <a:srgbClr val="C00000"/>
                </a:solidFill>
                <a:effectLst/>
                <a:ea typeface="Aptos" panose="020B0004020202020204" pitchFamily="34" charset="0"/>
                <a:cs typeface="Times New Roman" panose="02020603050405020304" pitchFamily="18" charset="0"/>
              </a:rPr>
              <a:t>previous words</a:t>
            </a:r>
            <a:r>
              <a:rPr lang="en-US" kern="100" dirty="0">
                <a:effectLst/>
                <a:ea typeface="Aptos" panose="020B0004020202020204" pitchFamily="34" charset="0"/>
                <a:cs typeface="Times New Roman" panose="02020603050405020304" pitchFamily="18" charset="0"/>
              </a:rPr>
              <a:t>.</a:t>
            </a:r>
          </a:p>
          <a:p>
            <a:pPr marL="457200" lvl="1" indent="0">
              <a:lnSpc>
                <a:spcPct val="107000"/>
              </a:lnSpc>
              <a:spcBef>
                <a:spcPts val="0"/>
              </a:spcBef>
              <a:spcAft>
                <a:spcPts val="800"/>
              </a:spcAft>
              <a:buSzPts val="1000"/>
              <a:buNone/>
              <a:tabLst>
                <a:tab pos="914400" algn="l"/>
              </a:tabLst>
            </a:pPr>
            <a:endParaRPr lang="en-US" kern="100" dirty="0">
              <a:ea typeface="Aptos" panose="020B0004020202020204" pitchFamily="34" charset="0"/>
              <a:cs typeface="Times New Roman" panose="02020603050405020304" pitchFamily="18" charset="0"/>
            </a:endParaRPr>
          </a:p>
          <a:p>
            <a:pPr marL="457200" lvl="1" indent="0">
              <a:lnSpc>
                <a:spcPct val="107000"/>
              </a:lnSpc>
              <a:spcBef>
                <a:spcPts val="0"/>
              </a:spcBef>
              <a:spcAft>
                <a:spcPts val="800"/>
              </a:spcAft>
              <a:buSzPts val="1000"/>
              <a:buNone/>
              <a:tabLst>
                <a:tab pos="914400" algn="l"/>
              </a:tabLst>
            </a:pPr>
            <a:r>
              <a:rPr lang="en-US" kern="100" dirty="0">
                <a:effectLst/>
                <a:ea typeface="Aptos" panose="020B0004020202020204" pitchFamily="34" charset="0"/>
                <a:cs typeface="Times New Roman" panose="02020603050405020304" pitchFamily="18" charset="0"/>
              </a:rPr>
              <a:t>If the training sentence is: "The dog chased the ball.“</a:t>
            </a:r>
          </a:p>
          <a:p>
            <a:pPr marL="457200" lvl="1" indent="0">
              <a:lnSpc>
                <a:spcPct val="107000"/>
              </a:lnSpc>
              <a:spcBef>
                <a:spcPts val="0"/>
              </a:spcBef>
              <a:spcAft>
                <a:spcPts val="800"/>
              </a:spcAft>
              <a:buSzPts val="1000"/>
              <a:buNone/>
              <a:tabLst>
                <a:tab pos="914400" algn="l"/>
              </a:tabLst>
            </a:pPr>
            <a:r>
              <a:rPr lang="en-US" kern="100" dirty="0">
                <a:effectLst/>
                <a:ea typeface="Aptos" panose="020B0004020202020204" pitchFamily="34" charset="0"/>
                <a:cs typeface="Times New Roman" panose="02020603050405020304" pitchFamily="18" charset="0"/>
              </a:rPr>
              <a:t>The model learns to predict each word </a:t>
            </a:r>
            <a:r>
              <a:rPr lang="en-US" kern="100" dirty="0">
                <a:solidFill>
                  <a:srgbClr val="C00000"/>
                </a:solidFill>
                <a:effectLst/>
                <a:ea typeface="Aptos" panose="020B0004020202020204" pitchFamily="34" charset="0"/>
                <a:cs typeface="Times New Roman" panose="02020603050405020304" pitchFamily="18" charset="0"/>
              </a:rPr>
              <a:t>one by one</a:t>
            </a:r>
            <a:r>
              <a:rPr lang="en-US" kern="100" dirty="0">
                <a:effectLst/>
                <a:ea typeface="Aptos" panose="020B0004020202020204" pitchFamily="34" charset="0"/>
                <a:cs typeface="Times New Roman" panose="02020603050405020304" pitchFamily="18" charset="0"/>
              </a:rPr>
              <a:t>:</a:t>
            </a:r>
          </a:p>
          <a:p>
            <a:pPr marL="457200" lvl="1" indent="0">
              <a:lnSpc>
                <a:spcPct val="107000"/>
              </a:lnSpc>
              <a:spcBef>
                <a:spcPts val="0"/>
              </a:spcBef>
              <a:spcAft>
                <a:spcPts val="800"/>
              </a:spcAft>
              <a:buSzPts val="1000"/>
              <a:buNone/>
              <a:tabLst>
                <a:tab pos="914400" algn="l"/>
              </a:tabLst>
            </a:pPr>
            <a:r>
              <a:rPr lang="en-US" kern="100" dirty="0">
                <a:effectLst/>
                <a:ea typeface="Aptos" panose="020B0004020202020204" pitchFamily="34" charset="0"/>
                <a:cs typeface="Times New Roman" panose="02020603050405020304" pitchFamily="18" charset="0"/>
              </a:rPr>
              <a:t>Predict "</a:t>
            </a:r>
            <a:r>
              <a:rPr lang="en-US" kern="100" dirty="0">
                <a:solidFill>
                  <a:srgbClr val="C00000"/>
                </a:solidFill>
                <a:effectLst/>
                <a:ea typeface="Aptos" panose="020B0004020202020204" pitchFamily="34" charset="0"/>
                <a:cs typeface="Times New Roman" panose="02020603050405020304" pitchFamily="18" charset="0"/>
              </a:rPr>
              <a:t>dog</a:t>
            </a:r>
            <a:r>
              <a:rPr lang="en-US" kern="100" dirty="0">
                <a:effectLst/>
                <a:ea typeface="Aptos" panose="020B0004020202020204" pitchFamily="34" charset="0"/>
                <a:cs typeface="Times New Roman" panose="02020603050405020304" pitchFamily="18" charset="0"/>
              </a:rPr>
              <a:t>" given "The.“  </a:t>
            </a:r>
          </a:p>
          <a:p>
            <a:pPr marL="457200" lvl="1" indent="0">
              <a:lnSpc>
                <a:spcPct val="107000"/>
              </a:lnSpc>
              <a:spcBef>
                <a:spcPts val="0"/>
              </a:spcBef>
              <a:spcAft>
                <a:spcPts val="800"/>
              </a:spcAft>
              <a:buSzPts val="1000"/>
              <a:buNone/>
              <a:tabLst>
                <a:tab pos="914400" algn="l"/>
              </a:tabLst>
            </a:pPr>
            <a:r>
              <a:rPr lang="en-US" kern="100" dirty="0">
                <a:effectLst/>
                <a:ea typeface="Aptos" panose="020B0004020202020204" pitchFamily="34" charset="0"/>
                <a:cs typeface="Times New Roman" panose="02020603050405020304" pitchFamily="18" charset="0"/>
              </a:rPr>
              <a:t>Predict "</a:t>
            </a:r>
            <a:r>
              <a:rPr lang="en-US" kern="100" dirty="0">
                <a:solidFill>
                  <a:srgbClr val="C00000"/>
                </a:solidFill>
                <a:effectLst/>
                <a:ea typeface="Aptos" panose="020B0004020202020204" pitchFamily="34" charset="0"/>
                <a:cs typeface="Times New Roman" panose="02020603050405020304" pitchFamily="18" charset="0"/>
              </a:rPr>
              <a:t>chased</a:t>
            </a:r>
            <a:r>
              <a:rPr lang="en-US" kern="100" dirty="0">
                <a:effectLst/>
                <a:ea typeface="Aptos" panose="020B0004020202020204" pitchFamily="34" charset="0"/>
                <a:cs typeface="Times New Roman" panose="02020603050405020304" pitchFamily="18" charset="0"/>
              </a:rPr>
              <a:t>" given "The dog.“ </a:t>
            </a:r>
          </a:p>
          <a:p>
            <a:pPr marL="457200" lvl="1" indent="0">
              <a:lnSpc>
                <a:spcPct val="107000"/>
              </a:lnSpc>
              <a:spcBef>
                <a:spcPts val="0"/>
              </a:spcBef>
              <a:spcAft>
                <a:spcPts val="800"/>
              </a:spcAft>
              <a:buSzPts val="1000"/>
              <a:buNone/>
              <a:tabLst>
                <a:tab pos="914400" algn="l"/>
              </a:tabLst>
            </a:pPr>
            <a:r>
              <a:rPr lang="en-US" kern="100" dirty="0">
                <a:effectLst/>
                <a:ea typeface="Aptos" panose="020B0004020202020204" pitchFamily="34" charset="0"/>
                <a:cs typeface="Times New Roman" panose="02020603050405020304" pitchFamily="18" charset="0"/>
              </a:rPr>
              <a:t>Predict "</a:t>
            </a:r>
            <a:r>
              <a:rPr lang="en-US" kern="100" dirty="0">
                <a:solidFill>
                  <a:srgbClr val="C00000"/>
                </a:solidFill>
                <a:effectLst/>
                <a:ea typeface="Aptos" panose="020B0004020202020204" pitchFamily="34" charset="0"/>
                <a:cs typeface="Times New Roman" panose="02020603050405020304" pitchFamily="18" charset="0"/>
              </a:rPr>
              <a:t>the</a:t>
            </a:r>
            <a:r>
              <a:rPr lang="en-US" kern="100" dirty="0">
                <a:effectLst/>
                <a:ea typeface="Aptos" panose="020B0004020202020204" pitchFamily="34" charset="0"/>
                <a:cs typeface="Times New Roman" panose="02020603050405020304" pitchFamily="18" charset="0"/>
              </a:rPr>
              <a:t>" given "The dog chased.“ </a:t>
            </a:r>
          </a:p>
          <a:p>
            <a:pPr marL="457200" lvl="1" indent="0">
              <a:lnSpc>
                <a:spcPct val="107000"/>
              </a:lnSpc>
              <a:spcBef>
                <a:spcPts val="0"/>
              </a:spcBef>
              <a:spcAft>
                <a:spcPts val="800"/>
              </a:spcAft>
              <a:buSzPts val="1000"/>
              <a:buNone/>
              <a:tabLst>
                <a:tab pos="914400" algn="l"/>
              </a:tabLst>
            </a:pPr>
            <a:r>
              <a:rPr lang="en-US" kern="100" dirty="0">
                <a:effectLst/>
                <a:ea typeface="Aptos" panose="020B0004020202020204" pitchFamily="34" charset="0"/>
                <a:cs typeface="Times New Roman" panose="02020603050405020304" pitchFamily="18" charset="0"/>
              </a:rPr>
              <a:t>Predict "</a:t>
            </a:r>
            <a:r>
              <a:rPr lang="en-US" kern="100" dirty="0">
                <a:solidFill>
                  <a:srgbClr val="C00000"/>
                </a:solidFill>
                <a:effectLst/>
                <a:ea typeface="Aptos" panose="020B0004020202020204" pitchFamily="34" charset="0"/>
                <a:cs typeface="Times New Roman" panose="02020603050405020304" pitchFamily="18" charset="0"/>
              </a:rPr>
              <a:t>ball</a:t>
            </a:r>
            <a:r>
              <a:rPr lang="en-US" kern="100" dirty="0">
                <a:effectLst/>
                <a:ea typeface="Aptos" panose="020B0004020202020204" pitchFamily="34" charset="0"/>
                <a:cs typeface="Times New Roman" panose="02020603050405020304" pitchFamily="18" charset="0"/>
              </a:rPr>
              <a:t>" given "The dog chased the.“ </a:t>
            </a:r>
          </a:p>
          <a:p>
            <a:pPr marL="457200" lvl="1" indent="0">
              <a:lnSpc>
                <a:spcPct val="107000"/>
              </a:lnSpc>
              <a:spcBef>
                <a:spcPts val="0"/>
              </a:spcBef>
              <a:spcAft>
                <a:spcPts val="800"/>
              </a:spcAft>
              <a:buSzPts val="1000"/>
              <a:buNone/>
              <a:tabLst>
                <a:tab pos="914400" algn="l"/>
              </a:tabLst>
            </a:pPr>
            <a:endParaRPr lang="en-US" kern="100" dirty="0">
              <a:effectLst/>
              <a:ea typeface="Aptos" panose="020B0004020202020204" pitchFamily="34" charset="0"/>
              <a:cs typeface="Times New Roman" panose="02020603050405020304" pitchFamily="18" charset="0"/>
            </a:endParaRPr>
          </a:p>
          <a:p>
            <a:pPr marL="457200" lvl="1" indent="0">
              <a:lnSpc>
                <a:spcPct val="107000"/>
              </a:lnSpc>
              <a:spcBef>
                <a:spcPts val="0"/>
              </a:spcBef>
              <a:spcAft>
                <a:spcPts val="800"/>
              </a:spcAft>
              <a:buSzPts val="1000"/>
              <a:buNone/>
              <a:tabLst>
                <a:tab pos="914400" algn="l"/>
              </a:tabLst>
            </a:pPr>
            <a:endParaRPr lang="en-US" kern="100" dirty="0">
              <a:effectLst/>
              <a:ea typeface="Aptos" panose="020B0004020202020204" pitchFamily="34" charset="0"/>
              <a:cs typeface="Times New Roman" panose="02020603050405020304" pitchFamily="18" charset="0"/>
            </a:endParaRPr>
          </a:p>
          <a:p>
            <a:pPr marL="742950" lvl="1" indent="-285750">
              <a:lnSpc>
                <a:spcPct val="107000"/>
              </a:lnSpc>
              <a:spcBef>
                <a:spcPts val="0"/>
              </a:spcBef>
              <a:spcAft>
                <a:spcPts val="800"/>
              </a:spcAft>
              <a:buSzPts val="1000"/>
              <a:buFont typeface="Courier New" panose="02070309020205020404" pitchFamily="49" charset="0"/>
              <a:buChar char="o"/>
              <a:tabLst>
                <a:tab pos="914400" algn="l"/>
              </a:tabLst>
            </a:pPr>
            <a:endParaRPr lang="en-US" kern="100" dirty="0">
              <a:effectLst/>
              <a:ea typeface="Aptos" panose="020B0004020202020204" pitchFamily="34" charset="0"/>
              <a:cs typeface="Times New Roman" panose="02020603050405020304" pitchFamily="18" charset="0"/>
            </a:endParaRPr>
          </a:p>
          <a:p>
            <a:endParaRPr lang="en-US" sz="3600" dirty="0"/>
          </a:p>
        </p:txBody>
      </p:sp>
      <p:pic>
        <p:nvPicPr>
          <p:cNvPr id="5" name="Picture 4">
            <a:extLst>
              <a:ext uri="{FF2B5EF4-FFF2-40B4-BE49-F238E27FC236}">
                <a16:creationId xmlns:a16="http://schemas.microsoft.com/office/drawing/2014/main" id="{CA1CA632-2C91-F444-90FD-2B475A4B90B4}"/>
              </a:ext>
            </a:extLst>
          </p:cNvPr>
          <p:cNvPicPr>
            <a:picLocks noChangeAspect="1"/>
          </p:cNvPicPr>
          <p:nvPr/>
        </p:nvPicPr>
        <p:blipFill>
          <a:blip r:embed="rId2"/>
          <a:stretch>
            <a:fillRect/>
          </a:stretch>
        </p:blipFill>
        <p:spPr>
          <a:xfrm>
            <a:off x="8655550" y="3132862"/>
            <a:ext cx="3086100" cy="2752725"/>
          </a:xfrm>
          <a:prstGeom prst="rect">
            <a:avLst/>
          </a:prstGeom>
        </p:spPr>
      </p:pic>
    </p:spTree>
    <p:extLst>
      <p:ext uri="{BB962C8B-B14F-4D97-AF65-F5344CB8AC3E}">
        <p14:creationId xmlns:p14="http://schemas.microsoft.com/office/powerpoint/2010/main" val="15261689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17C43-0079-D615-4E55-0E0CF84BD4D8}"/>
              </a:ext>
            </a:extLst>
          </p:cNvPr>
          <p:cNvSpPr>
            <a:spLocks noGrp="1"/>
          </p:cNvSpPr>
          <p:nvPr>
            <p:ph type="title"/>
          </p:nvPr>
        </p:nvSpPr>
        <p:spPr>
          <a:xfrm>
            <a:off x="838200" y="50805"/>
            <a:ext cx="10515600" cy="1325563"/>
          </a:xfrm>
        </p:spPr>
        <p:txBody>
          <a:bodyPr/>
          <a:lstStyle/>
          <a:p>
            <a:r>
              <a:rPr lang="en-US" dirty="0"/>
              <a:t>Pre-Training – Objective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8D17A96-7787-681D-B576-1AEE9ED6449A}"/>
                  </a:ext>
                </a:extLst>
              </p:cNvPr>
              <p:cNvSpPr>
                <a:spLocks noGrp="1"/>
              </p:cNvSpPr>
              <p:nvPr>
                <p:ph idx="1"/>
              </p:nvPr>
            </p:nvSpPr>
            <p:spPr>
              <a:xfrm>
                <a:off x="838199" y="1217952"/>
                <a:ext cx="11254484" cy="4351338"/>
              </a:xfrm>
            </p:spPr>
            <p:txBody>
              <a:bodyPr/>
              <a:lstStyle/>
              <a:p>
                <a:r>
                  <a:rPr lang="en-US" sz="2400" dirty="0"/>
                  <a:t>For </a:t>
                </a:r>
                <a:r>
                  <a:rPr lang="en-US" sz="2400" dirty="0">
                    <a:solidFill>
                      <a:srgbClr val="C00000"/>
                    </a:solidFill>
                  </a:rPr>
                  <a:t>each token </a:t>
                </a:r>
                <a:r>
                  <a:rPr lang="en-US" sz="2400" dirty="0"/>
                  <a:t>generation, </a:t>
                </a:r>
                <a:r>
                  <a:rPr lang="en-US" sz="2400" dirty="0" err="1"/>
                  <a:t>softmax</a:t>
                </a:r>
                <a:r>
                  <a:rPr lang="en-US" sz="2400" dirty="0"/>
                  <a:t> generates </a:t>
                </a:r>
                <a:r>
                  <a:rPr lang="en-US" sz="2400" dirty="0">
                    <a:solidFill>
                      <a:srgbClr val="C00000"/>
                    </a:solidFill>
                  </a:rPr>
                  <a:t>probabilities</a:t>
                </a:r>
                <a:r>
                  <a:rPr lang="en-US" sz="2400" dirty="0"/>
                  <a:t> for possible tokens</a:t>
                </a:r>
              </a:p>
              <a:p>
                <a:r>
                  <a:rPr lang="en-US" sz="2400" dirty="0">
                    <a:solidFill>
                      <a:srgbClr val="C00000"/>
                    </a:solidFill>
                  </a:rPr>
                  <a:t>Cross-entropy</a:t>
                </a:r>
                <a:r>
                  <a:rPr lang="en-US" sz="2400" dirty="0"/>
                  <a:t> </a:t>
                </a:r>
                <a:r>
                  <a:rPr lang="en-US" sz="2400" dirty="0">
                    <a:solidFill>
                      <a:srgbClr val="C00000"/>
                    </a:solidFill>
                  </a:rPr>
                  <a:t>loss</a:t>
                </a:r>
                <a:r>
                  <a:rPr lang="en-US" sz="2400" dirty="0"/>
                  <a:t> is calculated using </a:t>
                </a:r>
                <a:r>
                  <a:rPr lang="en-US" sz="2400" dirty="0">
                    <a:solidFill>
                      <a:srgbClr val="C00000"/>
                    </a:solidFill>
                  </a:rPr>
                  <a:t>predicted probability </a:t>
                </a:r>
                <a:r>
                  <a:rPr lang="en-US" sz="2400" dirty="0"/>
                  <a:t>of the true token </a:t>
                </a:r>
                <a14:m>
                  <m:oMath xmlns:m="http://schemas.openxmlformats.org/officeDocument/2006/math">
                    <m:sSub>
                      <m:sSubPr>
                        <m:ctrlPr>
                          <a:rPr lang="fa-IR" sz="2400" i="1">
                            <a:latin typeface="Cambria Math" panose="02040503050406030204" pitchFamily="18" charset="0"/>
                          </a:rPr>
                        </m:ctrlPr>
                      </m:sSubPr>
                      <m:e>
                        <m:r>
                          <a:rPr lang="fa-IR" sz="2400" i="1">
                            <a:latin typeface="Cambria Math" panose="02040503050406030204" pitchFamily="18" charset="0"/>
                          </a:rPr>
                          <m:t>𝑥</m:t>
                        </m:r>
                      </m:e>
                      <m:sub>
                        <m:r>
                          <a:rPr lang="fa-IR" sz="2400" i="1">
                            <a:latin typeface="Cambria Math" panose="02040503050406030204" pitchFamily="18" charset="0"/>
                          </a:rPr>
                          <m:t>𝑡</m:t>
                        </m:r>
                      </m:sub>
                    </m:sSub>
                  </m:oMath>
                </a14:m>
                <a:r>
                  <a:rPr lang="en-US" sz="2400" dirty="0"/>
                  <a:t> (label)</a:t>
                </a:r>
              </a:p>
              <a:p>
                <a:r>
                  <a:rPr lang="en-US" sz="2400" dirty="0"/>
                  <a:t>If the model assigns </a:t>
                </a:r>
                <a:r>
                  <a:rPr lang="en-US" sz="2400" dirty="0">
                    <a:solidFill>
                      <a:srgbClr val="C00000"/>
                    </a:solidFill>
                  </a:rPr>
                  <a:t>high probability </a:t>
                </a:r>
                <a:r>
                  <a:rPr lang="en-US" sz="2400" dirty="0"/>
                  <a:t>to the correct token (label), </a:t>
                </a:r>
                <a14:m>
                  <m:oMath xmlns:m="http://schemas.openxmlformats.org/officeDocument/2006/math">
                    <m:sSub>
                      <m:sSubPr>
                        <m:ctrlPr>
                          <a:rPr lang="fa-IR" sz="2400" i="1" smtClean="0">
                            <a:solidFill>
                              <a:srgbClr val="C00000"/>
                            </a:solidFill>
                            <a:latin typeface="Cambria Math" panose="02040503050406030204" pitchFamily="18" charset="0"/>
                          </a:rPr>
                        </m:ctrlPr>
                      </m:sSubPr>
                      <m:e>
                        <m:r>
                          <a:rPr lang="fa-IR" sz="2400">
                            <a:solidFill>
                              <a:srgbClr val="C00000"/>
                            </a:solidFill>
                            <a:latin typeface="Cambria Math" panose="02040503050406030204" pitchFamily="18" charset="0"/>
                          </a:rPr>
                          <m:t>ℓ</m:t>
                        </m:r>
                      </m:e>
                      <m:sub>
                        <m:r>
                          <a:rPr lang="fa-IR" sz="2400" i="1">
                            <a:solidFill>
                              <a:srgbClr val="C00000"/>
                            </a:solidFill>
                            <a:latin typeface="Cambria Math" panose="02040503050406030204" pitchFamily="18" charset="0"/>
                          </a:rPr>
                          <m:t>𝑡</m:t>
                        </m:r>
                      </m:sub>
                    </m:sSub>
                  </m:oMath>
                </a14:m>
                <a:r>
                  <a:rPr lang="en-US" sz="2400" dirty="0">
                    <a:solidFill>
                      <a:srgbClr val="C00000"/>
                    </a:solidFill>
                  </a:rPr>
                  <a:t>is small</a:t>
                </a:r>
                <a:r>
                  <a:rPr lang="en-US" sz="2400" dirty="0"/>
                  <a:t>.</a:t>
                </a:r>
              </a:p>
              <a:p>
                <a:r>
                  <a:rPr lang="en-US" sz="2400" dirty="0"/>
                  <a:t>If model predicts a wrong token, correct token is fed to the next step (</a:t>
                </a:r>
                <a:r>
                  <a:rPr lang="en-US" sz="2400" dirty="0">
                    <a:solidFill>
                      <a:srgbClr val="C00000"/>
                    </a:solidFill>
                  </a:rPr>
                  <a:t>teacher forcing</a:t>
                </a:r>
                <a:r>
                  <a:rPr lang="en-US" sz="2400" dirty="0"/>
                  <a:t>)</a:t>
                </a:r>
              </a:p>
              <a:p>
                <a:r>
                  <a:rPr lang="en-US" sz="2400" dirty="0"/>
                  <a:t>Typically, the </a:t>
                </a:r>
                <a:r>
                  <a:rPr lang="en-US" sz="2400" dirty="0">
                    <a:solidFill>
                      <a:srgbClr val="C00000"/>
                    </a:solidFill>
                  </a:rPr>
                  <a:t>average</a:t>
                </a:r>
                <a:r>
                  <a:rPr lang="en-US" sz="2400" dirty="0"/>
                  <a:t> (or sum) of loss across all generated tokens is calculated</a:t>
                </a:r>
              </a:p>
              <a:p>
                <a:r>
                  <a:rPr lang="en-US" sz="2400" dirty="0"/>
                  <a:t>During </a:t>
                </a:r>
                <a:r>
                  <a:rPr lang="en-US" sz="2400" dirty="0">
                    <a:solidFill>
                      <a:srgbClr val="C00000"/>
                    </a:solidFill>
                  </a:rPr>
                  <a:t>backpropagation</a:t>
                </a:r>
                <a:r>
                  <a:rPr lang="en-US" sz="2400" dirty="0"/>
                  <a:t>, weights are </a:t>
                </a:r>
                <a:r>
                  <a:rPr lang="en-US" sz="2400" dirty="0">
                    <a:solidFill>
                      <a:srgbClr val="C00000"/>
                    </a:solidFill>
                  </a:rPr>
                  <a:t>adjusted</a:t>
                </a:r>
                <a:r>
                  <a:rPr lang="en-US" sz="2400" dirty="0"/>
                  <a:t> in a way that </a:t>
                </a:r>
                <a:r>
                  <a:rPr lang="en-US" sz="2400" dirty="0">
                    <a:solidFill>
                      <a:srgbClr val="C00000"/>
                    </a:solidFill>
                  </a:rPr>
                  <a:t>minimize the loss</a:t>
                </a:r>
              </a:p>
              <a:p>
                <a:endParaRPr lang="en-US" sz="2600" dirty="0"/>
              </a:p>
            </p:txBody>
          </p:sp>
        </mc:Choice>
        <mc:Fallback xmlns="">
          <p:sp>
            <p:nvSpPr>
              <p:cNvPr id="3" name="Content Placeholder 2">
                <a:extLst>
                  <a:ext uri="{FF2B5EF4-FFF2-40B4-BE49-F238E27FC236}">
                    <a16:creationId xmlns:a16="http://schemas.microsoft.com/office/drawing/2014/main" id="{98D17A96-7787-681D-B576-1AEE9ED6449A}"/>
                  </a:ext>
                </a:extLst>
              </p:cNvPr>
              <p:cNvSpPr>
                <a:spLocks noGrp="1" noRot="1" noChangeAspect="1" noMove="1" noResize="1" noEditPoints="1" noAdjustHandles="1" noChangeArrowheads="1" noChangeShapeType="1" noTextEdit="1"/>
              </p:cNvSpPr>
              <p:nvPr>
                <p:ph idx="1"/>
              </p:nvPr>
            </p:nvSpPr>
            <p:spPr>
              <a:xfrm>
                <a:off x="838199" y="1217952"/>
                <a:ext cx="11254484" cy="4351338"/>
              </a:xfrm>
              <a:blipFill>
                <a:blip r:embed="rId2"/>
                <a:stretch>
                  <a:fillRect l="-704" t="-1961"/>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D126B4D2-0BDF-F5F3-003F-C7D897AFC7EF}"/>
              </a:ext>
            </a:extLst>
          </p:cNvPr>
          <p:cNvPicPr>
            <a:picLocks noChangeAspect="1"/>
          </p:cNvPicPr>
          <p:nvPr/>
        </p:nvPicPr>
        <p:blipFill>
          <a:blip r:embed="rId3"/>
          <a:stretch>
            <a:fillRect/>
          </a:stretch>
        </p:blipFill>
        <p:spPr>
          <a:xfrm>
            <a:off x="6859712" y="6117893"/>
            <a:ext cx="2038635" cy="552527"/>
          </a:xfrm>
          <a:prstGeom prst="rect">
            <a:avLst/>
          </a:prstGeom>
        </p:spPr>
      </p:pic>
      <p:pic>
        <p:nvPicPr>
          <p:cNvPr id="6" name="Picture 5">
            <a:extLst>
              <a:ext uri="{FF2B5EF4-FFF2-40B4-BE49-F238E27FC236}">
                <a16:creationId xmlns:a16="http://schemas.microsoft.com/office/drawing/2014/main" id="{220AC094-9DA6-8898-EB5A-BA692332174D}"/>
              </a:ext>
            </a:extLst>
          </p:cNvPr>
          <p:cNvPicPr>
            <a:picLocks noChangeAspect="1"/>
          </p:cNvPicPr>
          <p:nvPr/>
        </p:nvPicPr>
        <p:blipFill>
          <a:blip r:embed="rId4"/>
          <a:stretch>
            <a:fillRect/>
          </a:stretch>
        </p:blipFill>
        <p:spPr>
          <a:xfrm>
            <a:off x="840538" y="5637309"/>
            <a:ext cx="5563257" cy="1084287"/>
          </a:xfrm>
          <a:prstGeom prst="rect">
            <a:avLst/>
          </a:prstGeom>
        </p:spPr>
      </p:pic>
      <p:sp>
        <p:nvSpPr>
          <p:cNvPr id="10" name="TextBox 9">
            <a:extLst>
              <a:ext uri="{FF2B5EF4-FFF2-40B4-BE49-F238E27FC236}">
                <a16:creationId xmlns:a16="http://schemas.microsoft.com/office/drawing/2014/main" id="{1B4072C8-2D95-446B-2F78-941C070A4812}"/>
              </a:ext>
            </a:extLst>
          </p:cNvPr>
          <p:cNvSpPr txBox="1"/>
          <p:nvPr/>
        </p:nvSpPr>
        <p:spPr>
          <a:xfrm>
            <a:off x="838198" y="4076339"/>
            <a:ext cx="7720155" cy="1477328"/>
          </a:xfrm>
          <a:prstGeom prst="rect">
            <a:avLst/>
          </a:prstGeom>
          <a:noFill/>
        </p:spPr>
        <p:txBody>
          <a:bodyPr wrap="square">
            <a:spAutoFit/>
          </a:bodyPr>
          <a:lstStyle/>
          <a:p>
            <a:pPr>
              <a:buNone/>
            </a:pPr>
            <a:r>
              <a:rPr lang="en-US" b="1" dirty="0">
                <a:latin typeface="+mn-lt"/>
              </a:rPr>
              <a:t>Example: </a:t>
            </a:r>
            <a:r>
              <a:rPr lang="en-US" dirty="0">
                <a:latin typeface="+mn-lt"/>
              </a:rPr>
              <a:t>vocab = {I, like, dogs, cats} , Training text: "I like dogs".</a:t>
            </a:r>
          </a:p>
          <a:p>
            <a:pPr>
              <a:buFont typeface="Arial" panose="020B0604020202020204" pitchFamily="34" charset="0"/>
              <a:buChar char="•"/>
            </a:pPr>
            <a:r>
              <a:rPr lang="en-US" dirty="0">
                <a:latin typeface="+mn-lt"/>
              </a:rPr>
              <a:t>Model predicts probabilities at each step:</a:t>
            </a:r>
          </a:p>
          <a:p>
            <a:pPr marL="742950" lvl="1" indent="-285750">
              <a:buFont typeface="Arial" panose="020B0604020202020204" pitchFamily="34" charset="0"/>
              <a:buChar char="•"/>
            </a:pPr>
            <a:r>
              <a:rPr lang="en-US" dirty="0">
                <a:latin typeface="+mn-lt"/>
              </a:rPr>
              <a:t>Step 1 (correct token: "I"): p = [</a:t>
            </a:r>
            <a:r>
              <a:rPr lang="en-US" dirty="0">
                <a:solidFill>
                  <a:srgbClr val="C00000"/>
                </a:solidFill>
                <a:latin typeface="+mn-lt"/>
              </a:rPr>
              <a:t>0.6</a:t>
            </a:r>
            <a:r>
              <a:rPr lang="en-US" dirty="0">
                <a:latin typeface="+mn-lt"/>
              </a:rPr>
              <a:t>, 0.2, 0.1, 0.1]</a:t>
            </a:r>
          </a:p>
          <a:p>
            <a:pPr marL="742950" lvl="1" indent="-285750">
              <a:buFont typeface="Arial" panose="020B0604020202020204" pitchFamily="34" charset="0"/>
              <a:buChar char="•"/>
            </a:pPr>
            <a:r>
              <a:rPr lang="en-US" dirty="0">
                <a:latin typeface="+mn-lt"/>
              </a:rPr>
              <a:t>Step 2 (correct token: "like"): p = [0.1, </a:t>
            </a:r>
            <a:r>
              <a:rPr lang="en-US" dirty="0">
                <a:solidFill>
                  <a:srgbClr val="C00000"/>
                </a:solidFill>
                <a:latin typeface="+mn-lt"/>
              </a:rPr>
              <a:t>0.7</a:t>
            </a:r>
            <a:r>
              <a:rPr lang="en-US" dirty="0">
                <a:latin typeface="+mn-lt"/>
              </a:rPr>
              <a:t>, 0.1, 0.1]</a:t>
            </a:r>
          </a:p>
          <a:p>
            <a:pPr marL="742950" lvl="1" indent="-285750">
              <a:buFont typeface="Arial" panose="020B0604020202020204" pitchFamily="34" charset="0"/>
              <a:buChar char="•"/>
            </a:pPr>
            <a:r>
              <a:rPr lang="en-US" dirty="0">
                <a:latin typeface="+mn-lt"/>
              </a:rPr>
              <a:t>Step 3 (correct token: "dogs"): p = [0.1, 0.1, </a:t>
            </a:r>
            <a:r>
              <a:rPr lang="en-US" dirty="0">
                <a:solidFill>
                  <a:srgbClr val="C00000"/>
                </a:solidFill>
                <a:latin typeface="+mn-lt"/>
              </a:rPr>
              <a:t>0.3</a:t>
            </a:r>
            <a:r>
              <a:rPr lang="en-US" dirty="0">
                <a:latin typeface="+mn-lt"/>
              </a:rPr>
              <a:t>, 0.5]</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CC4798-705E-0078-0E98-2644C6D98028}"/>
                  </a:ext>
                </a:extLst>
              </p:cNvPr>
              <p:cNvSpPr txBox="1"/>
              <p:nvPr/>
            </p:nvSpPr>
            <p:spPr>
              <a:xfrm>
                <a:off x="6859712" y="5112046"/>
                <a:ext cx="5232972" cy="528543"/>
              </a:xfrm>
              <a:prstGeom prst="rect">
                <a:avLst/>
              </a:prstGeom>
              <a:noFill/>
            </p:spPr>
            <p:txBody>
              <a:bodyPr wrap="square">
                <a:spAutoFit/>
              </a:bodyPr>
              <a:lstStyle/>
              <a:p>
                <a:pPr>
                  <a:buNone/>
                </a:pPr>
                <a:r>
                  <a:rPr lang="en-US" sz="2000" dirty="0"/>
                  <a:t>Loss =</a:t>
                </a:r>
                <a14:m>
                  <m:oMath xmlns:m="http://schemas.openxmlformats.org/officeDocument/2006/math">
                    <m:r>
                      <a:rPr lang="en-US" sz="2000" b="0" i="0" smtClean="0">
                        <a:latin typeface="Cambria Math" panose="02040503050406030204" pitchFamily="18" charset="0"/>
                      </a:rPr>
                      <m:t> </m:t>
                    </m:r>
                    <m:f>
                      <m:fPr>
                        <m:ctrlPr>
                          <a:rPr lang="fa-IR" sz="2000" i="1">
                            <a:latin typeface="Cambria Math" panose="02040503050406030204" pitchFamily="18" charset="0"/>
                          </a:rPr>
                        </m:ctrlPr>
                      </m:fPr>
                      <m:num>
                        <m:r>
                          <a:rPr lang="fa-IR" sz="2000" i="0">
                            <a:latin typeface="Cambria Math" panose="02040503050406030204" pitchFamily="18" charset="0"/>
                          </a:rPr>
                          <m:t>1</m:t>
                        </m:r>
                      </m:num>
                      <m:den>
                        <m:r>
                          <a:rPr lang="fa-IR" sz="2000" i="0">
                            <a:latin typeface="Cambria Math" panose="02040503050406030204" pitchFamily="18" charset="0"/>
                          </a:rPr>
                          <m:t>3</m:t>
                        </m:r>
                      </m:den>
                    </m:f>
                    <m:r>
                      <a:rPr lang="fa-IR" sz="2000" i="0">
                        <a:latin typeface="Cambria Math" panose="02040503050406030204" pitchFamily="18" charset="0"/>
                      </a:rPr>
                      <m:t>(</m:t>
                    </m:r>
                    <m:r>
                      <a:rPr lang="en-US" sz="2000">
                        <a:latin typeface="Cambria Math" panose="02040503050406030204" pitchFamily="18" charset="0"/>
                      </a:rPr>
                      <m:t>−</m:t>
                    </m:r>
                    <m:func>
                      <m:funcPr>
                        <m:ctrlPr>
                          <a:rPr lang="fa-IR" sz="2000" i="1">
                            <a:latin typeface="Cambria Math" panose="02040503050406030204" pitchFamily="18" charset="0"/>
                          </a:rPr>
                        </m:ctrlPr>
                      </m:funcPr>
                      <m:fName>
                        <m:r>
                          <m:rPr>
                            <m:sty m:val="p"/>
                          </m:rPr>
                          <a:rPr lang="en-US" sz="2000" i="0">
                            <a:latin typeface="Cambria Math" panose="02040503050406030204" pitchFamily="18" charset="0"/>
                          </a:rPr>
                          <m:t>log</m:t>
                        </m:r>
                      </m:fName>
                      <m:e>
                        <m:r>
                          <a:rPr lang="fa-IR" sz="2000" i="0">
                            <a:latin typeface="Cambria Math" panose="02040503050406030204" pitchFamily="18" charset="0"/>
                          </a:rPr>
                          <m:t>0</m:t>
                        </m:r>
                        <m:r>
                          <a:rPr lang="fa-IR" sz="2000" i="0">
                            <a:latin typeface="Cambria Math" panose="02040503050406030204" pitchFamily="18" charset="0"/>
                          </a:rPr>
                          <m:t>.</m:t>
                        </m:r>
                        <m:r>
                          <a:rPr lang="en-US" sz="2000" b="0" i="0" smtClean="0">
                            <a:latin typeface="Cambria Math" panose="02040503050406030204" pitchFamily="18" charset="0"/>
                          </a:rPr>
                          <m:t>6</m:t>
                        </m:r>
                      </m:e>
                    </m:func>
                    <m:r>
                      <a:rPr lang="en-US" sz="2000">
                        <a:latin typeface="Cambria Math" panose="02040503050406030204" pitchFamily="18" charset="0"/>
                      </a:rPr>
                      <m:t>−</m:t>
                    </m:r>
                    <m:func>
                      <m:funcPr>
                        <m:ctrlPr>
                          <a:rPr lang="fa-IR" sz="2000" i="1">
                            <a:latin typeface="Cambria Math" panose="02040503050406030204" pitchFamily="18" charset="0"/>
                          </a:rPr>
                        </m:ctrlPr>
                      </m:funcPr>
                      <m:fName>
                        <m:r>
                          <m:rPr>
                            <m:sty m:val="p"/>
                          </m:rPr>
                          <a:rPr lang="en-US" sz="2000" i="0">
                            <a:latin typeface="Cambria Math" panose="02040503050406030204" pitchFamily="18" charset="0"/>
                          </a:rPr>
                          <m:t>log</m:t>
                        </m:r>
                      </m:fName>
                      <m:e>
                        <m:r>
                          <a:rPr lang="fa-IR" sz="2000" i="0">
                            <a:latin typeface="Cambria Math" panose="02040503050406030204" pitchFamily="18" charset="0"/>
                          </a:rPr>
                          <m:t>0</m:t>
                        </m:r>
                        <m:r>
                          <a:rPr lang="fa-IR" sz="2000" i="0">
                            <a:latin typeface="Cambria Math" panose="02040503050406030204" pitchFamily="18" charset="0"/>
                          </a:rPr>
                          <m:t>.</m:t>
                        </m:r>
                        <m:r>
                          <a:rPr lang="en-US" sz="2000" b="0" i="0" smtClean="0">
                            <a:latin typeface="Cambria Math" panose="02040503050406030204" pitchFamily="18" charset="0"/>
                          </a:rPr>
                          <m:t>7</m:t>
                        </m:r>
                      </m:e>
                    </m:func>
                    <m:r>
                      <a:rPr lang="en-US" sz="2000">
                        <a:latin typeface="Cambria Math" panose="02040503050406030204" pitchFamily="18" charset="0"/>
                      </a:rPr>
                      <m:t>−</m:t>
                    </m:r>
                    <m:func>
                      <m:funcPr>
                        <m:ctrlPr>
                          <a:rPr lang="fa-IR" sz="2000" i="1">
                            <a:latin typeface="Cambria Math" panose="02040503050406030204" pitchFamily="18" charset="0"/>
                          </a:rPr>
                        </m:ctrlPr>
                      </m:funcPr>
                      <m:fName>
                        <m:r>
                          <m:rPr>
                            <m:sty m:val="p"/>
                          </m:rPr>
                          <a:rPr lang="en-US" sz="2000" i="0">
                            <a:latin typeface="Cambria Math" panose="02040503050406030204" pitchFamily="18" charset="0"/>
                          </a:rPr>
                          <m:t>log</m:t>
                        </m:r>
                      </m:fName>
                      <m:e>
                        <m:r>
                          <a:rPr lang="fa-IR" sz="2000" i="0">
                            <a:latin typeface="Cambria Math" panose="02040503050406030204" pitchFamily="18" charset="0"/>
                          </a:rPr>
                          <m:t>0</m:t>
                        </m:r>
                        <m:r>
                          <a:rPr lang="fa-IR" sz="2000" i="0">
                            <a:latin typeface="Cambria Math" panose="02040503050406030204" pitchFamily="18" charset="0"/>
                          </a:rPr>
                          <m:t>.</m:t>
                        </m:r>
                        <m:r>
                          <a:rPr lang="en-US" sz="2000" b="0" i="0" smtClean="0">
                            <a:latin typeface="Cambria Math" panose="02040503050406030204" pitchFamily="18" charset="0"/>
                          </a:rPr>
                          <m:t>3</m:t>
                        </m:r>
                      </m:e>
                    </m:func>
                    <m:r>
                      <a:rPr lang="fa-IR" sz="2000" i="0">
                        <a:latin typeface="Cambria Math" panose="02040503050406030204" pitchFamily="18" charset="0"/>
                      </a:rPr>
                      <m:t>)</m:t>
                    </m:r>
                    <m:r>
                      <a:rPr lang="en-US" sz="2000" b="0" i="0" smtClean="0">
                        <a:latin typeface="Cambria Math" panose="02040503050406030204" pitchFamily="18" charset="0"/>
                      </a:rPr>
                      <m:t> = </m:t>
                    </m:r>
                    <m:r>
                      <a:rPr lang="en-US" sz="2000" b="0" i="0" smtClean="0">
                        <a:latin typeface="Cambria Math" panose="02040503050406030204" pitchFamily="18" charset="0"/>
                      </a:rPr>
                      <m:t>0</m:t>
                    </m:r>
                    <m:r>
                      <a:rPr lang="en-US" sz="2000" b="0" i="0" smtClean="0">
                        <a:latin typeface="Cambria Math" panose="02040503050406030204" pitchFamily="18" charset="0"/>
                      </a:rPr>
                      <m:t>.</m:t>
                    </m:r>
                    <m:r>
                      <a:rPr lang="en-US" sz="2000" b="0" i="0" smtClean="0">
                        <a:latin typeface="Cambria Math" panose="02040503050406030204" pitchFamily="18" charset="0"/>
                      </a:rPr>
                      <m:t>69</m:t>
                    </m:r>
                    <m:r>
                      <a:rPr lang="en-US" sz="2000" b="0" i="0" smtClean="0">
                        <a:latin typeface="Cambria Math" panose="02040503050406030204" pitchFamily="18" charset="0"/>
                      </a:rPr>
                      <m:t> </m:t>
                    </m:r>
                  </m:oMath>
                </a14:m>
                <a:endParaRPr lang="fa-IR" sz="2000" dirty="0"/>
              </a:p>
            </p:txBody>
          </p:sp>
        </mc:Choice>
        <mc:Fallback xmlns="">
          <p:sp>
            <p:nvSpPr>
              <p:cNvPr id="12" name="TextBox 11">
                <a:extLst>
                  <a:ext uri="{FF2B5EF4-FFF2-40B4-BE49-F238E27FC236}">
                    <a16:creationId xmlns:a16="http://schemas.microsoft.com/office/drawing/2014/main" id="{34CC4798-705E-0078-0E98-2644C6D98028}"/>
                  </a:ext>
                </a:extLst>
              </p:cNvPr>
              <p:cNvSpPr txBox="1">
                <a:spLocks noRot="1" noChangeAspect="1" noMove="1" noResize="1" noEditPoints="1" noAdjustHandles="1" noChangeArrowheads="1" noChangeShapeType="1" noTextEdit="1"/>
              </p:cNvSpPr>
              <p:nvPr/>
            </p:nvSpPr>
            <p:spPr>
              <a:xfrm>
                <a:off x="6859712" y="5112046"/>
                <a:ext cx="5232972" cy="528543"/>
              </a:xfrm>
              <a:prstGeom prst="rect">
                <a:avLst/>
              </a:prstGeom>
              <a:blipFill>
                <a:blip r:embed="rId5"/>
                <a:stretch>
                  <a:fillRect l="-1164" b="-9302"/>
                </a:stretch>
              </a:blipFill>
            </p:spPr>
            <p:txBody>
              <a:bodyPr/>
              <a:lstStyle/>
              <a:p>
                <a:r>
                  <a:rPr lang="en-US">
                    <a:noFill/>
                  </a:rPr>
                  <a:t> </a:t>
                </a:r>
              </a:p>
            </p:txBody>
          </p:sp>
        </mc:Fallback>
      </mc:AlternateContent>
      <p:pic>
        <p:nvPicPr>
          <p:cNvPr id="14" name="Picture 13">
            <a:extLst>
              <a:ext uri="{FF2B5EF4-FFF2-40B4-BE49-F238E27FC236}">
                <a16:creationId xmlns:a16="http://schemas.microsoft.com/office/drawing/2014/main" id="{E0A3D0F3-CB8A-860B-4B43-6997AA5940BD}"/>
              </a:ext>
            </a:extLst>
          </p:cNvPr>
          <p:cNvPicPr>
            <a:picLocks noChangeAspect="1"/>
          </p:cNvPicPr>
          <p:nvPr/>
        </p:nvPicPr>
        <p:blipFill>
          <a:blip r:embed="rId6"/>
          <a:stretch>
            <a:fillRect/>
          </a:stretch>
        </p:blipFill>
        <p:spPr>
          <a:xfrm>
            <a:off x="9745943" y="5902879"/>
            <a:ext cx="1380970" cy="833558"/>
          </a:xfrm>
          <a:prstGeom prst="rect">
            <a:avLst/>
          </a:prstGeom>
        </p:spPr>
      </p:pic>
    </p:spTree>
    <p:extLst>
      <p:ext uri="{BB962C8B-B14F-4D97-AF65-F5344CB8AC3E}">
        <p14:creationId xmlns:p14="http://schemas.microsoft.com/office/powerpoint/2010/main" val="8444160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FC903FD-55DF-7760-00CB-6CB2EAFB99A5}"/>
              </a:ext>
            </a:extLst>
          </p:cNvPr>
          <p:cNvPicPr>
            <a:picLocks noChangeAspect="1"/>
          </p:cNvPicPr>
          <p:nvPr/>
        </p:nvPicPr>
        <p:blipFill>
          <a:blip r:embed="rId2"/>
          <a:stretch>
            <a:fillRect/>
          </a:stretch>
        </p:blipFill>
        <p:spPr>
          <a:xfrm>
            <a:off x="8788981" y="3217371"/>
            <a:ext cx="3359505" cy="2484785"/>
          </a:xfrm>
          <a:prstGeom prst="rect">
            <a:avLst/>
          </a:prstGeom>
        </p:spPr>
      </p:pic>
      <p:sp>
        <p:nvSpPr>
          <p:cNvPr id="2" name="Title 1">
            <a:extLst>
              <a:ext uri="{FF2B5EF4-FFF2-40B4-BE49-F238E27FC236}">
                <a16:creationId xmlns:a16="http://schemas.microsoft.com/office/drawing/2014/main" id="{9FFE328B-DC38-7953-D5CD-AACB1BC2FBF8}"/>
              </a:ext>
            </a:extLst>
          </p:cNvPr>
          <p:cNvSpPr>
            <a:spLocks noGrp="1"/>
          </p:cNvSpPr>
          <p:nvPr>
            <p:ph type="title"/>
          </p:nvPr>
        </p:nvSpPr>
        <p:spPr>
          <a:xfrm>
            <a:off x="806312" y="512251"/>
            <a:ext cx="10230056" cy="1054298"/>
          </a:xfrm>
        </p:spPr>
        <p:txBody>
          <a:bodyPr/>
          <a:lstStyle/>
          <a:p>
            <a:r>
              <a:rPr lang="en-US" dirty="0"/>
              <a:t>Self-Supervised</a:t>
            </a:r>
            <a:r>
              <a:rPr lang="en-US" sz="1800" b="1" dirty="0">
                <a:latin typeface="Aptos" panose="020B0004020202020204" pitchFamily="34" charset="0"/>
                <a:ea typeface="Aptos" panose="020B0004020202020204" pitchFamily="34" charset="0"/>
                <a:cs typeface="Arial" panose="020B0604020202020204" pitchFamily="34" charset="0"/>
              </a:rPr>
              <a:t> </a:t>
            </a:r>
            <a:r>
              <a:rPr lang="en-US" dirty="0"/>
              <a:t>Pretraining - MLM</a:t>
            </a:r>
          </a:p>
        </p:txBody>
      </p:sp>
      <p:sp>
        <p:nvSpPr>
          <p:cNvPr id="3" name="Text Placeholder 2">
            <a:extLst>
              <a:ext uri="{FF2B5EF4-FFF2-40B4-BE49-F238E27FC236}">
                <a16:creationId xmlns:a16="http://schemas.microsoft.com/office/drawing/2014/main" id="{DD42E4AD-8421-9B0E-31FB-638A1FDABAA4}"/>
              </a:ext>
            </a:extLst>
          </p:cNvPr>
          <p:cNvSpPr>
            <a:spLocks noGrp="1"/>
          </p:cNvSpPr>
          <p:nvPr>
            <p:ph type="body" idx="1"/>
          </p:nvPr>
        </p:nvSpPr>
        <p:spPr>
          <a:xfrm>
            <a:off x="273272" y="1698323"/>
            <a:ext cx="11786171" cy="4083041"/>
          </a:xfrm>
        </p:spPr>
        <p:txBody>
          <a:bodyPr/>
          <a:lstStyle/>
          <a:p>
            <a:pPr marL="457200" lvl="1" indent="0">
              <a:lnSpc>
                <a:spcPct val="107000"/>
              </a:lnSpc>
              <a:spcBef>
                <a:spcPts val="0"/>
              </a:spcBef>
              <a:spcAft>
                <a:spcPts val="800"/>
              </a:spcAft>
              <a:buSzPts val="1000"/>
              <a:buNone/>
              <a:tabLst>
                <a:tab pos="914400" algn="l"/>
              </a:tabLst>
            </a:pPr>
            <a:r>
              <a:rPr lang="en-US" b="1" kern="100" dirty="0">
                <a:effectLst/>
                <a:ea typeface="Aptos" panose="020B0004020202020204" pitchFamily="34" charset="0"/>
                <a:cs typeface="Times New Roman" panose="02020603050405020304" pitchFamily="18" charset="0"/>
              </a:rPr>
              <a:t>Masked Language Modeling (MLM)</a:t>
            </a:r>
            <a:r>
              <a:rPr lang="en-US" kern="100" dirty="0">
                <a:effectLst/>
                <a:ea typeface="Aptos" panose="020B0004020202020204" pitchFamily="34" charset="0"/>
                <a:cs typeface="Times New Roman" panose="02020603050405020304" pitchFamily="18" charset="0"/>
              </a:rPr>
              <a:t>: </a:t>
            </a:r>
          </a:p>
          <a:p>
            <a:pPr lvl="1">
              <a:lnSpc>
                <a:spcPct val="107000"/>
              </a:lnSpc>
              <a:spcBef>
                <a:spcPts val="0"/>
              </a:spcBef>
              <a:spcAft>
                <a:spcPts val="800"/>
              </a:spcAft>
              <a:buSzPts val="1000"/>
              <a:tabLst>
                <a:tab pos="914400" algn="l"/>
              </a:tabLst>
            </a:pPr>
            <a:r>
              <a:rPr lang="en-US" kern="100" dirty="0">
                <a:effectLst/>
                <a:ea typeface="Aptos" panose="020B0004020202020204" pitchFamily="34" charset="0"/>
                <a:cs typeface="Times New Roman" panose="02020603050405020304" pitchFamily="18" charset="0"/>
              </a:rPr>
              <a:t>Used to train </a:t>
            </a:r>
            <a:r>
              <a:rPr lang="en-US" kern="100" dirty="0">
                <a:solidFill>
                  <a:srgbClr val="C00000"/>
                </a:solidFill>
                <a:effectLst/>
                <a:ea typeface="Aptos" panose="020B0004020202020204" pitchFamily="34" charset="0"/>
                <a:cs typeface="Times New Roman" panose="02020603050405020304" pitchFamily="18" charset="0"/>
              </a:rPr>
              <a:t>language understanding </a:t>
            </a:r>
            <a:r>
              <a:rPr lang="en-US" kern="100" dirty="0">
                <a:effectLst/>
                <a:ea typeface="Aptos" panose="020B0004020202020204" pitchFamily="34" charset="0"/>
                <a:cs typeface="Times New Roman" panose="02020603050405020304" pitchFamily="18" charset="0"/>
              </a:rPr>
              <a:t>in models like </a:t>
            </a:r>
            <a:r>
              <a:rPr lang="en-US" kern="100" dirty="0">
                <a:solidFill>
                  <a:srgbClr val="C00000"/>
                </a:solidFill>
                <a:effectLst/>
                <a:ea typeface="Aptos" panose="020B0004020202020204" pitchFamily="34" charset="0"/>
                <a:cs typeface="Times New Roman" panose="02020603050405020304" pitchFamily="18" charset="0"/>
              </a:rPr>
              <a:t>BERT</a:t>
            </a:r>
            <a:r>
              <a:rPr lang="en-US" kern="100" dirty="0">
                <a:effectLst/>
                <a:ea typeface="Aptos" panose="020B0004020202020204" pitchFamily="34" charset="0"/>
                <a:cs typeface="Times New Roman" panose="02020603050405020304" pitchFamily="18" charset="0"/>
              </a:rPr>
              <a:t>, where </a:t>
            </a:r>
            <a:r>
              <a:rPr lang="en-US" kern="100" dirty="0">
                <a:solidFill>
                  <a:srgbClr val="C00000"/>
                </a:solidFill>
                <a:effectLst/>
                <a:ea typeface="Aptos" panose="020B0004020202020204" pitchFamily="34" charset="0"/>
                <a:cs typeface="Times New Roman" panose="02020603050405020304" pitchFamily="18" charset="0"/>
              </a:rPr>
              <a:t>random</a:t>
            </a:r>
            <a:r>
              <a:rPr lang="en-US" kern="100" dirty="0">
                <a:effectLst/>
                <a:ea typeface="Aptos" panose="020B0004020202020204" pitchFamily="34" charset="0"/>
                <a:cs typeface="Times New Roman" panose="02020603050405020304" pitchFamily="18" charset="0"/>
              </a:rPr>
              <a:t> </a:t>
            </a:r>
            <a:r>
              <a:rPr lang="en-US" kern="100" dirty="0">
                <a:solidFill>
                  <a:srgbClr val="C00000"/>
                </a:solidFill>
                <a:effectLst/>
                <a:ea typeface="Aptos" panose="020B0004020202020204" pitchFamily="34" charset="0"/>
                <a:cs typeface="Times New Roman" panose="02020603050405020304" pitchFamily="18" charset="0"/>
              </a:rPr>
              <a:t>words</a:t>
            </a:r>
            <a:r>
              <a:rPr lang="en-US" kern="100" dirty="0">
                <a:effectLst/>
                <a:ea typeface="Aptos" panose="020B0004020202020204" pitchFamily="34" charset="0"/>
                <a:cs typeface="Times New Roman" panose="02020603050405020304" pitchFamily="18" charset="0"/>
              </a:rPr>
              <a:t> in a sentence are </a:t>
            </a:r>
            <a:r>
              <a:rPr lang="en-US" kern="100" dirty="0">
                <a:solidFill>
                  <a:srgbClr val="C00000"/>
                </a:solidFill>
                <a:effectLst/>
                <a:ea typeface="Aptos" panose="020B0004020202020204" pitchFamily="34" charset="0"/>
                <a:cs typeface="Times New Roman" panose="02020603050405020304" pitchFamily="18" charset="0"/>
              </a:rPr>
              <a:t>masked</a:t>
            </a:r>
            <a:r>
              <a:rPr lang="en-US" kern="100" dirty="0">
                <a:effectLst/>
                <a:ea typeface="Aptos" panose="020B0004020202020204" pitchFamily="34" charset="0"/>
                <a:cs typeface="Times New Roman" panose="02020603050405020304" pitchFamily="18" charset="0"/>
              </a:rPr>
              <a:t>, and the model is trained to predict them </a:t>
            </a:r>
            <a:r>
              <a:rPr lang="en-US" dirty="0"/>
              <a:t>based on the </a:t>
            </a:r>
            <a:r>
              <a:rPr lang="en-US" dirty="0">
                <a:solidFill>
                  <a:srgbClr val="C00000"/>
                </a:solidFill>
              </a:rPr>
              <a:t>context</a:t>
            </a:r>
            <a:endParaRPr lang="en-US" kern="100" dirty="0">
              <a:solidFill>
                <a:srgbClr val="C00000"/>
              </a:solidFill>
              <a:effectLst/>
              <a:ea typeface="Aptos" panose="020B0004020202020204" pitchFamily="34" charset="0"/>
              <a:cs typeface="Times New Roman" panose="02020603050405020304" pitchFamily="18" charset="0"/>
            </a:endParaRPr>
          </a:p>
          <a:p>
            <a:pPr lvl="1">
              <a:lnSpc>
                <a:spcPct val="107000"/>
              </a:lnSpc>
              <a:spcBef>
                <a:spcPts val="0"/>
              </a:spcBef>
              <a:spcAft>
                <a:spcPts val="800"/>
              </a:spcAft>
              <a:buSzPts val="1000"/>
              <a:tabLst>
                <a:tab pos="914400" algn="l"/>
              </a:tabLst>
            </a:pPr>
            <a:r>
              <a:rPr kumimoji="0" lang="en-US" altLang="en-US" b="0" i="0" u="none" strike="noStrike" cap="none" normalizeH="0" baseline="0" dirty="0">
                <a:ln>
                  <a:noFill/>
                </a:ln>
                <a:solidFill>
                  <a:schemeClr val="tx1"/>
                </a:solidFill>
                <a:effectLst/>
                <a:cs typeface="Arial" panose="020B0604020202020204" pitchFamily="34" charset="0"/>
              </a:rPr>
              <a:t>Typically, around </a:t>
            </a:r>
            <a:r>
              <a:rPr kumimoji="0" lang="en-US" altLang="en-US" b="0" i="0" u="none" strike="noStrike" cap="none" normalizeH="0" baseline="0" dirty="0">
                <a:ln>
                  <a:noFill/>
                </a:ln>
                <a:solidFill>
                  <a:srgbClr val="C00000"/>
                </a:solidFill>
                <a:effectLst/>
                <a:cs typeface="Arial" panose="020B0604020202020204" pitchFamily="34" charset="0"/>
              </a:rPr>
              <a:t>15%</a:t>
            </a:r>
            <a:r>
              <a:rPr kumimoji="0" lang="en-US" altLang="en-US" b="0" i="0" u="none" strike="noStrike" cap="none" normalizeH="0" baseline="0" dirty="0">
                <a:ln>
                  <a:noFill/>
                </a:ln>
                <a:solidFill>
                  <a:schemeClr val="tx1"/>
                </a:solidFill>
                <a:effectLst/>
                <a:cs typeface="Arial" panose="020B0604020202020204" pitchFamily="34" charset="0"/>
              </a:rPr>
              <a:t> of the tokens in a sequence are </a:t>
            </a:r>
            <a:r>
              <a:rPr kumimoji="0" lang="en-US" altLang="en-US" b="0" i="0" u="none" strike="noStrike" cap="none" normalizeH="0" baseline="0" dirty="0">
                <a:ln>
                  <a:noFill/>
                </a:ln>
                <a:solidFill>
                  <a:srgbClr val="C00000"/>
                </a:solidFill>
                <a:effectLst/>
                <a:cs typeface="Arial" panose="020B0604020202020204" pitchFamily="34" charset="0"/>
              </a:rPr>
              <a:t>masked</a:t>
            </a:r>
            <a:r>
              <a:rPr kumimoji="0" lang="en-US" altLang="en-US" b="0" i="0" u="none" strike="noStrike" cap="none" normalizeH="0" baseline="0" dirty="0">
                <a:ln>
                  <a:noFill/>
                </a:ln>
                <a:solidFill>
                  <a:schemeClr val="tx1"/>
                </a:solidFill>
                <a:effectLst/>
                <a:cs typeface="Arial" panose="020B0604020202020204" pitchFamily="34" charset="0"/>
              </a:rPr>
              <a:t>.</a:t>
            </a:r>
          </a:p>
          <a:p>
            <a:pPr marL="457200" lvl="1" indent="0">
              <a:lnSpc>
                <a:spcPct val="107000"/>
              </a:lnSpc>
              <a:spcBef>
                <a:spcPts val="0"/>
              </a:spcBef>
              <a:spcAft>
                <a:spcPts val="800"/>
              </a:spcAft>
              <a:buSzPts val="1000"/>
              <a:buNone/>
              <a:tabLst>
                <a:tab pos="914400" algn="l"/>
              </a:tabLst>
            </a:pPr>
            <a:endParaRPr lang="en-US" b="1" dirty="0">
              <a:cs typeface="Arial" panose="020B0604020202020204" pitchFamily="34" charset="0"/>
            </a:endParaRPr>
          </a:p>
          <a:p>
            <a:pPr marL="457200" lvl="1" indent="0">
              <a:lnSpc>
                <a:spcPct val="107000"/>
              </a:lnSpc>
              <a:spcBef>
                <a:spcPts val="0"/>
              </a:spcBef>
              <a:spcAft>
                <a:spcPts val="800"/>
              </a:spcAft>
              <a:buSzPts val="1000"/>
              <a:buNone/>
              <a:tabLst>
                <a:tab pos="914400" algn="l"/>
              </a:tabLst>
            </a:pPr>
            <a:endParaRPr lang="en-US" b="1" dirty="0">
              <a:cs typeface="Arial" panose="020B0604020202020204" pitchFamily="34" charset="0"/>
            </a:endParaRPr>
          </a:p>
          <a:p>
            <a:pPr marL="0" lvl="1" indent="0">
              <a:lnSpc>
                <a:spcPct val="107000"/>
              </a:lnSpc>
              <a:spcBef>
                <a:spcPts val="0"/>
              </a:spcBef>
              <a:spcAft>
                <a:spcPts val="800"/>
              </a:spcAft>
              <a:buSzPts val="1000"/>
              <a:buNone/>
              <a:tabLst>
                <a:tab pos="914400" algn="l"/>
              </a:tabLst>
            </a:pPr>
            <a:r>
              <a:rPr lang="en-US" sz="2200" kern="100" dirty="0">
                <a:effectLst/>
                <a:ea typeface="Aptos" panose="020B0004020202020204" pitchFamily="34" charset="0"/>
                <a:cs typeface="Arial" panose="020B0604020202020204" pitchFamily="34" charset="0"/>
              </a:rPr>
              <a:t>Differ</a:t>
            </a:r>
            <a:r>
              <a:rPr lang="en-US" sz="2200" kern="100" dirty="0">
                <a:ea typeface="Aptos" panose="020B0004020202020204" pitchFamily="34" charset="0"/>
                <a:cs typeface="Arial" panose="020B0604020202020204" pitchFamily="34" charset="0"/>
              </a:rPr>
              <a:t>ent aspects of </a:t>
            </a:r>
            <a:r>
              <a:rPr lang="en-US" sz="2200" kern="100" dirty="0">
                <a:solidFill>
                  <a:srgbClr val="C00000"/>
                </a:solidFill>
                <a:ea typeface="Aptos" panose="020B0004020202020204" pitchFamily="34" charset="0"/>
                <a:cs typeface="Arial" panose="020B0604020202020204" pitchFamily="34" charset="0"/>
              </a:rPr>
              <a:t>language understanding </a:t>
            </a:r>
            <a:r>
              <a:rPr lang="en-US" sz="2200" kern="100" dirty="0">
                <a:ea typeface="Aptos" panose="020B0004020202020204" pitchFamily="34" charset="0"/>
                <a:cs typeface="Arial" panose="020B0604020202020204" pitchFamily="34" charset="0"/>
              </a:rPr>
              <a:t>can be learned using MLM:</a:t>
            </a:r>
            <a:endParaRPr lang="en-US" sz="2200" kern="100" dirty="0">
              <a:effectLst/>
              <a:ea typeface="Aptos" panose="020B0004020202020204" pitchFamily="34" charset="0"/>
              <a:cs typeface="Times New Roman" panose="02020603050405020304" pitchFamily="18" charset="0"/>
            </a:endParaRPr>
          </a:p>
          <a:p>
            <a:pPr marL="266700" indent="-257175">
              <a:spcBef>
                <a:spcPts val="559"/>
              </a:spcBef>
              <a:buClr>
                <a:srgbClr val="8C1515"/>
              </a:buClr>
              <a:buFont typeface="Times New Roman"/>
              <a:buChar char="•"/>
              <a:tabLst>
                <a:tab pos="266224" algn="l"/>
                <a:tab pos="266700" algn="l"/>
                <a:tab pos="1049179" algn="l"/>
              </a:tabLst>
            </a:pPr>
            <a:r>
              <a:rPr lang="en-US" sz="2000" dirty="0">
                <a:cs typeface="Calibri"/>
              </a:rPr>
              <a:t>I put </a:t>
            </a:r>
            <a:r>
              <a:rPr lang="en-US" sz="2000" kern="100" dirty="0">
                <a:effectLst/>
                <a:ea typeface="Aptos" panose="020B0004020202020204" pitchFamily="34" charset="0"/>
                <a:cs typeface="Times New Roman" panose="02020603050405020304" pitchFamily="18" charset="0"/>
              </a:rPr>
              <a:t>[</a:t>
            </a:r>
            <a:r>
              <a:rPr lang="en-US" sz="2000" dirty="0">
                <a:solidFill>
                  <a:srgbClr val="C00000"/>
                </a:solidFill>
              </a:rPr>
              <a:t>MASK</a:t>
            </a:r>
            <a:r>
              <a:rPr lang="en-US" sz="2000" kern="100" dirty="0">
                <a:effectLst/>
                <a:ea typeface="Aptos" panose="020B0004020202020204" pitchFamily="34" charset="0"/>
                <a:cs typeface="Times New Roman" panose="02020603050405020304" pitchFamily="18" charset="0"/>
              </a:rPr>
              <a:t>] </a:t>
            </a:r>
            <a:r>
              <a:rPr lang="en-US" sz="2000" spc="-4" dirty="0">
                <a:cs typeface="Calibri"/>
              </a:rPr>
              <a:t>fork</a:t>
            </a:r>
            <a:r>
              <a:rPr lang="en-US" sz="2000" spc="4" dirty="0">
                <a:cs typeface="Calibri"/>
              </a:rPr>
              <a:t> </a:t>
            </a:r>
            <a:r>
              <a:rPr lang="en-US" sz="2000" spc="-4" dirty="0">
                <a:cs typeface="Calibri"/>
              </a:rPr>
              <a:t>down</a:t>
            </a:r>
            <a:r>
              <a:rPr lang="en-US" sz="2000" dirty="0">
                <a:cs typeface="Calibri"/>
              </a:rPr>
              <a:t> </a:t>
            </a:r>
            <a:r>
              <a:rPr lang="en-US" sz="2000" spc="-4" dirty="0">
                <a:cs typeface="Calibri"/>
              </a:rPr>
              <a:t>on</a:t>
            </a:r>
            <a:r>
              <a:rPr lang="en-US" sz="2000" spc="4" dirty="0">
                <a:cs typeface="Calibri"/>
              </a:rPr>
              <a:t> </a:t>
            </a:r>
            <a:r>
              <a:rPr lang="en-US" sz="2000" dirty="0">
                <a:cs typeface="Calibri"/>
              </a:rPr>
              <a:t>the </a:t>
            </a:r>
            <a:r>
              <a:rPr lang="en-US" sz="2000" spc="-4" dirty="0">
                <a:cs typeface="Calibri"/>
              </a:rPr>
              <a:t>table.</a:t>
            </a:r>
            <a:r>
              <a:rPr lang="en-US" sz="2000" spc="4" dirty="0">
                <a:cs typeface="Calibri"/>
              </a:rPr>
              <a:t> </a:t>
            </a:r>
            <a:r>
              <a:rPr lang="en-US" sz="2000" spc="-4" dirty="0">
                <a:cs typeface="Calibri"/>
              </a:rPr>
              <a:t>[</a:t>
            </a:r>
            <a:r>
              <a:rPr lang="en-US" sz="2000" spc="-4" dirty="0">
                <a:solidFill>
                  <a:srgbClr val="C00000"/>
                </a:solidFill>
                <a:cs typeface="Calibri"/>
              </a:rPr>
              <a:t>syntax</a:t>
            </a:r>
            <a:r>
              <a:rPr lang="en-US" sz="2000" spc="-4" dirty="0">
                <a:cs typeface="Calibri"/>
              </a:rPr>
              <a:t>]</a:t>
            </a:r>
            <a:endParaRPr lang="en-US" sz="2000" dirty="0">
              <a:cs typeface="Calibri"/>
            </a:endParaRPr>
          </a:p>
          <a:p>
            <a:pPr marL="266700" indent="-257175">
              <a:spcBef>
                <a:spcPts val="394"/>
              </a:spcBef>
              <a:buClr>
                <a:srgbClr val="8C1515"/>
              </a:buClr>
              <a:buFont typeface="Times New Roman"/>
              <a:buChar char="•"/>
              <a:tabLst>
                <a:tab pos="266224" algn="l"/>
                <a:tab pos="266700" algn="l"/>
                <a:tab pos="5537359" algn="l"/>
                <a:tab pos="5692140" algn="l"/>
              </a:tabLst>
            </a:pPr>
            <a:r>
              <a:rPr lang="en-US" sz="2000" dirty="0">
                <a:cs typeface="Calibri"/>
              </a:rPr>
              <a:t>I</a:t>
            </a:r>
            <a:r>
              <a:rPr lang="en-US" sz="2000" spc="4" dirty="0">
                <a:cs typeface="Calibri"/>
              </a:rPr>
              <a:t> </a:t>
            </a:r>
            <a:r>
              <a:rPr lang="en-US" sz="2000" dirty="0">
                <a:cs typeface="Calibri"/>
              </a:rPr>
              <a:t>deposited some money into my </a:t>
            </a:r>
            <a:r>
              <a:rPr lang="en-US" sz="2000" kern="100" dirty="0">
                <a:effectLst/>
                <a:ea typeface="Aptos" panose="020B0004020202020204" pitchFamily="34" charset="0"/>
                <a:cs typeface="Times New Roman" panose="02020603050405020304" pitchFamily="18" charset="0"/>
              </a:rPr>
              <a:t>[</a:t>
            </a:r>
            <a:r>
              <a:rPr lang="en-US" sz="2000" dirty="0">
                <a:solidFill>
                  <a:srgbClr val="C00000"/>
                </a:solidFill>
              </a:rPr>
              <a:t>MASK</a:t>
            </a:r>
            <a:r>
              <a:rPr lang="en-US" sz="2000" kern="100" dirty="0">
                <a:effectLst/>
                <a:ea typeface="Aptos" panose="020B0004020202020204" pitchFamily="34" charset="0"/>
                <a:cs typeface="Times New Roman" panose="02020603050405020304" pitchFamily="18" charset="0"/>
              </a:rPr>
              <a:t>] account</a:t>
            </a:r>
            <a:r>
              <a:rPr lang="en-US" sz="2000" dirty="0">
                <a:cs typeface="Calibri"/>
              </a:rPr>
              <a:t>. </a:t>
            </a:r>
            <a:r>
              <a:rPr lang="en-US" sz="2000" spc="-4" dirty="0">
                <a:cs typeface="Calibri"/>
              </a:rPr>
              <a:t>[</a:t>
            </a:r>
            <a:r>
              <a:rPr lang="en-US" sz="2000" spc="-4" dirty="0">
                <a:solidFill>
                  <a:srgbClr val="C00000"/>
                </a:solidFill>
                <a:cs typeface="Calibri"/>
              </a:rPr>
              <a:t>contextual meaning</a:t>
            </a:r>
            <a:r>
              <a:rPr lang="en-US" sz="2000" spc="-4" dirty="0">
                <a:cs typeface="Calibri"/>
              </a:rPr>
              <a:t>]</a:t>
            </a:r>
            <a:endParaRPr lang="en-US" sz="2000" dirty="0">
              <a:cs typeface="Calibri"/>
            </a:endParaRPr>
          </a:p>
          <a:p>
            <a:pPr marL="266224" marR="164306" indent="-257175">
              <a:lnSpc>
                <a:spcPts val="2018"/>
              </a:lnSpc>
              <a:spcBef>
                <a:spcPts val="525"/>
              </a:spcBef>
              <a:buClr>
                <a:srgbClr val="8C1515"/>
              </a:buClr>
              <a:buFont typeface="Times New Roman"/>
              <a:buChar char="•"/>
              <a:tabLst>
                <a:tab pos="266224" algn="l"/>
                <a:tab pos="266700" algn="l"/>
                <a:tab pos="3251359" algn="l"/>
              </a:tabLst>
            </a:pPr>
            <a:r>
              <a:rPr lang="en-US" sz="2000" spc="-4" dirty="0">
                <a:cs typeface="Calibri"/>
              </a:rPr>
              <a:t>It was very long and boring. Overall,</a:t>
            </a:r>
            <a:r>
              <a:rPr lang="en-US" sz="2000" spc="8" dirty="0">
                <a:cs typeface="Calibri"/>
              </a:rPr>
              <a:t> </a:t>
            </a:r>
            <a:r>
              <a:rPr lang="en-US" sz="2000" dirty="0">
                <a:cs typeface="Calibri"/>
              </a:rPr>
              <a:t>the</a:t>
            </a:r>
            <a:r>
              <a:rPr lang="en-US" sz="2000" spc="8" dirty="0">
                <a:cs typeface="Calibri"/>
              </a:rPr>
              <a:t> </a:t>
            </a:r>
            <a:r>
              <a:rPr lang="en-US" sz="2000" spc="-4" dirty="0">
                <a:cs typeface="Calibri"/>
              </a:rPr>
              <a:t>movie</a:t>
            </a:r>
            <a:r>
              <a:rPr lang="en-US" sz="2000" spc="11" dirty="0">
                <a:cs typeface="Calibri"/>
              </a:rPr>
              <a:t> </a:t>
            </a:r>
            <a:r>
              <a:rPr lang="en-US" sz="2000" dirty="0">
                <a:cs typeface="Calibri"/>
              </a:rPr>
              <a:t>was </a:t>
            </a:r>
            <a:r>
              <a:rPr lang="en-US" sz="2000" kern="100" dirty="0">
                <a:effectLst/>
                <a:ea typeface="Aptos" panose="020B0004020202020204" pitchFamily="34" charset="0"/>
                <a:cs typeface="Times New Roman" panose="02020603050405020304" pitchFamily="18" charset="0"/>
              </a:rPr>
              <a:t>[</a:t>
            </a:r>
            <a:r>
              <a:rPr lang="en-US" sz="2000" dirty="0">
                <a:solidFill>
                  <a:srgbClr val="C00000"/>
                </a:solidFill>
              </a:rPr>
              <a:t>MASK</a:t>
            </a:r>
            <a:r>
              <a:rPr lang="en-US" sz="2000" kern="100" dirty="0">
                <a:effectLst/>
                <a:ea typeface="Aptos" panose="020B0004020202020204" pitchFamily="34" charset="0"/>
                <a:cs typeface="Times New Roman" panose="02020603050405020304" pitchFamily="18" charset="0"/>
              </a:rPr>
              <a:t>]</a:t>
            </a:r>
            <a:r>
              <a:rPr lang="en-US" sz="2000" dirty="0">
                <a:cs typeface="Calibri"/>
              </a:rPr>
              <a:t>.</a:t>
            </a:r>
            <a:r>
              <a:rPr lang="en-US" sz="2000" spc="-8" dirty="0">
                <a:cs typeface="Calibri"/>
              </a:rPr>
              <a:t> </a:t>
            </a:r>
            <a:r>
              <a:rPr lang="en-US" sz="2000" dirty="0">
                <a:cs typeface="Calibri"/>
              </a:rPr>
              <a:t>[</a:t>
            </a:r>
            <a:r>
              <a:rPr lang="en-US" sz="2000" dirty="0">
                <a:solidFill>
                  <a:srgbClr val="C00000"/>
                </a:solidFill>
                <a:cs typeface="Calibri"/>
              </a:rPr>
              <a:t>sentiment</a:t>
            </a:r>
            <a:r>
              <a:rPr lang="en-US" sz="2000" dirty="0">
                <a:cs typeface="Calibri"/>
              </a:rPr>
              <a:t>]</a:t>
            </a:r>
          </a:p>
          <a:p>
            <a:pPr marL="266224" marR="255746" indent="-257175">
              <a:lnSpc>
                <a:spcPct val="100899"/>
              </a:lnSpc>
              <a:spcBef>
                <a:spcPts val="338"/>
              </a:spcBef>
              <a:buClr>
                <a:srgbClr val="8C1515"/>
              </a:buClr>
              <a:buFont typeface="Times New Roman"/>
              <a:buChar char="•"/>
              <a:tabLst>
                <a:tab pos="266224" algn="l"/>
                <a:tab pos="266700" algn="l"/>
                <a:tab pos="2859881" algn="l"/>
              </a:tabLst>
            </a:pPr>
            <a:r>
              <a:rPr lang="en-US" sz="2000" dirty="0">
                <a:cs typeface="Calibri"/>
              </a:rPr>
              <a:t>I</a:t>
            </a:r>
            <a:r>
              <a:rPr lang="en-US" sz="2000" spc="4" dirty="0">
                <a:cs typeface="Calibri"/>
              </a:rPr>
              <a:t> </a:t>
            </a:r>
            <a:r>
              <a:rPr lang="en-US" sz="2000" dirty="0">
                <a:cs typeface="Calibri"/>
              </a:rPr>
              <a:t>was</a:t>
            </a:r>
            <a:r>
              <a:rPr lang="en-US" sz="2000" spc="8" dirty="0">
                <a:cs typeface="Calibri"/>
              </a:rPr>
              <a:t> </a:t>
            </a:r>
            <a:r>
              <a:rPr lang="en-US" sz="2000" spc="-4" dirty="0">
                <a:cs typeface="Calibri"/>
              </a:rPr>
              <a:t>thinking</a:t>
            </a:r>
            <a:r>
              <a:rPr lang="en-US" sz="2000" spc="8" dirty="0">
                <a:cs typeface="Calibri"/>
              </a:rPr>
              <a:t> </a:t>
            </a:r>
            <a:r>
              <a:rPr lang="en-US" sz="2000" spc="-4" dirty="0">
                <a:cs typeface="Calibri"/>
              </a:rPr>
              <a:t>about</a:t>
            </a:r>
            <a:r>
              <a:rPr lang="en-US" sz="2000" spc="8" dirty="0">
                <a:cs typeface="Calibri"/>
              </a:rPr>
              <a:t> </a:t>
            </a:r>
            <a:r>
              <a:rPr lang="en-US" sz="2000" dirty="0">
                <a:cs typeface="Calibri"/>
              </a:rPr>
              <a:t>the</a:t>
            </a:r>
            <a:r>
              <a:rPr lang="en-US" sz="2000" spc="15" dirty="0">
                <a:cs typeface="Calibri"/>
              </a:rPr>
              <a:t> </a:t>
            </a:r>
            <a:r>
              <a:rPr lang="en-US" sz="2000" dirty="0">
                <a:cs typeface="Calibri"/>
              </a:rPr>
              <a:t>sequence</a:t>
            </a:r>
            <a:r>
              <a:rPr lang="en-US" sz="2000" spc="11" dirty="0">
                <a:cs typeface="Calibri"/>
              </a:rPr>
              <a:t> </a:t>
            </a:r>
            <a:r>
              <a:rPr lang="en-US" sz="2000" spc="-4" dirty="0">
                <a:cs typeface="Calibri"/>
              </a:rPr>
              <a:t>that</a:t>
            </a:r>
            <a:r>
              <a:rPr lang="en-US" sz="2000" spc="8" dirty="0">
                <a:cs typeface="Calibri"/>
              </a:rPr>
              <a:t> </a:t>
            </a:r>
            <a:r>
              <a:rPr lang="en-US" sz="2000" dirty="0">
                <a:cs typeface="Calibri"/>
              </a:rPr>
              <a:t>goes</a:t>
            </a:r>
            <a:r>
              <a:rPr lang="en-US" sz="2000" spc="8" dirty="0">
                <a:cs typeface="Calibri"/>
              </a:rPr>
              <a:t> </a:t>
            </a:r>
            <a:r>
              <a:rPr lang="en-US" sz="2000" spc="-4" dirty="0">
                <a:cs typeface="Calibri"/>
              </a:rPr>
              <a:t>1,</a:t>
            </a:r>
            <a:r>
              <a:rPr lang="en-US" sz="2000" spc="11" dirty="0">
                <a:cs typeface="Calibri"/>
              </a:rPr>
              <a:t> </a:t>
            </a:r>
            <a:r>
              <a:rPr lang="en-US" sz="2000" spc="-4" dirty="0">
                <a:cs typeface="Calibri"/>
              </a:rPr>
              <a:t>1,</a:t>
            </a:r>
            <a:r>
              <a:rPr lang="en-US" sz="2000" spc="8" dirty="0">
                <a:cs typeface="Calibri"/>
              </a:rPr>
              <a:t> </a:t>
            </a:r>
            <a:r>
              <a:rPr lang="en-US" sz="2000" spc="-4" dirty="0">
                <a:cs typeface="Calibri"/>
              </a:rPr>
              <a:t>2,</a:t>
            </a:r>
            <a:r>
              <a:rPr lang="en-US" sz="2000" spc="8" dirty="0">
                <a:cs typeface="Calibri"/>
              </a:rPr>
              <a:t> </a:t>
            </a:r>
            <a:r>
              <a:rPr lang="en-US" sz="2000" spc="-4" dirty="0">
                <a:cs typeface="Calibri"/>
              </a:rPr>
              <a:t>3,</a:t>
            </a:r>
            <a:r>
              <a:rPr lang="en-US" sz="2000" spc="8" dirty="0">
                <a:cs typeface="Calibri"/>
              </a:rPr>
              <a:t> </a:t>
            </a:r>
            <a:r>
              <a:rPr lang="en-US" sz="2000" spc="-4" dirty="0">
                <a:cs typeface="Calibri"/>
              </a:rPr>
              <a:t>5,</a:t>
            </a:r>
            <a:r>
              <a:rPr lang="en-US" sz="2000" spc="11" dirty="0">
                <a:cs typeface="Calibri"/>
              </a:rPr>
              <a:t> </a:t>
            </a:r>
            <a:r>
              <a:rPr lang="en-US" sz="2000" spc="-4" dirty="0">
                <a:cs typeface="Calibri"/>
              </a:rPr>
              <a:t>8,</a:t>
            </a:r>
            <a:r>
              <a:rPr lang="en-US" sz="2000" spc="8" dirty="0">
                <a:cs typeface="Calibri"/>
              </a:rPr>
              <a:t> </a:t>
            </a:r>
            <a:r>
              <a:rPr lang="en-US" sz="2000" spc="-4" dirty="0">
                <a:cs typeface="Calibri"/>
              </a:rPr>
              <a:t>13,</a:t>
            </a:r>
            <a:r>
              <a:rPr lang="en-US" sz="2000" spc="8" dirty="0">
                <a:cs typeface="Calibri"/>
              </a:rPr>
              <a:t> </a:t>
            </a:r>
            <a:r>
              <a:rPr lang="en-US" sz="2000" spc="-4" dirty="0">
                <a:cs typeface="Calibri"/>
              </a:rPr>
              <a:t>21,</a:t>
            </a:r>
            <a:r>
              <a:rPr lang="en-US" sz="2000" kern="100" dirty="0">
                <a:effectLst/>
                <a:ea typeface="Aptos" panose="020B0004020202020204" pitchFamily="34" charset="0"/>
                <a:cs typeface="Times New Roman" panose="02020603050405020304" pitchFamily="18" charset="0"/>
              </a:rPr>
              <a:t> [</a:t>
            </a:r>
            <a:r>
              <a:rPr lang="en-US" sz="2000" dirty="0">
                <a:solidFill>
                  <a:srgbClr val="C00000"/>
                </a:solidFill>
              </a:rPr>
              <a:t>MASK</a:t>
            </a:r>
            <a:r>
              <a:rPr lang="en-US" sz="2000" kern="100" dirty="0">
                <a:effectLst/>
                <a:ea typeface="Aptos" panose="020B0004020202020204" pitchFamily="34" charset="0"/>
                <a:cs typeface="Times New Roman" panose="02020603050405020304" pitchFamily="18" charset="0"/>
              </a:rPr>
              <a:t>]. </a:t>
            </a:r>
            <a:r>
              <a:rPr lang="en-US" sz="2000" spc="-4" dirty="0">
                <a:cs typeface="Calibri"/>
              </a:rPr>
              <a:t>[</a:t>
            </a:r>
            <a:r>
              <a:rPr lang="en-US" sz="2000" spc="-4" dirty="0">
                <a:solidFill>
                  <a:srgbClr val="C00000"/>
                </a:solidFill>
                <a:cs typeface="Calibri"/>
              </a:rPr>
              <a:t>basic</a:t>
            </a:r>
            <a:r>
              <a:rPr lang="en-US" sz="2000" spc="-4" dirty="0">
                <a:cs typeface="Calibri"/>
              </a:rPr>
              <a:t> </a:t>
            </a:r>
            <a:r>
              <a:rPr lang="en-US" sz="2000" spc="-4" dirty="0">
                <a:solidFill>
                  <a:srgbClr val="C00000"/>
                </a:solidFill>
                <a:cs typeface="Calibri"/>
              </a:rPr>
              <a:t>reasoning</a:t>
            </a:r>
            <a:r>
              <a:rPr lang="en-US" sz="2000" spc="-4" dirty="0">
                <a:cs typeface="Calibri"/>
              </a:rPr>
              <a:t> ]</a:t>
            </a:r>
            <a:endParaRPr lang="en-US" sz="2000" dirty="0">
              <a:cs typeface="Calibri"/>
            </a:endParaRPr>
          </a:p>
          <a:p>
            <a:pPr marL="742950" lvl="1" indent="-285750">
              <a:lnSpc>
                <a:spcPct val="107000"/>
              </a:lnSpc>
              <a:spcBef>
                <a:spcPts val="0"/>
              </a:spcBef>
              <a:spcAft>
                <a:spcPts val="800"/>
              </a:spcAft>
              <a:buSzPts val="1000"/>
              <a:buFont typeface="Courier New" panose="02070309020205020404" pitchFamily="49" charset="0"/>
              <a:buChar char="o"/>
              <a:tabLst>
                <a:tab pos="914400" algn="l"/>
              </a:tabLst>
            </a:pP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3600" dirty="0"/>
          </a:p>
        </p:txBody>
      </p:sp>
    </p:spTree>
    <p:extLst>
      <p:ext uri="{BB962C8B-B14F-4D97-AF65-F5344CB8AC3E}">
        <p14:creationId xmlns:p14="http://schemas.microsoft.com/office/powerpoint/2010/main" val="27898087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modeling and causal&#10;&#10;AI-generated content may be incorrect.">
            <a:extLst>
              <a:ext uri="{FF2B5EF4-FFF2-40B4-BE49-F238E27FC236}">
                <a16:creationId xmlns:a16="http://schemas.microsoft.com/office/drawing/2014/main" id="{40A29A61-3F11-337F-C756-262BBEF554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0284" y="3684383"/>
            <a:ext cx="4082572" cy="1636059"/>
          </a:xfrm>
          <a:prstGeom prst="rect">
            <a:avLst/>
          </a:prstGeom>
        </p:spPr>
      </p:pic>
      <p:sp>
        <p:nvSpPr>
          <p:cNvPr id="2" name="Title 1">
            <a:extLst>
              <a:ext uri="{FF2B5EF4-FFF2-40B4-BE49-F238E27FC236}">
                <a16:creationId xmlns:a16="http://schemas.microsoft.com/office/drawing/2014/main" id="{466FE627-A2FD-DDE9-BDBA-3839A692E03D}"/>
              </a:ext>
            </a:extLst>
          </p:cNvPr>
          <p:cNvSpPr>
            <a:spLocks noGrp="1"/>
          </p:cNvSpPr>
          <p:nvPr>
            <p:ph type="title"/>
          </p:nvPr>
        </p:nvSpPr>
        <p:spPr/>
        <p:txBody>
          <a:bodyPr/>
          <a:lstStyle/>
          <a:p>
            <a:r>
              <a:rPr lang="en-US" dirty="0"/>
              <a:t>CLM vs MLM</a:t>
            </a:r>
          </a:p>
        </p:txBody>
      </p:sp>
      <p:sp>
        <p:nvSpPr>
          <p:cNvPr id="3" name="Content Placeholder 2">
            <a:extLst>
              <a:ext uri="{FF2B5EF4-FFF2-40B4-BE49-F238E27FC236}">
                <a16:creationId xmlns:a16="http://schemas.microsoft.com/office/drawing/2014/main" id="{69D276A8-572B-019B-4078-C41CB30900A2}"/>
              </a:ext>
            </a:extLst>
          </p:cNvPr>
          <p:cNvSpPr>
            <a:spLocks noGrp="1"/>
          </p:cNvSpPr>
          <p:nvPr>
            <p:ph idx="1"/>
          </p:nvPr>
        </p:nvSpPr>
        <p:spPr>
          <a:xfrm>
            <a:off x="983163" y="1486412"/>
            <a:ext cx="10515600" cy="4351338"/>
          </a:xfrm>
        </p:spPr>
        <p:txBody>
          <a:bodyPr/>
          <a:lstStyle/>
          <a:p>
            <a:pPr marL="0" indent="0">
              <a:buNone/>
            </a:pPr>
            <a:r>
              <a:rPr lang="en-US" sz="2400" b="1" dirty="0"/>
              <a:t>CLM</a:t>
            </a:r>
            <a:r>
              <a:rPr lang="en-US" sz="2400" dirty="0"/>
              <a:t>:</a:t>
            </a:r>
          </a:p>
          <a:p>
            <a:r>
              <a:rPr lang="en-US" sz="2400" dirty="0"/>
              <a:t>Suitable for </a:t>
            </a:r>
            <a:r>
              <a:rPr lang="en-US" sz="2400" dirty="0">
                <a:solidFill>
                  <a:srgbClr val="C00000"/>
                </a:solidFill>
              </a:rPr>
              <a:t>text generation</a:t>
            </a:r>
            <a:r>
              <a:rPr lang="en-US" sz="2400" dirty="0"/>
              <a:t> tasks (</a:t>
            </a:r>
            <a:r>
              <a:rPr lang="en-US" sz="2400" dirty="0">
                <a:solidFill>
                  <a:srgbClr val="C00000"/>
                </a:solidFill>
              </a:rPr>
              <a:t>decoder part</a:t>
            </a:r>
            <a:r>
              <a:rPr lang="en-US" sz="2400" dirty="0"/>
              <a:t>) like writing stories, articles, and dialogues, where each new word depends on the previous words.</a:t>
            </a:r>
          </a:p>
          <a:p>
            <a:r>
              <a:rPr lang="en-US" sz="2400" dirty="0"/>
              <a:t>The information flows </a:t>
            </a:r>
            <a:r>
              <a:rPr lang="en-US" sz="2400" dirty="0">
                <a:solidFill>
                  <a:srgbClr val="C00000"/>
                </a:solidFill>
              </a:rPr>
              <a:t>unidirectional</a:t>
            </a:r>
            <a:r>
              <a:rPr lang="en-US" sz="2400" dirty="0"/>
              <a:t> (</a:t>
            </a:r>
            <a:r>
              <a:rPr lang="en-US" sz="2400" dirty="0">
                <a:solidFill>
                  <a:srgbClr val="C00000"/>
                </a:solidFill>
              </a:rPr>
              <a:t>masked attention</a:t>
            </a:r>
            <a:r>
              <a:rPr lang="en-US" sz="2400" dirty="0"/>
              <a:t>). The model can only rely on previous tokens to predict the next one, ensuring that predictions respect the causal structure of language</a:t>
            </a:r>
          </a:p>
          <a:p>
            <a:endParaRPr lang="en-US" sz="2400" dirty="0"/>
          </a:p>
          <a:p>
            <a:endParaRPr lang="en-US" sz="2400" dirty="0"/>
          </a:p>
          <a:p>
            <a:pPr marL="0" indent="0">
              <a:buNone/>
            </a:pPr>
            <a:r>
              <a:rPr lang="en-US" sz="2400" b="1" dirty="0"/>
              <a:t>MLM</a:t>
            </a:r>
            <a:r>
              <a:rPr lang="en-US" sz="2400" dirty="0"/>
              <a:t>:</a:t>
            </a:r>
          </a:p>
          <a:p>
            <a:r>
              <a:rPr lang="en-US" sz="2400" dirty="0"/>
              <a:t>Better for </a:t>
            </a:r>
            <a:r>
              <a:rPr lang="en-US" sz="2400" dirty="0">
                <a:solidFill>
                  <a:srgbClr val="C00000"/>
                </a:solidFill>
              </a:rPr>
              <a:t>language understanding </a:t>
            </a:r>
            <a:r>
              <a:rPr lang="en-US" sz="2400" dirty="0"/>
              <a:t>tasks (</a:t>
            </a:r>
            <a:r>
              <a:rPr lang="en-US" sz="2400" dirty="0">
                <a:solidFill>
                  <a:srgbClr val="C00000"/>
                </a:solidFill>
              </a:rPr>
              <a:t>encoder part</a:t>
            </a:r>
            <a:r>
              <a:rPr lang="en-US" sz="2400" dirty="0"/>
              <a:t>), such as text classification or question answering because it captures </a:t>
            </a:r>
            <a:r>
              <a:rPr lang="en-US" sz="2400" dirty="0">
                <a:solidFill>
                  <a:srgbClr val="C00000"/>
                </a:solidFill>
              </a:rPr>
              <a:t>bidirectional</a:t>
            </a:r>
            <a:r>
              <a:rPr lang="en-US" sz="2400" dirty="0"/>
              <a:t> relationships.</a:t>
            </a:r>
          </a:p>
          <a:p>
            <a:r>
              <a:rPr lang="en-US" sz="2400" dirty="0"/>
              <a:t>The model is trained to predict the masked tokens based on both the preceding and following tokens (</a:t>
            </a:r>
            <a:r>
              <a:rPr lang="en-US" sz="2400" dirty="0">
                <a:solidFill>
                  <a:srgbClr val="C00000"/>
                </a:solidFill>
              </a:rPr>
              <a:t>self-attention</a:t>
            </a:r>
            <a:r>
              <a:rPr lang="en-US" sz="2400" dirty="0"/>
              <a:t>).</a:t>
            </a:r>
          </a:p>
        </p:txBody>
      </p:sp>
      <p:pic>
        <p:nvPicPr>
          <p:cNvPr id="6" name="Picture 5">
            <a:extLst>
              <a:ext uri="{FF2B5EF4-FFF2-40B4-BE49-F238E27FC236}">
                <a16:creationId xmlns:a16="http://schemas.microsoft.com/office/drawing/2014/main" id="{38BCF686-A44F-C3DB-B8D9-314D6B765E56}"/>
              </a:ext>
            </a:extLst>
          </p:cNvPr>
          <p:cNvPicPr>
            <a:picLocks noChangeAspect="1"/>
          </p:cNvPicPr>
          <p:nvPr/>
        </p:nvPicPr>
        <p:blipFill>
          <a:blip r:embed="rId3"/>
          <a:stretch>
            <a:fillRect/>
          </a:stretch>
        </p:blipFill>
        <p:spPr>
          <a:xfrm>
            <a:off x="7527073" y="3429000"/>
            <a:ext cx="4082572" cy="1749674"/>
          </a:xfrm>
          <a:prstGeom prst="rect">
            <a:avLst/>
          </a:prstGeom>
        </p:spPr>
      </p:pic>
    </p:spTree>
    <p:extLst>
      <p:ext uri="{BB962C8B-B14F-4D97-AF65-F5344CB8AC3E}">
        <p14:creationId xmlns:p14="http://schemas.microsoft.com/office/powerpoint/2010/main" val="19024937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ject 5"/>
          <p:cNvPicPr/>
          <p:nvPr/>
        </p:nvPicPr>
        <p:blipFill>
          <a:blip r:embed="rId2" cstate="print"/>
          <a:stretch>
            <a:fillRect/>
          </a:stretch>
        </p:blipFill>
        <p:spPr>
          <a:xfrm>
            <a:off x="10203344" y="2268639"/>
            <a:ext cx="1702905" cy="2103336"/>
          </a:xfrm>
          <a:prstGeom prst="rect">
            <a:avLst/>
          </a:prstGeom>
        </p:spPr>
      </p:pic>
      <p:sp>
        <p:nvSpPr>
          <p:cNvPr id="2" name="Title 1">
            <a:extLst>
              <a:ext uri="{FF2B5EF4-FFF2-40B4-BE49-F238E27FC236}">
                <a16:creationId xmlns:a16="http://schemas.microsoft.com/office/drawing/2014/main" id="{9FFE328B-DC38-7953-D5CD-AACB1BC2FBF8}"/>
              </a:ext>
            </a:extLst>
          </p:cNvPr>
          <p:cNvSpPr>
            <a:spLocks noGrp="1"/>
          </p:cNvSpPr>
          <p:nvPr>
            <p:ph type="title"/>
          </p:nvPr>
        </p:nvSpPr>
        <p:spPr>
          <a:xfrm>
            <a:off x="826860" y="152656"/>
            <a:ext cx="10230056" cy="1054298"/>
          </a:xfrm>
        </p:spPr>
        <p:txBody>
          <a:bodyPr/>
          <a:lstStyle/>
          <a:p>
            <a:r>
              <a:rPr lang="en-US" dirty="0"/>
              <a:t>Self-Supervised</a:t>
            </a:r>
            <a:r>
              <a:rPr lang="en-US" sz="1800" b="1" dirty="0">
                <a:latin typeface="Aptos" panose="020B0004020202020204" pitchFamily="34" charset="0"/>
                <a:ea typeface="Aptos" panose="020B0004020202020204" pitchFamily="34" charset="0"/>
                <a:cs typeface="Arial" panose="020B0604020202020204" pitchFamily="34" charset="0"/>
              </a:rPr>
              <a:t> </a:t>
            </a:r>
            <a:r>
              <a:rPr lang="en-US" dirty="0"/>
              <a:t>Pretraining - NSP</a:t>
            </a:r>
          </a:p>
        </p:txBody>
      </p:sp>
      <p:sp>
        <p:nvSpPr>
          <p:cNvPr id="3" name="Text Placeholder 2">
            <a:extLst>
              <a:ext uri="{FF2B5EF4-FFF2-40B4-BE49-F238E27FC236}">
                <a16:creationId xmlns:a16="http://schemas.microsoft.com/office/drawing/2014/main" id="{DD42E4AD-8421-9B0E-31FB-638A1FDABAA4}"/>
              </a:ext>
            </a:extLst>
          </p:cNvPr>
          <p:cNvSpPr>
            <a:spLocks noGrp="1"/>
          </p:cNvSpPr>
          <p:nvPr>
            <p:ph type="body" idx="1"/>
          </p:nvPr>
        </p:nvSpPr>
        <p:spPr>
          <a:xfrm>
            <a:off x="327060" y="1387479"/>
            <a:ext cx="11579189" cy="4083041"/>
          </a:xfrm>
        </p:spPr>
        <p:txBody>
          <a:bodyPr/>
          <a:lstStyle/>
          <a:p>
            <a:pPr marL="457200" lvl="1" indent="0">
              <a:lnSpc>
                <a:spcPct val="107000"/>
              </a:lnSpc>
              <a:spcBef>
                <a:spcPts val="0"/>
              </a:spcBef>
              <a:spcAft>
                <a:spcPts val="800"/>
              </a:spcAft>
              <a:buSzPts val="1000"/>
              <a:buNone/>
              <a:tabLst>
                <a:tab pos="914400" algn="l"/>
              </a:tabLst>
            </a:pPr>
            <a:r>
              <a:rPr lang="en-US" b="1" kern="100" dirty="0">
                <a:effectLst/>
                <a:ea typeface="Aptos" panose="020B0004020202020204" pitchFamily="34" charset="0"/>
                <a:cs typeface="Times New Roman" panose="02020603050405020304" pitchFamily="18" charset="0"/>
              </a:rPr>
              <a:t>Next Sentence Prediction (NSP)</a:t>
            </a:r>
            <a:r>
              <a:rPr lang="en-US" kern="100" dirty="0">
                <a:effectLst/>
                <a:ea typeface="Aptos" panose="020B0004020202020204" pitchFamily="34" charset="0"/>
                <a:cs typeface="Times New Roman" panose="02020603050405020304" pitchFamily="18" charset="0"/>
              </a:rPr>
              <a:t>: Used to train </a:t>
            </a:r>
            <a:r>
              <a:rPr lang="en-US" kern="100" dirty="0">
                <a:solidFill>
                  <a:srgbClr val="C00000"/>
                </a:solidFill>
                <a:effectLst/>
                <a:ea typeface="Aptos" panose="020B0004020202020204" pitchFamily="34" charset="0"/>
                <a:cs typeface="Times New Roman" panose="02020603050405020304" pitchFamily="18" charset="0"/>
              </a:rPr>
              <a:t>relationships</a:t>
            </a:r>
            <a:r>
              <a:rPr lang="en-US" kern="100" dirty="0">
                <a:effectLst/>
                <a:ea typeface="Aptos" panose="020B0004020202020204" pitchFamily="34" charset="0"/>
                <a:cs typeface="Times New Roman" panose="02020603050405020304" pitchFamily="18" charset="0"/>
              </a:rPr>
              <a:t> </a:t>
            </a:r>
            <a:r>
              <a:rPr lang="en-US" kern="100" dirty="0">
                <a:solidFill>
                  <a:srgbClr val="C00000"/>
                </a:solidFill>
                <a:effectLst/>
                <a:ea typeface="Aptos" panose="020B0004020202020204" pitchFamily="34" charset="0"/>
                <a:cs typeface="Times New Roman" panose="02020603050405020304" pitchFamily="18" charset="0"/>
              </a:rPr>
              <a:t>between sentences </a:t>
            </a:r>
            <a:r>
              <a:rPr lang="en-US" kern="100" dirty="0">
                <a:effectLst/>
                <a:ea typeface="Aptos" panose="020B0004020202020204" pitchFamily="34" charset="0"/>
                <a:cs typeface="Times New Roman" panose="02020603050405020304" pitchFamily="18" charset="0"/>
              </a:rPr>
              <a:t>in models like BERT (</a:t>
            </a:r>
            <a:r>
              <a:rPr lang="en-US" kern="100" dirty="0">
                <a:solidFill>
                  <a:srgbClr val="C00000"/>
                </a:solidFill>
                <a:effectLst/>
                <a:ea typeface="Aptos" panose="020B0004020202020204" pitchFamily="34" charset="0"/>
                <a:cs typeface="Times New Roman" panose="02020603050405020304" pitchFamily="18" charset="0"/>
              </a:rPr>
              <a:t>encoder</a:t>
            </a:r>
            <a:r>
              <a:rPr lang="en-US" kern="100" dirty="0">
                <a:effectLst/>
                <a:ea typeface="Aptos" panose="020B0004020202020204" pitchFamily="34" charset="0"/>
                <a:cs typeface="Times New Roman" panose="02020603050405020304" pitchFamily="18" charset="0"/>
              </a:rPr>
              <a:t> model), by predicting whether one sentence logically follows another.</a:t>
            </a:r>
          </a:p>
          <a:p>
            <a:pPr marL="457200" lvl="1" indent="0">
              <a:lnSpc>
                <a:spcPct val="107000"/>
              </a:lnSpc>
              <a:spcBef>
                <a:spcPts val="0"/>
              </a:spcBef>
              <a:spcAft>
                <a:spcPts val="800"/>
              </a:spcAft>
              <a:buSzPts val="1000"/>
              <a:buNone/>
              <a:tabLst>
                <a:tab pos="914400" algn="l"/>
              </a:tabLst>
            </a:pPr>
            <a:endParaRPr lang="en-US" kern="100" dirty="0">
              <a:ea typeface="Aptos" panose="020B0004020202020204" pitchFamily="34" charset="0"/>
              <a:cs typeface="Times New Roman" panose="02020603050405020304" pitchFamily="18" charset="0"/>
            </a:endParaRPr>
          </a:p>
          <a:p>
            <a:pPr marL="457200" lvl="1" indent="0">
              <a:lnSpc>
                <a:spcPct val="107000"/>
              </a:lnSpc>
              <a:spcBef>
                <a:spcPts val="0"/>
              </a:spcBef>
              <a:spcAft>
                <a:spcPts val="800"/>
              </a:spcAft>
              <a:buSzPts val="1000"/>
              <a:buNone/>
              <a:tabLst>
                <a:tab pos="914400" algn="l"/>
              </a:tabLst>
            </a:pPr>
            <a:r>
              <a:rPr lang="en-US" kern="100" dirty="0">
                <a:effectLst/>
                <a:ea typeface="Aptos" panose="020B0004020202020204" pitchFamily="34" charset="0"/>
                <a:cs typeface="Times New Roman" panose="02020603050405020304" pitchFamily="18" charset="0"/>
              </a:rPr>
              <a:t>Sentence A: "I went to the park this morning.“</a:t>
            </a:r>
          </a:p>
          <a:p>
            <a:pPr marL="457200" lvl="1" indent="0">
              <a:lnSpc>
                <a:spcPct val="107000"/>
              </a:lnSpc>
              <a:spcBef>
                <a:spcPts val="0"/>
              </a:spcBef>
              <a:spcAft>
                <a:spcPts val="800"/>
              </a:spcAft>
              <a:buSzPts val="1000"/>
              <a:buNone/>
              <a:tabLst>
                <a:tab pos="914400" algn="l"/>
              </a:tabLst>
            </a:pPr>
            <a:r>
              <a:rPr lang="en-US" kern="100" dirty="0">
                <a:effectLst/>
                <a:ea typeface="Aptos" panose="020B0004020202020204" pitchFamily="34" charset="0"/>
                <a:cs typeface="Times New Roman" panose="02020603050405020304" pitchFamily="18" charset="0"/>
              </a:rPr>
              <a:t>Sentence B: "I saw many people walking their dogs.“</a:t>
            </a:r>
          </a:p>
          <a:p>
            <a:pPr marL="457200" lvl="1" indent="0">
              <a:lnSpc>
                <a:spcPct val="107000"/>
              </a:lnSpc>
              <a:spcBef>
                <a:spcPts val="0"/>
              </a:spcBef>
              <a:spcAft>
                <a:spcPts val="800"/>
              </a:spcAft>
              <a:buSzPts val="1000"/>
              <a:buNone/>
              <a:tabLst>
                <a:tab pos="914400" algn="l"/>
              </a:tabLst>
            </a:pPr>
            <a:r>
              <a:rPr lang="en-US" dirty="0"/>
              <a:t>The sentences </a:t>
            </a:r>
            <a:r>
              <a:rPr lang="en-US" dirty="0">
                <a:solidFill>
                  <a:srgbClr val="C00000"/>
                </a:solidFill>
              </a:rPr>
              <a:t>could appear </a:t>
            </a:r>
            <a:r>
              <a:rPr lang="en-US" dirty="0"/>
              <a:t>next to each other in a text. So, Label =  </a:t>
            </a:r>
            <a:r>
              <a:rPr lang="en-US" b="1" dirty="0" err="1"/>
              <a:t>IsNext</a:t>
            </a:r>
            <a:r>
              <a:rPr lang="en-US" b="1" dirty="0"/>
              <a:t> (+)</a:t>
            </a:r>
            <a:endParaRPr lang="en-US" dirty="0"/>
          </a:p>
          <a:p>
            <a:pPr marL="457200" lvl="1" indent="0">
              <a:lnSpc>
                <a:spcPct val="107000"/>
              </a:lnSpc>
              <a:spcBef>
                <a:spcPts val="0"/>
              </a:spcBef>
              <a:spcAft>
                <a:spcPts val="800"/>
              </a:spcAft>
              <a:buSzPts val="1000"/>
              <a:buNone/>
              <a:tabLst>
                <a:tab pos="914400" algn="l"/>
              </a:tabLst>
            </a:pPr>
            <a:endParaRPr lang="en-US" kern="100" dirty="0">
              <a:effectLst/>
              <a:ea typeface="Aptos" panose="020B0004020202020204" pitchFamily="34" charset="0"/>
              <a:cs typeface="Times New Roman" panose="02020603050405020304" pitchFamily="18" charset="0"/>
            </a:endParaRPr>
          </a:p>
          <a:p>
            <a:pPr marL="457200" lvl="1" indent="0">
              <a:lnSpc>
                <a:spcPct val="107000"/>
              </a:lnSpc>
              <a:spcBef>
                <a:spcPts val="0"/>
              </a:spcBef>
              <a:spcAft>
                <a:spcPts val="800"/>
              </a:spcAft>
              <a:buSzPts val="1000"/>
              <a:buNone/>
              <a:tabLst>
                <a:tab pos="914400" algn="l"/>
              </a:tabLst>
            </a:pPr>
            <a:r>
              <a:rPr lang="en-US" kern="100" dirty="0">
                <a:effectLst/>
                <a:ea typeface="Aptos" panose="020B0004020202020204" pitchFamily="34" charset="0"/>
                <a:cs typeface="Times New Roman" panose="02020603050405020304" pitchFamily="18" charset="0"/>
              </a:rPr>
              <a:t>Sentence A: "I went to the park this morning.“</a:t>
            </a:r>
          </a:p>
          <a:p>
            <a:pPr marL="457200" lvl="1" indent="0">
              <a:lnSpc>
                <a:spcPct val="107000"/>
              </a:lnSpc>
              <a:spcBef>
                <a:spcPts val="0"/>
              </a:spcBef>
              <a:spcAft>
                <a:spcPts val="800"/>
              </a:spcAft>
              <a:buSzPts val="1000"/>
              <a:buNone/>
              <a:tabLst>
                <a:tab pos="914400" algn="l"/>
              </a:tabLst>
            </a:pPr>
            <a:r>
              <a:rPr lang="en-US" kern="100" dirty="0">
                <a:effectLst/>
                <a:ea typeface="Aptos" panose="020B0004020202020204" pitchFamily="34" charset="0"/>
                <a:cs typeface="Times New Roman" panose="02020603050405020304" pitchFamily="18" charset="0"/>
              </a:rPr>
              <a:t>Sentence C: "The stock market crashed in 2008.“</a:t>
            </a:r>
          </a:p>
          <a:p>
            <a:pPr marL="457200" lvl="1" indent="0">
              <a:lnSpc>
                <a:spcPct val="107000"/>
              </a:lnSpc>
              <a:spcBef>
                <a:spcPts val="0"/>
              </a:spcBef>
              <a:spcAft>
                <a:spcPts val="800"/>
              </a:spcAft>
              <a:buSzPts val="1000"/>
              <a:buNone/>
              <a:tabLst>
                <a:tab pos="914400" algn="l"/>
              </a:tabLst>
            </a:pPr>
            <a:r>
              <a:rPr lang="en-US" dirty="0"/>
              <a:t>The sentences are </a:t>
            </a:r>
            <a:r>
              <a:rPr lang="en-US" dirty="0">
                <a:solidFill>
                  <a:srgbClr val="C00000"/>
                </a:solidFill>
              </a:rPr>
              <a:t>not likely</a:t>
            </a:r>
            <a:r>
              <a:rPr lang="en-US" dirty="0"/>
              <a:t> to occur next to each other in a text. So, Label = </a:t>
            </a:r>
            <a:r>
              <a:rPr lang="en-US" b="1" dirty="0" err="1"/>
              <a:t>NotNext</a:t>
            </a:r>
            <a:r>
              <a:rPr lang="en-US" b="1" dirty="0"/>
              <a:t> (-)</a:t>
            </a:r>
            <a:endParaRPr lang="en-US" dirty="0"/>
          </a:p>
          <a:p>
            <a:pPr marL="457200" lvl="1" indent="0">
              <a:lnSpc>
                <a:spcPct val="107000"/>
              </a:lnSpc>
              <a:spcBef>
                <a:spcPts val="0"/>
              </a:spcBef>
              <a:spcAft>
                <a:spcPts val="800"/>
              </a:spcAft>
              <a:buSzPts val="1000"/>
              <a:buNone/>
              <a:tabLst>
                <a:tab pos="914400" algn="l"/>
              </a:tabLst>
            </a:pPr>
            <a:endParaRPr lang="en-US" kern="100" dirty="0">
              <a:effectLst/>
              <a:ea typeface="Aptos" panose="020B0004020202020204" pitchFamily="34" charset="0"/>
              <a:cs typeface="Times New Roman" panose="02020603050405020304" pitchFamily="18" charset="0"/>
            </a:endParaRPr>
          </a:p>
          <a:p>
            <a:endParaRPr lang="en-US" sz="3600" dirty="0"/>
          </a:p>
        </p:txBody>
      </p:sp>
    </p:spTree>
    <p:extLst>
      <p:ext uri="{BB962C8B-B14F-4D97-AF65-F5344CB8AC3E}">
        <p14:creationId xmlns:p14="http://schemas.microsoft.com/office/powerpoint/2010/main" val="3488320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5BB5A-33B5-3A73-5472-CECC4E087D6A}"/>
              </a:ext>
            </a:extLst>
          </p:cNvPr>
          <p:cNvSpPr>
            <a:spLocks noGrp="1"/>
          </p:cNvSpPr>
          <p:nvPr>
            <p:ph type="title"/>
          </p:nvPr>
        </p:nvSpPr>
        <p:spPr/>
        <p:txBody>
          <a:bodyPr/>
          <a:lstStyle/>
          <a:p>
            <a:r>
              <a:rPr lang="en-US" dirty="0"/>
              <a:t>Training using NSP </a:t>
            </a:r>
          </a:p>
        </p:txBody>
      </p:sp>
      <p:sp>
        <p:nvSpPr>
          <p:cNvPr id="4" name="Rectangle 1">
            <a:extLst>
              <a:ext uri="{FF2B5EF4-FFF2-40B4-BE49-F238E27FC236}">
                <a16:creationId xmlns:a16="http://schemas.microsoft.com/office/drawing/2014/main" id="{17D98522-DB3F-8A2F-4D6B-4CB6A249D51F}"/>
              </a:ext>
            </a:extLst>
          </p:cNvPr>
          <p:cNvSpPr>
            <a:spLocks noGrp="1" noChangeArrowheads="1"/>
          </p:cNvSpPr>
          <p:nvPr>
            <p:ph idx="1"/>
          </p:nvPr>
        </p:nvSpPr>
        <p:spPr bwMode="auto">
          <a:xfrm>
            <a:off x="915992" y="1394773"/>
            <a:ext cx="1074709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rPr>
              <a:t>Sentence pairs are </a:t>
            </a:r>
            <a:r>
              <a:rPr kumimoji="0" lang="en-US" altLang="en-US" sz="2400" b="0" i="0" u="none" strike="noStrike" cap="none" normalizeH="0" baseline="0" dirty="0">
                <a:ln>
                  <a:noFill/>
                </a:ln>
                <a:solidFill>
                  <a:srgbClr val="C00000"/>
                </a:solidFill>
                <a:effectLst/>
              </a:rPr>
              <a:t>sampled</a:t>
            </a:r>
            <a:r>
              <a:rPr kumimoji="0" lang="en-US" altLang="en-US" sz="2400" b="0" i="0" u="none" strike="noStrike" cap="none" normalizeH="0" baseline="0" dirty="0">
                <a:ln>
                  <a:noFill/>
                </a:ln>
                <a:solidFill>
                  <a:schemeClr val="tx1"/>
                </a:solidFill>
                <a:effectLst/>
              </a:rPr>
              <a:t> from the training data using a </a:t>
            </a:r>
            <a:r>
              <a:rPr kumimoji="0" lang="en-US" altLang="en-US" sz="2400" b="0" i="0" u="none" strike="noStrike" cap="none" normalizeH="0" baseline="0" dirty="0">
                <a:ln>
                  <a:noFill/>
                </a:ln>
                <a:solidFill>
                  <a:srgbClr val="C00000"/>
                </a:solidFill>
                <a:effectLst/>
              </a:rPr>
              <a:t>self-supervised</a:t>
            </a:r>
            <a:r>
              <a:rPr kumimoji="0" lang="en-US" altLang="en-US" sz="2400" b="0" i="0" u="none" strike="noStrike" cap="none" normalizeH="0" baseline="0" dirty="0">
                <a:ln>
                  <a:noFill/>
                </a:ln>
                <a:solidFill>
                  <a:schemeClr val="tx1"/>
                </a:solidFill>
                <a:effectLst/>
              </a:rPr>
              <a:t> approach:</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50%</a:t>
            </a:r>
            <a:r>
              <a:rPr kumimoji="0" lang="en-US" altLang="en-US" sz="2400" b="0" i="0" u="none" strike="noStrike" cap="none" normalizeH="0" baseline="0" dirty="0">
                <a:ln>
                  <a:noFill/>
                </a:ln>
                <a:solidFill>
                  <a:schemeClr val="tx1"/>
                </a:solidFill>
                <a:effectLst/>
              </a:rPr>
              <a:t> of the time, the </a:t>
            </a:r>
            <a:r>
              <a:rPr kumimoji="0" lang="en-US" altLang="en-US" sz="2400" b="0" i="0" u="none" strike="noStrike" cap="none" normalizeH="0" baseline="0" dirty="0">
                <a:ln>
                  <a:noFill/>
                </a:ln>
                <a:solidFill>
                  <a:srgbClr val="C00000"/>
                </a:solidFill>
                <a:effectLst/>
              </a:rPr>
              <a:t>second sentence </a:t>
            </a:r>
            <a:r>
              <a:rPr kumimoji="0" lang="en-US" altLang="en-US" sz="2400" b="0" i="0" u="none" strike="noStrike" cap="none" normalizeH="0" baseline="0" dirty="0">
                <a:ln>
                  <a:noFill/>
                </a:ln>
                <a:solidFill>
                  <a:schemeClr val="tx1"/>
                </a:solidFill>
                <a:effectLst/>
              </a:rPr>
              <a:t>is the </a:t>
            </a:r>
            <a:r>
              <a:rPr kumimoji="0" lang="en-US" altLang="en-US" sz="2400" b="0" i="0" u="none" strike="noStrike" cap="none" normalizeH="0" baseline="0" dirty="0">
                <a:ln>
                  <a:noFill/>
                </a:ln>
                <a:solidFill>
                  <a:srgbClr val="C00000"/>
                </a:solidFill>
                <a:effectLst/>
              </a:rPr>
              <a:t>actual</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a:ln>
                  <a:noFill/>
                </a:ln>
                <a:solidFill>
                  <a:srgbClr val="C00000"/>
                </a:solidFill>
                <a:effectLst/>
              </a:rPr>
              <a:t>next</a:t>
            </a:r>
            <a:r>
              <a:rPr kumimoji="0" lang="en-US" altLang="en-US" sz="2400" b="0" i="0" u="none" strike="noStrike" cap="none" normalizeH="0" baseline="0" dirty="0">
                <a:ln>
                  <a:noFill/>
                </a:ln>
                <a:solidFill>
                  <a:schemeClr val="tx1"/>
                </a:solidFill>
                <a:effectLst/>
              </a:rPr>
              <a:t> sentence in the original text (</a:t>
            </a:r>
            <a:r>
              <a:rPr kumimoji="0" lang="en-US" altLang="en-US" sz="2400" b="0" i="0" u="none" strike="noStrike" cap="none" normalizeH="0" baseline="0" dirty="0">
                <a:ln>
                  <a:noFill/>
                </a:ln>
                <a:solidFill>
                  <a:srgbClr val="C00000"/>
                </a:solidFill>
                <a:effectLst/>
              </a:rPr>
              <a:t>positive</a:t>
            </a:r>
            <a:r>
              <a:rPr kumimoji="0" lang="en-US" altLang="en-US" sz="2400" b="0" i="0" u="none" strike="noStrike" cap="none" normalizeH="0" baseline="0" dirty="0">
                <a:ln>
                  <a:noFill/>
                </a:ln>
                <a:solidFill>
                  <a:schemeClr val="tx1"/>
                </a:solidFill>
                <a:effectLst/>
              </a:rPr>
              <a:t> sample).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50%</a:t>
            </a:r>
            <a:r>
              <a:rPr kumimoji="0" lang="en-US" altLang="en-US" sz="2400" b="0" i="0" u="none" strike="noStrike" cap="none" normalizeH="0" baseline="0" dirty="0">
                <a:ln>
                  <a:noFill/>
                </a:ln>
                <a:solidFill>
                  <a:schemeClr val="tx1"/>
                </a:solidFill>
                <a:effectLst/>
              </a:rPr>
              <a:t> of the time, the </a:t>
            </a:r>
            <a:r>
              <a:rPr kumimoji="0" lang="en-US" altLang="en-US" sz="2400" b="0" i="0" u="none" strike="noStrike" cap="none" normalizeH="0" baseline="0" dirty="0">
                <a:ln>
                  <a:noFill/>
                </a:ln>
                <a:solidFill>
                  <a:srgbClr val="C00000"/>
                </a:solidFill>
                <a:effectLst/>
              </a:rPr>
              <a:t>second sentence </a:t>
            </a:r>
            <a:r>
              <a:rPr kumimoji="0" lang="en-US" altLang="en-US" sz="2400" b="0" i="0" u="none" strike="noStrike" cap="none" normalizeH="0" baseline="0" dirty="0">
                <a:ln>
                  <a:noFill/>
                </a:ln>
                <a:solidFill>
                  <a:schemeClr val="tx1"/>
                </a:solidFill>
                <a:effectLst/>
              </a:rPr>
              <a:t>is a </a:t>
            </a:r>
            <a:r>
              <a:rPr kumimoji="0" lang="en-US" altLang="en-US" sz="2400" b="0" i="0" u="none" strike="noStrike" cap="none" normalizeH="0" baseline="0" dirty="0">
                <a:ln>
                  <a:noFill/>
                </a:ln>
                <a:solidFill>
                  <a:srgbClr val="C00000"/>
                </a:solidFill>
                <a:effectLst/>
              </a:rPr>
              <a:t>random</a:t>
            </a:r>
            <a:r>
              <a:rPr kumimoji="0" lang="en-US" altLang="en-US" sz="2400" b="0" i="0" u="none" strike="noStrike" cap="none" normalizeH="0" baseline="0" dirty="0">
                <a:ln>
                  <a:noFill/>
                </a:ln>
                <a:solidFill>
                  <a:schemeClr val="tx1"/>
                </a:solidFill>
                <a:effectLst/>
              </a:rPr>
              <a:t> sentence from the corpus (</a:t>
            </a:r>
            <a:r>
              <a:rPr kumimoji="0" lang="en-US" altLang="en-US" sz="2400" b="0" i="0" u="none" strike="noStrike" cap="none" normalizeH="0" baseline="0" dirty="0">
                <a:ln>
                  <a:noFill/>
                </a:ln>
                <a:solidFill>
                  <a:srgbClr val="C00000"/>
                </a:solidFill>
                <a:effectLst/>
              </a:rPr>
              <a:t>negative</a:t>
            </a:r>
            <a:r>
              <a:rPr kumimoji="0" lang="en-US" altLang="en-US" sz="2400" b="0" i="0" u="none" strike="noStrike" cap="none" normalizeH="0" baseline="0" dirty="0">
                <a:ln>
                  <a:noFill/>
                </a:ln>
                <a:solidFill>
                  <a:schemeClr val="tx1"/>
                </a:solidFill>
                <a:effectLst/>
              </a:rPr>
              <a:t> sample).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rPr>
              <a:t>The model learns to </a:t>
            </a:r>
            <a:r>
              <a:rPr kumimoji="0" lang="en-US" altLang="en-US" sz="2400" b="0" i="0" u="none" strike="noStrike" cap="none" normalizeH="0" baseline="0" dirty="0">
                <a:ln>
                  <a:noFill/>
                </a:ln>
                <a:solidFill>
                  <a:srgbClr val="C00000"/>
                </a:solidFill>
                <a:effectLst/>
              </a:rPr>
              <a:t>classify</a:t>
            </a:r>
            <a:r>
              <a:rPr kumimoji="0" lang="en-US" altLang="en-US" sz="2400" b="0" i="0" u="none" strike="noStrike" cap="none" normalizeH="0" baseline="0" dirty="0">
                <a:ln>
                  <a:noFill/>
                </a:ln>
                <a:solidFill>
                  <a:schemeClr val="tx1"/>
                </a:solidFill>
                <a:effectLst/>
              </a:rPr>
              <a:t> whether the two sentences are </a:t>
            </a:r>
            <a:r>
              <a:rPr kumimoji="0" lang="en-US" altLang="en-US" sz="2400" b="0" i="0" u="none" strike="noStrike" cap="none" normalizeH="0" baseline="0" dirty="0">
                <a:ln>
                  <a:noFill/>
                </a:ln>
                <a:solidFill>
                  <a:srgbClr val="C00000"/>
                </a:solidFill>
                <a:effectLst/>
              </a:rPr>
              <a:t>related or not</a:t>
            </a:r>
            <a:r>
              <a:rPr kumimoji="0" lang="en-US" altLang="en-US" sz="2400" b="0" i="0" u="none" strike="noStrike" cap="none" normalizeH="0" baseline="0" dirty="0">
                <a:ln>
                  <a:noFill/>
                </a:ln>
                <a:solidFill>
                  <a:schemeClr val="tx1"/>
                </a:solidFill>
                <a:effectLst/>
              </a:rPr>
              <a:t> based on aggregate information across the entire input. </a:t>
            </a:r>
          </a:p>
        </p:txBody>
      </p:sp>
      <p:pic>
        <p:nvPicPr>
          <p:cNvPr id="5" name="Picture 4">
            <a:extLst>
              <a:ext uri="{FF2B5EF4-FFF2-40B4-BE49-F238E27FC236}">
                <a16:creationId xmlns:a16="http://schemas.microsoft.com/office/drawing/2014/main" id="{AC1549F2-FA3E-CECC-82CF-F007BD173656}"/>
              </a:ext>
            </a:extLst>
          </p:cNvPr>
          <p:cNvPicPr>
            <a:picLocks noChangeAspect="1"/>
          </p:cNvPicPr>
          <p:nvPr/>
        </p:nvPicPr>
        <p:blipFill>
          <a:blip r:embed="rId2"/>
          <a:stretch>
            <a:fillRect/>
          </a:stretch>
        </p:blipFill>
        <p:spPr>
          <a:xfrm>
            <a:off x="4450000" y="3762607"/>
            <a:ext cx="6972300" cy="1295400"/>
          </a:xfrm>
          <a:prstGeom prst="rect">
            <a:avLst/>
          </a:prstGeom>
        </p:spPr>
      </p:pic>
    </p:spTree>
    <p:extLst>
      <p:ext uri="{BB962C8B-B14F-4D97-AF65-F5344CB8AC3E}">
        <p14:creationId xmlns:p14="http://schemas.microsoft.com/office/powerpoint/2010/main" val="11684995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FB2CF-3A35-D9B3-9120-B9B0F9EE09D0}"/>
              </a:ext>
            </a:extLst>
          </p:cNvPr>
          <p:cNvSpPr>
            <a:spLocks noGrp="1"/>
          </p:cNvSpPr>
          <p:nvPr>
            <p:ph type="title"/>
          </p:nvPr>
        </p:nvSpPr>
        <p:spPr/>
        <p:txBody>
          <a:bodyPr/>
          <a:lstStyle/>
          <a:p>
            <a:r>
              <a:rPr lang="en-US" dirty="0"/>
              <a:t>NSP Advantages and Limitations</a:t>
            </a:r>
          </a:p>
        </p:txBody>
      </p:sp>
      <p:sp>
        <p:nvSpPr>
          <p:cNvPr id="4" name="Rectangle 1">
            <a:extLst>
              <a:ext uri="{FF2B5EF4-FFF2-40B4-BE49-F238E27FC236}">
                <a16:creationId xmlns:a16="http://schemas.microsoft.com/office/drawing/2014/main" id="{4149C74D-2250-613E-7DCB-34E3CE66214F}"/>
              </a:ext>
            </a:extLst>
          </p:cNvPr>
          <p:cNvSpPr>
            <a:spLocks noGrp="1" noChangeArrowheads="1"/>
          </p:cNvSpPr>
          <p:nvPr>
            <p:ph idx="1"/>
          </p:nvPr>
        </p:nvSpPr>
        <p:spPr bwMode="auto">
          <a:xfrm>
            <a:off x="881743" y="1584755"/>
            <a:ext cx="9232413"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Sentence Coherence</a:t>
            </a:r>
            <a:r>
              <a:rPr kumimoji="0" lang="en-US" altLang="en-US" sz="2400" b="0" i="0" u="none" strike="noStrike" cap="none" normalizeH="0" baseline="0" dirty="0">
                <a:ln>
                  <a:noFill/>
                </a:ln>
                <a:solidFill>
                  <a:schemeClr val="tx1"/>
                </a:solidFill>
                <a:effectLst/>
              </a:rPr>
              <a:t>: By understanding the logical flow between sentences, the model improves its ability to handle tasks that require </a:t>
            </a:r>
            <a:r>
              <a:rPr kumimoji="0" lang="en-US" altLang="en-US" sz="2400" b="0" i="0" u="none" strike="noStrike" cap="none" normalizeH="0" baseline="0" dirty="0">
                <a:ln>
                  <a:noFill/>
                </a:ln>
                <a:solidFill>
                  <a:srgbClr val="C00000"/>
                </a:solidFill>
                <a:effectLst/>
              </a:rPr>
              <a:t>multi-sentence reasoning </a:t>
            </a:r>
            <a:r>
              <a:rPr kumimoji="0" lang="en-US" altLang="en-US" sz="2400" b="0" i="0" u="none" strike="noStrike" cap="none" normalizeH="0" baseline="0" dirty="0">
                <a:ln>
                  <a:noFill/>
                </a:ln>
                <a:solidFill>
                  <a:schemeClr val="tx1"/>
                </a:solidFill>
                <a:effectLst/>
              </a:rPr>
              <a:t>(e.g., </a:t>
            </a:r>
            <a:r>
              <a:rPr kumimoji="0" lang="en-US" altLang="en-US" sz="2400" b="0" i="0" u="none" strike="noStrike" cap="none" normalizeH="0" baseline="0" dirty="0">
                <a:ln>
                  <a:noFill/>
                </a:ln>
                <a:solidFill>
                  <a:srgbClr val="C00000"/>
                </a:solidFill>
                <a:effectLst/>
              </a:rPr>
              <a:t>question answering</a:t>
            </a:r>
            <a:r>
              <a:rPr kumimoji="0" lang="en-US" altLang="en-US" sz="2400" b="0" i="0" u="none" strike="noStrike" cap="none" normalizeH="0" baseline="0" dirty="0">
                <a:ln>
                  <a:noFill/>
                </a:ln>
                <a:solidFill>
                  <a:schemeClr val="tx1"/>
                </a:solidFill>
                <a:effectLst/>
              </a:rPr>
              <a:t>, text </a:t>
            </a:r>
            <a:r>
              <a:rPr kumimoji="0" lang="en-US" altLang="en-US" sz="2400" b="0" i="0" u="none" strike="noStrike" cap="none" normalizeH="0" baseline="0" dirty="0">
                <a:ln>
                  <a:noFill/>
                </a:ln>
                <a:solidFill>
                  <a:srgbClr val="C00000"/>
                </a:solidFill>
                <a:effectLst/>
              </a:rPr>
              <a:t>summarization</a:t>
            </a:r>
            <a:r>
              <a:rPr kumimoji="0" lang="en-US" altLang="en-US" sz="2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Document-Level Understanding</a:t>
            </a:r>
            <a:r>
              <a:rPr kumimoji="0" lang="en-US" altLang="en-US" sz="2400" b="0" i="0" u="none" strike="noStrike" cap="none" normalizeH="0" baseline="0" dirty="0">
                <a:ln>
                  <a:noFill/>
                </a:ln>
                <a:solidFill>
                  <a:schemeClr val="tx1"/>
                </a:solidFill>
                <a:effectLst/>
              </a:rPr>
              <a:t>: NSP enables the model to better understand how ideas and </a:t>
            </a:r>
            <a:r>
              <a:rPr kumimoji="0" lang="en-US" altLang="en-US" sz="2400" b="0" i="0" u="none" strike="noStrike" cap="none" normalizeH="0" baseline="0" dirty="0">
                <a:ln>
                  <a:noFill/>
                </a:ln>
                <a:solidFill>
                  <a:srgbClr val="C00000"/>
                </a:solidFill>
                <a:effectLst/>
              </a:rPr>
              <a:t>topics</a:t>
            </a:r>
            <a:r>
              <a:rPr kumimoji="0" lang="en-US" altLang="en-US" sz="2400" b="0" i="0" u="none" strike="noStrike" cap="none" normalizeH="0" baseline="0" dirty="0">
                <a:ln>
                  <a:noFill/>
                </a:ln>
                <a:solidFill>
                  <a:schemeClr val="tx1"/>
                </a:solidFill>
                <a:effectLst/>
              </a:rPr>
              <a:t> develop </a:t>
            </a:r>
            <a:r>
              <a:rPr kumimoji="0" lang="en-US" altLang="en-US" sz="2400" b="0" i="0" u="none" strike="noStrike" cap="none" normalizeH="0" baseline="0" dirty="0">
                <a:ln>
                  <a:noFill/>
                </a:ln>
                <a:solidFill>
                  <a:srgbClr val="C00000"/>
                </a:solidFill>
                <a:effectLst/>
              </a:rPr>
              <a:t>across sentences</a:t>
            </a:r>
            <a:r>
              <a:rPr kumimoji="0" lang="en-US" altLang="en-US" sz="2400" b="0" i="0" u="none" strike="noStrike" cap="none" normalizeH="0" baseline="0" dirty="0">
                <a:ln>
                  <a:noFill/>
                </a:ln>
                <a:solidFill>
                  <a:schemeClr val="tx1"/>
                </a:solidFill>
                <a:effectLst/>
              </a:rPr>
              <a:t>, which is important for tasks like </a:t>
            </a:r>
            <a:r>
              <a:rPr kumimoji="0" lang="en-US" altLang="en-US" sz="2400" b="0" i="0" u="none" strike="noStrike" cap="none" normalizeH="0" baseline="0" dirty="0">
                <a:ln>
                  <a:noFill/>
                </a:ln>
                <a:solidFill>
                  <a:srgbClr val="C00000"/>
                </a:solidFill>
                <a:effectLst/>
              </a:rPr>
              <a:t>information retrieval </a:t>
            </a:r>
            <a:r>
              <a:rPr kumimoji="0" lang="en-US" altLang="en-US" sz="2400" b="0" i="0" u="none" strike="noStrike" cap="none" normalizeH="0" baseline="0" dirty="0">
                <a:ln>
                  <a:noFill/>
                </a:ln>
                <a:solidFill>
                  <a:schemeClr val="tx1"/>
                </a:solidFill>
                <a:effectLst/>
              </a:rPr>
              <a:t>and </a:t>
            </a:r>
            <a:r>
              <a:rPr kumimoji="0" lang="en-US" altLang="en-US" sz="2400" b="0" i="0" u="none" strike="noStrike" cap="none" normalizeH="0" baseline="0" dirty="0">
                <a:ln>
                  <a:noFill/>
                </a:ln>
                <a:solidFill>
                  <a:srgbClr val="C00000"/>
                </a:solidFill>
                <a:effectLst/>
              </a:rPr>
              <a:t>dialogue systems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dirty="0">
              <a:solidFill>
                <a:srgbClr val="C00000"/>
              </a:solidFil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effectLst/>
              </a:rPr>
              <a:t>Limitations</a:t>
            </a:r>
            <a:r>
              <a:rPr kumimoji="0" lang="en-US" altLang="en-US" sz="2400" b="0" i="0" u="none" strike="noStrike" cap="none" normalizeH="0" baseline="0" dirty="0">
                <a:ln>
                  <a:noFill/>
                </a:ln>
                <a:effectLst/>
              </a:rPr>
              <a:t>: Some studies found that NSP isn't always useful for performance, and some later models (like </a:t>
            </a:r>
            <a:r>
              <a:rPr kumimoji="0" lang="en-US" altLang="en-US" sz="2400" b="0" i="0" u="none" strike="noStrike" cap="none" normalizeH="0" baseline="0" dirty="0" err="1">
                <a:ln>
                  <a:noFill/>
                </a:ln>
                <a:effectLst/>
              </a:rPr>
              <a:t>RoBERTa</a:t>
            </a:r>
            <a:r>
              <a:rPr kumimoji="0" lang="en-US" altLang="en-US" sz="2400" b="0" i="0" u="none" strike="noStrike" cap="none" normalizeH="0" baseline="0" dirty="0">
                <a:ln>
                  <a:noFill/>
                </a:ln>
                <a:effectLst/>
              </a:rPr>
              <a:t>) </a:t>
            </a:r>
            <a:r>
              <a:rPr kumimoji="0" lang="en-US" altLang="en-US" sz="2400" b="0" i="0" u="none" strike="noStrike" cap="none" normalizeH="0" baseline="0" dirty="0">
                <a:ln>
                  <a:noFill/>
                </a:ln>
                <a:solidFill>
                  <a:srgbClr val="C00000"/>
                </a:solidFill>
                <a:effectLst/>
              </a:rPr>
              <a:t>excluded NSP     </a:t>
            </a:r>
            <a:r>
              <a:rPr kumimoji="0" lang="en-US" altLang="en-US" sz="2400" b="0" i="0" u="none" strike="noStrike" cap="none" normalizeH="0" baseline="0" dirty="0">
                <a:ln>
                  <a:noFill/>
                </a:ln>
                <a:effectLst/>
              </a:rPr>
              <a:t>from pre-training and still achieved state-of-the-art results using </a:t>
            </a:r>
            <a:r>
              <a:rPr kumimoji="0" lang="en-US" altLang="en-US" sz="2400" b="0" i="0" u="none" strike="noStrike" cap="none" normalizeH="0" baseline="0" dirty="0">
                <a:ln>
                  <a:noFill/>
                </a:ln>
                <a:solidFill>
                  <a:srgbClr val="C00000"/>
                </a:solidFill>
                <a:effectLst/>
              </a:rPr>
              <a:t>MLM</a:t>
            </a:r>
          </a:p>
        </p:txBody>
      </p:sp>
      <p:pic>
        <p:nvPicPr>
          <p:cNvPr id="7" name="Picture 6">
            <a:extLst>
              <a:ext uri="{FF2B5EF4-FFF2-40B4-BE49-F238E27FC236}">
                <a16:creationId xmlns:a16="http://schemas.microsoft.com/office/drawing/2014/main" id="{02F99276-1A91-412D-DE63-24336B01A3EA}"/>
              </a:ext>
            </a:extLst>
          </p:cNvPr>
          <p:cNvPicPr>
            <a:picLocks noChangeAspect="1"/>
          </p:cNvPicPr>
          <p:nvPr/>
        </p:nvPicPr>
        <p:blipFill>
          <a:blip r:embed="rId2"/>
          <a:stretch>
            <a:fillRect/>
          </a:stretch>
        </p:blipFill>
        <p:spPr>
          <a:xfrm>
            <a:off x="9587609" y="4271822"/>
            <a:ext cx="2604391" cy="2586178"/>
          </a:xfrm>
          <a:prstGeom prst="rect">
            <a:avLst/>
          </a:prstGeom>
        </p:spPr>
      </p:pic>
      <p:sp>
        <p:nvSpPr>
          <p:cNvPr id="9" name="TextBox 8">
            <a:extLst>
              <a:ext uri="{FF2B5EF4-FFF2-40B4-BE49-F238E27FC236}">
                <a16:creationId xmlns:a16="http://schemas.microsoft.com/office/drawing/2014/main" id="{DC4DF12B-44F2-9C98-576C-B06190F7EC8A}"/>
              </a:ext>
            </a:extLst>
          </p:cNvPr>
          <p:cNvSpPr txBox="1"/>
          <p:nvPr/>
        </p:nvSpPr>
        <p:spPr>
          <a:xfrm>
            <a:off x="6849035" y="6492875"/>
            <a:ext cx="2671482" cy="276999"/>
          </a:xfrm>
          <a:prstGeom prst="rect">
            <a:avLst/>
          </a:prstGeom>
          <a:noFill/>
        </p:spPr>
        <p:txBody>
          <a:bodyPr wrap="square">
            <a:spAutoFit/>
          </a:bodyPr>
          <a:lstStyle/>
          <a:p>
            <a:r>
              <a:rPr lang="en-US" sz="1200" dirty="0"/>
              <a:t>https://arxiv.org/pdf/2010.01694</a:t>
            </a:r>
          </a:p>
        </p:txBody>
      </p:sp>
    </p:spTree>
    <p:extLst>
      <p:ext uri="{BB962C8B-B14F-4D97-AF65-F5344CB8AC3E}">
        <p14:creationId xmlns:p14="http://schemas.microsoft.com/office/powerpoint/2010/main" val="319548600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1CFC8-C339-AEF8-BD80-EF52C057520F}"/>
              </a:ext>
            </a:extLst>
          </p:cNvPr>
          <p:cNvSpPr>
            <a:spLocks noGrp="1"/>
          </p:cNvSpPr>
          <p:nvPr>
            <p:ph type="title"/>
          </p:nvPr>
        </p:nvSpPr>
        <p:spPr/>
        <p:txBody>
          <a:bodyPr/>
          <a:lstStyle/>
          <a:p>
            <a:r>
              <a:rPr lang="en-US" dirty="0"/>
              <a:t>Assignment 5</a:t>
            </a:r>
          </a:p>
        </p:txBody>
      </p:sp>
      <p:sp>
        <p:nvSpPr>
          <p:cNvPr id="4" name="Content Placeholder 3">
            <a:extLst>
              <a:ext uri="{FF2B5EF4-FFF2-40B4-BE49-F238E27FC236}">
                <a16:creationId xmlns:a16="http://schemas.microsoft.com/office/drawing/2014/main" id="{B925501A-5118-5B95-D46B-9F625C7EFC87}"/>
              </a:ext>
            </a:extLst>
          </p:cNvPr>
          <p:cNvSpPr>
            <a:spLocks noGrp="1"/>
          </p:cNvSpPr>
          <p:nvPr>
            <p:ph idx="1"/>
          </p:nvPr>
        </p:nvSpPr>
        <p:spPr/>
        <p:txBody>
          <a:bodyPr>
            <a:normAutofit fontScale="92500" lnSpcReduction="10000"/>
          </a:bodyPr>
          <a:lstStyle/>
          <a:p>
            <a:pPr marL="0" indent="0">
              <a:buNone/>
            </a:pPr>
            <a:r>
              <a:rPr lang="en-US" dirty="0"/>
              <a:t>1- Using trained models from pipeline in the transformers library, first translate the following text from French to English, then summarize the translated text, and finally apply sentiment analysis to the summarized text:</a:t>
            </a:r>
          </a:p>
          <a:p>
            <a:pPr marL="0" indent="0">
              <a:buNone/>
            </a:pPr>
            <a:r>
              <a:rPr lang="fr-FR" sz="2000" dirty="0"/>
              <a:t>J'apprécie le sérieux avec lequel ce restaurant prend les allergies alimentaires. En tant que personne allergique aux noix, je me sentais complètement en sécurité en dînant ici. De plus, leurs options sans gluten et végétaliennes ont été une agréable surprise. Fortement recommandé à toute personne ayant des restrictions alimentaires Community </a:t>
            </a:r>
            <a:r>
              <a:rPr lang="fr-FR" sz="2000" dirty="0" err="1"/>
              <a:t>Verified</a:t>
            </a:r>
            <a:r>
              <a:rPr lang="fr-FR" sz="2000" dirty="0"/>
              <a:t> </a:t>
            </a:r>
            <a:r>
              <a:rPr lang="fr-FR" sz="2000" dirty="0" err="1"/>
              <a:t>icon</a:t>
            </a:r>
            <a:endParaRPr lang="fr-FR" sz="2000" dirty="0"/>
          </a:p>
          <a:p>
            <a:pPr marL="0" indent="0">
              <a:buNone/>
            </a:pPr>
            <a:endParaRPr lang="fr-FR" sz="2000" dirty="0"/>
          </a:p>
          <a:p>
            <a:pPr marL="0" indent="0">
              <a:buNone/>
            </a:pPr>
            <a:r>
              <a:rPr lang="en-US" dirty="0"/>
              <a:t>2- Using each of the temperatures 0.1 and 1.4, repeat the following query on GPT4 five times. Which of these temperatures are more reliable for diagnosis of diseases?</a:t>
            </a:r>
          </a:p>
          <a:p>
            <a:pPr marL="0" indent="0">
              <a:buNone/>
            </a:pPr>
            <a:r>
              <a:rPr lang="en-US" sz="2000" dirty="0"/>
              <a:t>“a patient has a low blood pressure and a high heart rate. just give me names of three most probable diseases without any other word.”</a:t>
            </a:r>
          </a:p>
        </p:txBody>
      </p:sp>
    </p:spTree>
    <p:extLst>
      <p:ext uri="{BB962C8B-B14F-4D97-AF65-F5344CB8AC3E}">
        <p14:creationId xmlns:p14="http://schemas.microsoft.com/office/powerpoint/2010/main" val="3622583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emplate/>
  <TotalTime>34337</TotalTime>
  <Words>6052</Words>
  <Application>Microsoft Office PowerPoint</Application>
  <PresentationFormat>Widescreen</PresentationFormat>
  <Paragraphs>587</Paragraphs>
  <Slides>65</Slides>
  <Notes>5</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65</vt:i4>
      </vt:variant>
    </vt:vector>
  </HeadingPairs>
  <TitlesOfParts>
    <vt:vector size="83" baseType="lpstr">
      <vt:lpstr>-apple-system</vt:lpstr>
      <vt:lpstr>Aptos</vt:lpstr>
      <vt:lpstr>Aptos Narrow</vt:lpstr>
      <vt:lpstr>Arial</vt:lpstr>
      <vt:lpstr>Arial MT</vt:lpstr>
      <vt:lpstr>Calibri</vt:lpstr>
      <vt:lpstr>Calibri Light</vt:lpstr>
      <vt:lpstr>Cambria Math</vt:lpstr>
      <vt:lpstr>Carlito</vt:lpstr>
      <vt:lpstr>Charter</vt:lpstr>
      <vt:lpstr>Courier New</vt:lpstr>
      <vt:lpstr>IBM Plex Mono</vt:lpstr>
      <vt:lpstr>KaTeX_Main</vt:lpstr>
      <vt:lpstr>Microsoft Sans Serif</vt:lpstr>
      <vt:lpstr>Symbol</vt:lpstr>
      <vt:lpstr>Times New Roman</vt:lpstr>
      <vt:lpstr>Wingdings</vt:lpstr>
      <vt:lpstr>Office Theme</vt:lpstr>
      <vt:lpstr>Advanced Techniques with  Large Language Models   Lecture 5</vt:lpstr>
      <vt:lpstr>NLP by Neural Networks</vt:lpstr>
      <vt:lpstr>Requirements of Neural Networks</vt:lpstr>
      <vt:lpstr>Encoding Tokens Using Vectors</vt:lpstr>
      <vt:lpstr>Contextual Meaning</vt:lpstr>
      <vt:lpstr>Self-Attention (Single-Head) </vt:lpstr>
      <vt:lpstr>Multi-Head Attention</vt:lpstr>
      <vt:lpstr>Multi-Layer Attention</vt:lpstr>
      <vt:lpstr>Problems of Self-Attention for NLP</vt:lpstr>
      <vt:lpstr>Word Positions using Positional Embedding</vt:lpstr>
      <vt:lpstr>Combine Self-Attention with Nonlinearity</vt:lpstr>
      <vt:lpstr>Feed-Froward Layer</vt:lpstr>
      <vt:lpstr>Masked Attention for Text Generation</vt:lpstr>
      <vt:lpstr>A Transformer Architecture</vt:lpstr>
      <vt:lpstr>Encoder Model</vt:lpstr>
      <vt:lpstr>Residual Connections &amp; Norm Layer</vt:lpstr>
      <vt:lpstr>Decoder Model</vt:lpstr>
      <vt:lpstr>Cross attention (Decoder-Encoder)</vt:lpstr>
      <vt:lpstr>Linear Layer and Softmax</vt:lpstr>
      <vt:lpstr>Transformer Model  - Full Architecture</vt:lpstr>
      <vt:lpstr>Text Generation</vt:lpstr>
      <vt:lpstr>Why Decoding Strategy?</vt:lpstr>
      <vt:lpstr>Decoding Strategy - Greedy Search</vt:lpstr>
      <vt:lpstr>Decoding Strategy - Beam Search</vt:lpstr>
      <vt:lpstr>Beam Search – Tree Structure</vt:lpstr>
      <vt:lpstr>Beam Search – Finalize Tree Structure</vt:lpstr>
      <vt:lpstr>Beam Search - Best Sequence </vt:lpstr>
      <vt:lpstr>Beam Search - Steps</vt:lpstr>
      <vt:lpstr>Beam Search - Pruning</vt:lpstr>
      <vt:lpstr>Greedy vs Beam </vt:lpstr>
      <vt:lpstr>Decoding Strategy - Top-k Sampling</vt:lpstr>
      <vt:lpstr>Decoding Strategy - Nucleus Sampling</vt:lpstr>
      <vt:lpstr>Nucleus - Example</vt:lpstr>
      <vt:lpstr>Temperature</vt:lpstr>
      <vt:lpstr>Temperature Value</vt:lpstr>
      <vt:lpstr>High Temperature - Impact</vt:lpstr>
      <vt:lpstr>Temperature with Sampling Methods</vt:lpstr>
      <vt:lpstr>Beam Search with Sampling Methods</vt:lpstr>
      <vt:lpstr>Choosing Decoding Strategy</vt:lpstr>
      <vt:lpstr>Foundation Models</vt:lpstr>
      <vt:lpstr>GPT Series of Models</vt:lpstr>
      <vt:lpstr>GPT Model Architecture</vt:lpstr>
      <vt:lpstr>Why No Encoder?</vt:lpstr>
      <vt:lpstr>BERT </vt:lpstr>
      <vt:lpstr>BERT Model Architecture</vt:lpstr>
      <vt:lpstr>BERT - Classification</vt:lpstr>
      <vt:lpstr>BART</vt:lpstr>
      <vt:lpstr>BART Model Architecture</vt:lpstr>
      <vt:lpstr>Vision Transformer (ViT)</vt:lpstr>
      <vt:lpstr>Images in VIT </vt:lpstr>
      <vt:lpstr>VIT vs CNN</vt:lpstr>
      <vt:lpstr>CLIP (Contrastive Language-Image Pre-training)</vt:lpstr>
      <vt:lpstr>CLIP - Image Classification (Inference)</vt:lpstr>
      <vt:lpstr>Large Language Models</vt:lpstr>
      <vt:lpstr>Training Large Language Models</vt:lpstr>
      <vt:lpstr>Pretraining LLM</vt:lpstr>
      <vt:lpstr>Self-Supervised Learning - Advantages</vt:lpstr>
      <vt:lpstr>Self-Supervised Pretraining - CLM</vt:lpstr>
      <vt:lpstr>Pre-Training – Objective Function</vt:lpstr>
      <vt:lpstr>Self-Supervised Pretraining - MLM</vt:lpstr>
      <vt:lpstr>CLM vs MLM</vt:lpstr>
      <vt:lpstr>Self-Supervised Pretraining - NSP</vt:lpstr>
      <vt:lpstr>Training using NSP </vt:lpstr>
      <vt:lpstr>NSP Advantages and Limitations</vt:lpstr>
      <vt:lpstr>Assignment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Abdolreza Mosaddegh</dc:creator>
  <cp:lastModifiedBy>Mosaddegh, Abdolreza</cp:lastModifiedBy>
  <cp:revision>795</cp:revision>
  <dcterms:created xsi:type="dcterms:W3CDTF">2023-12-26T07:54:20Z</dcterms:created>
  <dcterms:modified xsi:type="dcterms:W3CDTF">2025-10-06T11:10:53Z</dcterms:modified>
</cp:coreProperties>
</file>